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964002" y="2359443"/>
            <a:ext cx="6346825" cy="1049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7200" kern="0" spc="-6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 综合案例</a:t>
            </a:r>
            <a:endParaRPr sz="7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534661" y="4085082"/>
            <a:ext cx="3148583" cy="154533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path 1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72212" cy="10347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34650" y="3483903"/>
            <a:ext cx="8273485" cy="2838695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1010107" y="1055699"/>
            <a:ext cx="5067300" cy="2033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2555" algn="l" rtl="0" eaLnBrk="0">
              <a:lnSpc>
                <a:spcPct val="89000"/>
              </a:lnSpc>
              <a:spcBef>
                <a:spcPts val="390"/>
              </a:spcBef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某公司是做零售相关业务, 旗下出品各类收银机.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5415" algn="l" rtl="0" eaLnBrk="0">
              <a:lnSpc>
                <a:spcPct val="89000"/>
              </a:lnSpc>
              <a:spcBef>
                <a:spcPts val="395"/>
              </a:spcBef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目前公司的收银机已经在全国铺开,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在各个省份均有店铺使用.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1285" algn="l" rtl="0" eaLnBrk="0">
              <a:lnSpc>
                <a:spcPct val="212000"/>
              </a:lnSpc>
              <a:spcBef>
                <a:spcPts val="235"/>
              </a:spcBef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机器是联网的, 每一次使用都会将售卖商品数据上传到公司后台.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老板现在想对省份维度的销售情况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进行统计分析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36" name="path 3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" name="path 3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rect 4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rect 4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4"/>
          <p:cNvSpPr/>
          <p:nvPr/>
        </p:nvSpPr>
        <p:spPr>
          <a:xfrm>
            <a:off x="1010107" y="1055699"/>
            <a:ext cx="4986654" cy="5547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865" algn="l" rtl="0" eaLnBrk="0">
              <a:lnSpc>
                <a:spcPts val="2375"/>
              </a:lnSpc>
              <a:spcBef>
                <a:spcPts val="545"/>
              </a:spcBef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4个需求需开发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" algn="l" rtl="0" eaLnBrk="0">
              <a:lnSpc>
                <a:spcPts val="2070"/>
              </a:lnSpc>
              <a:spcBef>
                <a:spcPts val="485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各省 销售 指标 每个省份的销售额统计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TOP3 销售省份中, 有多少家店铺</a:t>
            </a:r>
            <a:r>
              <a:rPr sz="16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日均销售额</a:t>
            </a:r>
            <a:r>
              <a:rPr sz="16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1000+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3025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TOP3 省份中 各个省份的平均单单价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325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TOP3 省份中, 各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个省份的支付类型比例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215" algn="l" rtl="0" eaLnBrk="0">
              <a:lnSpc>
                <a:spcPts val="2115"/>
              </a:lnSpc>
              <a:spcBef>
                <a:spcPts val="490"/>
              </a:spcBef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2个操作需处理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将需求结果写出到mysq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0485" algn="l" rtl="0" eaLnBrk="0">
              <a:lnSpc>
                <a:spcPts val="2070"/>
              </a:lnSpc>
              <a:spcBef>
                <a:spcPts val="490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将数据写入到Spark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On</a:t>
            </a:r>
            <a:r>
              <a:rPr sz="16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Hive中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325" algn="l" rtl="0" eaLnBrk="0">
              <a:lnSpc>
                <a:spcPts val="1805"/>
              </a:lnSpc>
              <a:spcBef>
                <a:spcPts val="395"/>
              </a:spcBef>
            </a:pPr>
            <a:r>
              <a:rPr sz="1300" kern="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4个需求中2个较简单,2个较复杂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8580" algn="l" rtl="0" eaLnBrk="0">
              <a:lnSpc>
                <a:spcPct val="99000"/>
              </a:lnSpc>
              <a:spcBef>
                <a:spcPts val="130"/>
              </a:spcBef>
            </a:pPr>
            <a:r>
              <a:rPr sz="1300" kern="0" spc="1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比较合适对</a:t>
            </a:r>
            <a:r>
              <a:rPr sz="13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SparkSQL</a:t>
            </a:r>
            <a:r>
              <a:rPr sz="1300" kern="0" spc="1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的内容进行综合训练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56" name="path 56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" name="path 58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rect 60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rect 62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4"/>
          <p:cNvSpPr/>
          <p:nvPr/>
        </p:nvSpPr>
        <p:spPr>
          <a:xfrm>
            <a:off x="980186" y="1055242"/>
            <a:ext cx="7176769" cy="5585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100" algn="l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数据格式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96085" algn="l" rtl="0" eaLnBrk="0">
              <a:lnSpc>
                <a:spcPts val="2070"/>
              </a:lnSpc>
              <a:spcBef>
                <a:spcPts val="0"/>
              </a:spcBef>
              <a:tabLst>
                <a:tab pos="3020695" algn="l"/>
              </a:tabLst>
            </a:pPr>
            <a:r>
              <a:rPr sz="1700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-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数据在课程资料中所提供</a:t>
            </a:r>
            <a:r>
              <a:rPr lang="zh-CN" sz="1700" kern="0" spc="-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kern="0" spc="-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文件名: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-8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mini.jso</a:t>
            </a:r>
            <a:r>
              <a:rPr sz="1700" kern="0" spc="-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92886" y="1364741"/>
            <a:ext cx="1684007" cy="5263076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3988730" y="1589264"/>
            <a:ext cx="4725670" cy="293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87000"/>
              </a:lnSpc>
            </a:pP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常用字段解析: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7000"/>
              </a:lnSpc>
              <a:spcBef>
                <a:spcPts val="245"/>
              </a:spcBef>
            </a:pP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4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storeDistrict 店铺所在行政区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7000"/>
              </a:lnSpc>
              <a:spcBef>
                <a:spcPts val="250"/>
              </a:spcBef>
            </a:pPr>
            <a:r>
              <a:rPr sz="1600" kern="0" spc="-1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4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storeProvince 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店铺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所在省份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7000"/>
              </a:lnSpc>
              <a:spcBef>
                <a:spcPts val="250"/>
              </a:spcBef>
            </a:pP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4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storeID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店铺ID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7000"/>
              </a:lnSpc>
              <a:spcBef>
                <a:spcPts val="250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50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storeName 店铺名称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7000"/>
              </a:lnSpc>
              <a:spcBef>
                <a:spcPts val="250"/>
              </a:spcBef>
            </a:pP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47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dateTS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订单日期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85000"/>
              </a:lnSpc>
              <a:spcBef>
                <a:spcPts val="245"/>
              </a:spcBef>
            </a:pP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600" kern="0" spc="46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orderID 订单ID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ts val="2070"/>
              </a:lnSpc>
            </a:pPr>
            <a:r>
              <a:rPr sz="1600" kern="0" spc="-1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6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receivab</a:t>
            </a: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收款金额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93000"/>
              </a:lnSpc>
              <a:spcBef>
                <a:spcPts val="155"/>
              </a:spcBef>
            </a:pP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payType </a:t>
            </a:r>
            <a:r>
              <a:rPr sz="1600" kern="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</a:t>
            </a:r>
            <a:r>
              <a:rPr sz="1600" kern="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70"/>
              </a:lnSpc>
              <a:spcBef>
                <a:spcPts val="0"/>
              </a:spcBef>
            </a:pPr>
            <a:r>
              <a:rPr sz="16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尽管字段较多, 只需要用到上述5个红色字段即</a:t>
            </a:r>
            <a:r>
              <a:rPr sz="16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80" name="path 8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" name="path 8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4" name="rect 8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rect 8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6582156"/>
            <a:ext cx="10048113" cy="275844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4628346" y="333657"/>
            <a:ext cx="7129144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endParaRPr sz="2100" kern="0" spc="-60" dirty="0">
              <a:solidFill>
                <a:srgbClr val="49504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4490284" y="3234688"/>
            <a:ext cx="2863214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100" kern="0" spc="9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现在进入开发吧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775132"/>
            <a:ext cx="10052875" cy="82867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9813031" y="6582159"/>
            <a:ext cx="2379345" cy="276225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0" algn="l" rtl="0" eaLnBrk="0">
              <a:lnSpc>
                <a:spcPct val="78000"/>
              </a:lnSpc>
              <a:spcBef>
                <a:spcPts val="0"/>
              </a:spcBef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Spark技术及应用</a:t>
            </a:r>
            <a:endParaRPr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2567177" y="719328"/>
            <a:ext cx="9078467" cy="22097"/>
            <a:chOff x="0" y="0"/>
            <a:chExt cx="9078467" cy="22097"/>
          </a:xfrm>
        </p:grpSpPr>
        <p:sp>
          <p:nvSpPr>
            <p:cNvPr id="100" name="path 100"/>
            <p:cNvSpPr/>
            <p:nvPr/>
          </p:nvSpPr>
          <p:spPr>
            <a:xfrm>
              <a:off x="0" y="0"/>
              <a:ext cx="7023354" cy="22097"/>
            </a:xfrm>
            <a:custGeom>
              <a:avLst/>
              <a:gdLst/>
              <a:ahLst/>
              <a:cxnLst/>
              <a:rect l="0" t="0" r="0" b="0"/>
              <a:pathLst>
                <a:path w="11060" h="34">
                  <a:moveTo>
                    <a:pt x="0" y="0"/>
                  </a:moveTo>
                  <a:lnTo>
                    <a:pt x="11060" y="0"/>
                  </a:lnTo>
                  <a:lnTo>
                    <a:pt x="11060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50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" name="path 102"/>
            <p:cNvSpPr/>
            <p:nvPr/>
          </p:nvSpPr>
          <p:spPr>
            <a:xfrm>
              <a:off x="6914388" y="0"/>
              <a:ext cx="2164079" cy="22097"/>
            </a:xfrm>
            <a:custGeom>
              <a:avLst/>
              <a:gdLst/>
              <a:ahLst/>
              <a:cxnLst/>
              <a:rect l="0" t="0" r="0" b="0"/>
              <a:pathLst>
                <a:path w="3407" h="34">
                  <a:moveTo>
                    <a:pt x="0" y="0"/>
                  </a:moveTo>
                  <a:lnTo>
                    <a:pt x="3407" y="0"/>
                  </a:lnTo>
                  <a:lnTo>
                    <a:pt x="3407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000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rect 104"/>
          <p:cNvSpPr/>
          <p:nvPr/>
        </p:nvSpPr>
        <p:spPr>
          <a:xfrm>
            <a:off x="0" y="0"/>
            <a:ext cx="172212" cy="694944"/>
          </a:xfrm>
          <a:prstGeom prst="rect">
            <a:avLst/>
          </a:prstGeom>
          <a:solidFill>
            <a:srgbClr val="4950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rect 106"/>
          <p:cNvSpPr/>
          <p:nvPr/>
        </p:nvSpPr>
        <p:spPr>
          <a:xfrm>
            <a:off x="0" y="719328"/>
            <a:ext cx="170687" cy="315467"/>
          </a:xfrm>
          <a:prstGeom prst="rect">
            <a:avLst/>
          </a:prstGeom>
          <a:solidFill>
            <a:srgbClr val="B6000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1405"/>
          <a:stretch>
            <a:fillRect/>
          </a:stretch>
        </p:blipFill>
        <p:spPr>
          <a:xfrm>
            <a:off x="307975" y="3810"/>
            <a:ext cx="1657350" cy="764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WPS 演示</Application>
  <PresentationFormat/>
  <Paragraphs>99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华文楷体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WPS_1631154522</cp:lastModifiedBy>
  <cp:revision>5</cp:revision>
  <dcterms:created xsi:type="dcterms:W3CDTF">2026-09-21T11:02:47Z</dcterms:created>
  <dcterms:modified xsi:type="dcterms:W3CDTF">2026-09-21T11:04:53Z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2026-09-21T19:02:08Z</vt:filetime>
  </property>
  <property fmtid="{D5CDD505-2E9C-101B-9397-08002B2CF9AE}" pid="4" name="ICV">
    <vt:lpwstr>9EC8A457BDE845F69AB30D50F15FEFBC_12</vt:lpwstr>
  </property>
  <property fmtid="{D5CDD505-2E9C-101B-9397-08002B2CF9AE}" pid="5" name="KSOProductBuildVer">
    <vt:lpwstr>2052-12.1.0.21915</vt:lpwstr>
  </property>
</Properties>
</file>