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3"/>
  </p:notesMasterIdLst>
  <p:handoutMasterIdLst>
    <p:handoutMasterId r:id="rId10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5" r:id="rId97"/>
    <p:sldId id="350" r:id="rId98"/>
    <p:sldId id="351" r:id="rId99"/>
    <p:sldId id="352" r:id="rId100"/>
    <p:sldId id="353" r:id="rId101"/>
    <p:sldId id="354" r:id="rId10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25db4ef-c790-46b9-8c10-05286b653a32}">
          <p14:sldIdLst>
            <p14:sldId id="256"/>
            <p14:sldId id="257"/>
            <p14:sldId id="258"/>
          </p14:sldIdLst>
        </p14:section>
        <p14:section name="入门" id="{33b9c7c0-6869-413a-9413-d4c1ed680638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概述" id="{121b90e2-1af7-400f-b7b8-02b3894cbd3f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DataFrame入门" id="{c3282105-5083-4022-913f-43c3c644c93b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函数定义" id="{dabd1ebb-dd62-4f83-9949-ae5aba44e932}">
          <p14:sldIdLst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运行流程" id="{f5871fe0-0837-4d26-8f22-678800bee717}">
          <p14:sldIdLst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</p14:sldIdLst>
        </p14:section>
        <p14:section name="Spark On Hive" id="{31a69646-6982-4b2e-b9f7-b160c9539fb0}">
          <p14:sldIdLst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  <p14:section name="执行引擎" id="{a3c99daa-dd05-4dd0-b5e9-2ad0c7acb525}">
          <p14:sldIdLst>
            <p14:sldId id="348"/>
            <p14:sldId id="349"/>
            <p14:sldId id="355"/>
            <p14:sldId id="350"/>
            <p14:sldId id="351"/>
            <p14:sldId id="352"/>
            <p14:sldId id="353"/>
            <p14:sldId id="35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7" Type="http://schemas.openxmlformats.org/officeDocument/2006/relationships/tableStyles" Target="tableStyles.xml"/><Relationship Id="rId106" Type="http://schemas.openxmlformats.org/officeDocument/2006/relationships/viewProps" Target="viewProps.xml"/><Relationship Id="rId105" Type="http://schemas.openxmlformats.org/officeDocument/2006/relationships/presProps" Target="presProps.xml"/><Relationship Id="rId104" Type="http://schemas.openxmlformats.org/officeDocument/2006/relationships/handoutMaster" Target="handoutMasters/handoutMaster1.xml"/><Relationship Id="rId103" Type="http://schemas.openxmlformats.org/officeDocument/2006/relationships/notesMaster" Target="notesMasters/notesMaster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4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9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0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3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4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5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6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7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8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9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60.pn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61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62.pn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63.png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64.pn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6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66.pn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67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68.png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69.png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70.png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72.jpeg"/><Relationship Id="rId1" Type="http://schemas.openxmlformats.org/officeDocument/2006/relationships/image" Target="../media/image71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73.png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74.png"/></Relationships>
</file>

<file path=ppt/slides/_rels/slide8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75.png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77.png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78.png"/></Relationships>
</file>

<file path=ppt/slides/_rels/slide8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79.png"/></Relationships>
</file>

<file path=ppt/slides/_rels/slide9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80.png"/><Relationship Id="rId1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81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82.png"/></Relationships>
</file>

<file path=ppt/slides/_rels/slide9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9.png"/><Relationship Id="rId4" Type="http://schemas.openxmlformats.org/officeDocument/2006/relationships/image" Target="../media/image8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82.png"/></Relationships>
</file>

<file path=ppt/slides/_rels/slide9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85.png"/></Relationships>
</file>

<file path=ppt/slides/_rels/slide9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86.png"/></Relationships>
</file>

<file path=ppt/slides/_rels/slide9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7.png"/><Relationship Id="rId1" Type="http://schemas.openxmlformats.org/officeDocument/2006/relationships/hyperlink" Target="https://pypi.tuna.tsinghua.edu.cn/simplepyhivepymysqlsaslthriftthrift_sasl" TargetMode="External"/></Relationships>
</file>

<file path=ppt/slides/_rels/slide9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88.png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724630" y="2411564"/>
            <a:ext cx="4772659" cy="156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4805" algn="l" rtl="0" eaLnBrk="0">
              <a:lnSpc>
                <a:spcPct val="89000"/>
              </a:lnSpc>
            </a:pPr>
            <a:r>
              <a:rPr sz="7200" kern="0" spc="-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endParaRPr sz="7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400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在Spark上运用</a:t>
            </a:r>
            <a:r>
              <a:rPr sz="2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SQL处理结构化数据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534661" y="4085082"/>
            <a:ext cx="3148583" cy="154533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621271" y="0"/>
            <a:ext cx="2026129" cy="153265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 rot="21600000">
            <a:off x="3741610" y="462515"/>
            <a:ext cx="1167193" cy="1261197"/>
            <a:chOff x="0" y="0"/>
            <a:chExt cx="1167193" cy="1261197"/>
          </a:xfrm>
        </p:grpSpPr>
        <p:sp>
          <p:nvSpPr>
            <p:cNvPr id="8" name="path 8"/>
            <p:cNvSpPr/>
            <p:nvPr/>
          </p:nvSpPr>
          <p:spPr>
            <a:xfrm>
              <a:off x="0" y="366471"/>
              <a:ext cx="773810" cy="894725"/>
            </a:xfrm>
            <a:custGeom>
              <a:avLst/>
              <a:gdLst/>
              <a:ahLst/>
              <a:cxnLst/>
              <a:rect l="0" t="0" r="0" b="0"/>
              <a:pathLst>
                <a:path w="1218" h="1409">
                  <a:moveTo>
                    <a:pt x="609" y="6"/>
                  </a:moveTo>
                  <a:lnTo>
                    <a:pt x="1211" y="307"/>
                  </a:lnTo>
                  <a:lnTo>
                    <a:pt x="1211" y="1101"/>
                  </a:lnTo>
                  <a:lnTo>
                    <a:pt x="609" y="1402"/>
                  </a:lnTo>
                  <a:lnTo>
                    <a:pt x="7" y="1101"/>
                  </a:lnTo>
                  <a:lnTo>
                    <a:pt x="7" y="307"/>
                  </a:lnTo>
                  <a:lnTo>
                    <a:pt x="609" y="6"/>
                  </a:lnTo>
                  <a:close/>
                </a:path>
              </a:pathLst>
            </a:custGeom>
            <a:noFill/>
            <a:ln w="9525" cap="flat">
              <a:solidFill>
                <a:srgbClr val="AD2B2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" name="path 10"/>
            <p:cNvSpPr/>
            <p:nvPr/>
          </p:nvSpPr>
          <p:spPr>
            <a:xfrm>
              <a:off x="848677" y="287292"/>
              <a:ext cx="318516" cy="369570"/>
            </a:xfrm>
            <a:custGeom>
              <a:avLst/>
              <a:gdLst/>
              <a:ahLst/>
              <a:cxnLst/>
              <a:rect l="0" t="0" r="0" b="0"/>
              <a:pathLst>
                <a:path w="501" h="582">
                  <a:moveTo>
                    <a:pt x="250" y="0"/>
                  </a:moveTo>
                  <a:lnTo>
                    <a:pt x="501" y="125"/>
                  </a:lnTo>
                  <a:lnTo>
                    <a:pt x="501" y="456"/>
                  </a:lnTo>
                  <a:lnTo>
                    <a:pt x="250" y="582"/>
                  </a:lnTo>
                  <a:lnTo>
                    <a:pt x="0" y="456"/>
                  </a:lnTo>
                  <a:lnTo>
                    <a:pt x="0" y="12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" name="path 12"/>
            <p:cNvSpPr/>
            <p:nvPr/>
          </p:nvSpPr>
          <p:spPr>
            <a:xfrm>
              <a:off x="154934" y="0"/>
              <a:ext cx="696403" cy="374736"/>
            </a:xfrm>
            <a:custGeom>
              <a:avLst/>
              <a:gdLst/>
              <a:ahLst/>
              <a:cxnLst/>
              <a:rect l="0" t="0" r="0" b="0"/>
              <a:pathLst>
                <a:path w="1096" h="590">
                  <a:moveTo>
                    <a:pt x="3" y="6"/>
                  </a:moveTo>
                  <a:lnTo>
                    <a:pt x="1093" y="583"/>
                  </a:lnTo>
                </a:path>
              </a:pathLst>
            </a:custGeom>
            <a:noFill/>
            <a:ln w="9525" cap="flat">
              <a:solidFill>
                <a:srgbClr val="BFBFB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path 16"/>
          <p:cNvSpPr/>
          <p:nvPr/>
        </p:nvSpPr>
        <p:spPr>
          <a:xfrm>
            <a:off x="8051927" y="949903"/>
            <a:ext cx="475741" cy="545450"/>
          </a:xfrm>
          <a:custGeom>
            <a:avLst/>
            <a:gdLst/>
            <a:ahLst/>
            <a:cxnLst/>
            <a:rect l="0" t="0" r="0" b="0"/>
            <a:pathLst>
              <a:path w="749" h="858">
                <a:moveTo>
                  <a:pt x="374" y="17"/>
                </a:moveTo>
                <a:lnTo>
                  <a:pt x="729" y="195"/>
                </a:lnTo>
                <a:lnTo>
                  <a:pt x="729" y="663"/>
                </a:lnTo>
                <a:lnTo>
                  <a:pt x="374" y="841"/>
                </a:lnTo>
                <a:lnTo>
                  <a:pt x="20" y="663"/>
                </a:lnTo>
                <a:lnTo>
                  <a:pt x="20" y="195"/>
                </a:lnTo>
                <a:lnTo>
                  <a:pt x="374" y="17"/>
                </a:lnTo>
                <a:close/>
              </a:path>
            </a:pathLst>
          </a:custGeom>
          <a:noFill/>
          <a:ln w="25400" cap="flat">
            <a:solidFill>
              <a:srgbClr val="A6A6A6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path 18"/>
          <p:cNvSpPr/>
          <p:nvPr/>
        </p:nvSpPr>
        <p:spPr>
          <a:xfrm>
            <a:off x="11276266" y="1206939"/>
            <a:ext cx="187833" cy="215783"/>
          </a:xfrm>
          <a:custGeom>
            <a:avLst/>
            <a:gdLst/>
            <a:ahLst/>
            <a:cxnLst/>
            <a:rect l="0" t="0" r="0" b="0"/>
            <a:pathLst>
              <a:path w="295" h="339">
                <a:moveTo>
                  <a:pt x="147" y="6"/>
                </a:moveTo>
                <a:lnTo>
                  <a:pt x="288" y="76"/>
                </a:lnTo>
                <a:lnTo>
                  <a:pt x="288" y="262"/>
                </a:lnTo>
                <a:lnTo>
                  <a:pt x="147" y="333"/>
                </a:lnTo>
                <a:lnTo>
                  <a:pt x="7" y="262"/>
                </a:lnTo>
                <a:lnTo>
                  <a:pt x="7" y="76"/>
                </a:lnTo>
                <a:lnTo>
                  <a:pt x="147" y="6"/>
                </a:lnTo>
                <a:close/>
              </a:path>
            </a:pathLst>
          </a:custGeom>
          <a:noFill/>
          <a:ln w="9525" cap="flat">
            <a:solidFill>
              <a:srgbClr val="AD2B26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path 20"/>
          <p:cNvSpPr/>
          <p:nvPr/>
        </p:nvSpPr>
        <p:spPr>
          <a:xfrm>
            <a:off x="932688" y="662178"/>
            <a:ext cx="178307" cy="207264"/>
          </a:xfrm>
          <a:custGeom>
            <a:avLst/>
            <a:gdLst/>
            <a:ahLst/>
            <a:cxnLst/>
            <a:rect l="0" t="0" r="0" b="0"/>
            <a:pathLst>
              <a:path w="280" h="326">
                <a:moveTo>
                  <a:pt x="140" y="0"/>
                </a:moveTo>
                <a:lnTo>
                  <a:pt x="280" y="70"/>
                </a:lnTo>
                <a:lnTo>
                  <a:pt x="280" y="256"/>
                </a:lnTo>
                <a:lnTo>
                  <a:pt x="140" y="326"/>
                </a:lnTo>
                <a:lnTo>
                  <a:pt x="0" y="256"/>
                </a:lnTo>
                <a:lnTo>
                  <a:pt x="0" y="70"/>
                </a:lnTo>
                <a:lnTo>
                  <a:pt x="140" y="0"/>
                </a:lnTo>
                <a:close/>
              </a:path>
            </a:pathLst>
          </a:custGeom>
          <a:solidFill>
            <a:srgbClr val="AD2B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/>
          <p:nvPr/>
        </p:nvSpPr>
        <p:spPr>
          <a:xfrm>
            <a:off x="4947526" y="2539422"/>
            <a:ext cx="5187315" cy="213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" algn="l" rtl="0" eaLnBrk="0">
              <a:lnSpc>
                <a:spcPts val="2325"/>
              </a:lnSpc>
            </a:pP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 了解SparkSQL框架模块的基础概念和发展历史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ts val="2325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 掌握SparkSQL</a:t>
            </a:r>
            <a:r>
              <a:rPr sz="1800" kern="0" spc="1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8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API开发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algn="l" rtl="0" eaLnBrk="0">
              <a:lnSpc>
                <a:spcPts val="2325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1800" kern="0" spc="1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理解SparkSQL的运行</a:t>
            </a:r>
            <a:r>
              <a:rPr sz="18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25"/>
              </a:lnSpc>
              <a:spcBef>
                <a:spcPts val="0"/>
              </a:spcBef>
            </a:pPr>
            <a:r>
              <a:rPr sz="18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  掌握Spa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rkSQL和Hive的集成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1272031" y="2422964"/>
            <a:ext cx="2705735" cy="939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1975" algn="l" rtl="0" eaLnBrk="0">
              <a:lnSpc>
                <a:spcPct val="87000"/>
              </a:lnSpc>
            </a:pPr>
            <a:r>
              <a:rPr sz="42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学习目标</a:t>
            </a:r>
            <a:endParaRPr sz="4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" algn="l" rtl="0" eaLnBrk="0">
              <a:lnSpc>
                <a:spcPct val="81000"/>
              </a:lnSpc>
              <a:spcBef>
                <a:spcPts val="5"/>
              </a:spcBef>
            </a:pPr>
            <a:r>
              <a:rPr sz="2100" kern="0" spc="-10" dirty="0">
                <a:solidFill>
                  <a:srgbClr val="D9D9D9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Learning Ob</a:t>
            </a:r>
            <a:r>
              <a:rPr sz="2100" kern="0" spc="-20" dirty="0">
                <a:solidFill>
                  <a:srgbClr val="D9D9D9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jectives</a:t>
            </a:r>
            <a:endParaRPr sz="2100" dirty="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84731" y="2458973"/>
            <a:ext cx="474725" cy="473964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86371"/>
            <a:ext cx="12192000" cy="71627"/>
          </a:xfrm>
          <a:prstGeom prst="rect">
            <a:avLst/>
          </a:prstGeom>
        </p:spPr>
      </p:pic>
      <p:sp>
        <p:nvSpPr>
          <p:cNvPr id="30" name="path 30"/>
          <p:cNvSpPr/>
          <p:nvPr/>
        </p:nvSpPr>
        <p:spPr>
          <a:xfrm>
            <a:off x="4413694" y="2337435"/>
            <a:ext cx="9525" cy="1062266"/>
          </a:xfrm>
          <a:custGeom>
            <a:avLst/>
            <a:gdLst/>
            <a:ahLst/>
            <a:cxnLst/>
            <a:rect l="0" t="0" r="0" b="0"/>
            <a:pathLst>
              <a:path w="15" h="1672">
                <a:moveTo>
                  <a:pt x="7" y="0"/>
                </a:moveTo>
                <a:lnTo>
                  <a:pt x="7" y="1672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2"/>
          <p:cNvSpPr/>
          <p:nvPr/>
        </p:nvSpPr>
        <p:spPr>
          <a:xfrm>
            <a:off x="5117299" y="1284484"/>
            <a:ext cx="3552825" cy="3900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800" b="1" kern="0" spc="-20" dirty="0">
                <a:solidFill>
                  <a:srgbClr val="AD2B26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800" kern="0" spc="-20" dirty="0">
                <a:solidFill>
                  <a:srgbClr val="AD2B26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800" kern="0" spc="-20" dirty="0">
                <a:solidFill>
                  <a:srgbClr val="AD2B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快速入门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50"/>
              </a:spcBef>
            </a:pPr>
            <a:r>
              <a:rPr sz="1800" b="1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SparkSQL</a:t>
            </a:r>
            <a:r>
              <a:rPr sz="18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550"/>
              </a:spcBef>
            </a:pPr>
            <a:r>
              <a:rPr sz="1800" b="1" kern="0" spc="-2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800" kern="0" spc="-2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8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</a:t>
            </a:r>
            <a:r>
              <a:rPr sz="1800" kern="0" spc="1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DataFrame入门和操作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50"/>
              </a:spcBef>
            </a:pPr>
            <a:r>
              <a:rPr sz="1800" b="1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SparkSQL函数定义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45"/>
              </a:spcBef>
            </a:pPr>
            <a:r>
              <a:rPr sz="1800" b="1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SparkSQL的运行流程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45"/>
              </a:spcBef>
            </a:pPr>
            <a:r>
              <a:rPr sz="1800" b="1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第六章 SparkSQL整合Hive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5"/>
              </a:spcBef>
            </a:pPr>
            <a:r>
              <a:rPr sz="1800" b="1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u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8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 分布式SQL引擎配置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254248" y="2377308"/>
            <a:ext cx="1606550" cy="998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4500" kern="0" spc="-210" dirty="0">
                <a:solidFill>
                  <a:srgbClr val="AD2B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sz="4500" kern="0" spc="-140" dirty="0">
                <a:solidFill>
                  <a:srgbClr val="AD2B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200" b="1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4200" b="1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endParaRPr sz="4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2800" kern="0" spc="-30" dirty="0">
                <a:solidFill>
                  <a:srgbClr val="D9D9D9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Contents</a:t>
            </a:r>
            <a:endParaRPr sz="2800" dirty="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786371"/>
            <a:ext cx="12192000" cy="71627"/>
          </a:xfrm>
          <a:prstGeom prst="rect">
            <a:avLst/>
          </a:prstGeom>
        </p:spPr>
      </p:pic>
      <p:sp>
        <p:nvSpPr>
          <p:cNvPr id="38" name="path 38"/>
          <p:cNvSpPr/>
          <p:nvPr/>
        </p:nvSpPr>
        <p:spPr>
          <a:xfrm>
            <a:off x="4403026" y="2337435"/>
            <a:ext cx="9525" cy="1062266"/>
          </a:xfrm>
          <a:custGeom>
            <a:avLst/>
            <a:gdLst/>
            <a:ahLst/>
            <a:cxnLst/>
            <a:rect l="0" t="0" r="0" b="0"/>
            <a:pathLst>
              <a:path w="15" h="1672">
                <a:moveTo>
                  <a:pt x="7" y="0"/>
                </a:moveTo>
                <a:lnTo>
                  <a:pt x="7" y="1672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/>
          <p:nvPr/>
        </p:nvSpPr>
        <p:spPr>
          <a:xfrm>
            <a:off x="5362562" y="2428825"/>
            <a:ext cx="3502659" cy="2503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95000"/>
              </a:lnSpc>
            </a:pPr>
            <a:r>
              <a:rPr sz="31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31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快速入门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5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什么是Spark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0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为什么要学习SparkSQL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90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</a:t>
            </a:r>
            <a:r>
              <a:rPr sz="1600" kern="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SparkSQL特点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0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1.4</a:t>
            </a:r>
            <a:r>
              <a:rPr sz="1600" kern="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SparkSQL发展历史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3596640" y="2338578"/>
            <a:ext cx="1410458" cy="1318260"/>
            <a:chOff x="0" y="0"/>
            <a:chExt cx="1410458" cy="1318260"/>
          </a:xfrm>
        </p:grpSpPr>
        <p:grpSp>
          <p:nvGrpSpPr>
            <p:cNvPr id="6" name="group 6"/>
            <p:cNvGrpSpPr/>
            <p:nvPr/>
          </p:nvGrpSpPr>
          <p:grpSpPr>
            <a:xfrm rot="21600000">
              <a:off x="0" y="0"/>
              <a:ext cx="1410458" cy="1318260"/>
              <a:chOff x="0" y="0"/>
              <a:chExt cx="1410458" cy="1318260"/>
            </a:xfrm>
          </p:grpSpPr>
          <p:sp>
            <p:nvSpPr>
              <p:cNvPr id="42" name="path 42"/>
              <p:cNvSpPr/>
              <p:nvPr/>
            </p:nvSpPr>
            <p:spPr>
              <a:xfrm>
                <a:off x="274315" y="0"/>
                <a:ext cx="1136142" cy="1318260"/>
              </a:xfrm>
              <a:custGeom>
                <a:avLst/>
                <a:gdLst/>
                <a:ahLst/>
                <a:cxnLst/>
                <a:rect l="0" t="0" r="0" b="0"/>
                <a:pathLst>
                  <a:path w="1789" h="2076">
                    <a:moveTo>
                      <a:pt x="894" y="0"/>
                    </a:moveTo>
                    <a:lnTo>
                      <a:pt x="1789" y="447"/>
                    </a:lnTo>
                    <a:lnTo>
                      <a:pt x="1789" y="1628"/>
                    </a:lnTo>
                    <a:lnTo>
                      <a:pt x="894" y="2076"/>
                    </a:lnTo>
                    <a:lnTo>
                      <a:pt x="0" y="1628"/>
                    </a:lnTo>
                    <a:lnTo>
                      <a:pt x="0" y="44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rgbClr val="AD2B2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path 44"/>
              <p:cNvSpPr/>
              <p:nvPr/>
            </p:nvSpPr>
            <p:spPr>
              <a:xfrm>
                <a:off x="0" y="889253"/>
                <a:ext cx="370331" cy="429005"/>
              </a:xfrm>
              <a:custGeom>
                <a:avLst/>
                <a:gdLst/>
                <a:ahLst/>
                <a:cxnLst/>
                <a:rect l="0" t="0" r="0" b="0"/>
                <a:pathLst>
                  <a:path w="583" h="675">
                    <a:moveTo>
                      <a:pt x="291" y="0"/>
                    </a:moveTo>
                    <a:lnTo>
                      <a:pt x="583" y="145"/>
                    </a:lnTo>
                    <a:lnTo>
                      <a:pt x="583" y="529"/>
                    </a:lnTo>
                    <a:lnTo>
                      <a:pt x="291" y="675"/>
                    </a:lnTo>
                    <a:lnTo>
                      <a:pt x="0" y="529"/>
                    </a:lnTo>
                    <a:lnTo>
                      <a:pt x="0" y="145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textbox 46"/>
            <p:cNvSpPr/>
            <p:nvPr/>
          </p:nvSpPr>
          <p:spPr>
            <a:xfrm>
              <a:off x="-12700" y="-12700"/>
              <a:ext cx="1436369" cy="1344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7690" algn="l" rtl="0" eaLnBrk="0">
                <a:lnSpc>
                  <a:spcPts val="5280"/>
                </a:lnSpc>
                <a:spcBef>
                  <a:spcPts val="0"/>
                </a:spcBef>
              </a:pPr>
              <a:r>
                <a:rPr sz="4000" b="1" kern="0" spc="-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66977" y="1457705"/>
            <a:ext cx="10207751" cy="3139439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1054722" y="5298490"/>
            <a:ext cx="4735195" cy="825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b="1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</a:t>
            </a:r>
            <a:r>
              <a:rPr sz="13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b="1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的一个</a:t>
            </a:r>
            <a:r>
              <a:rPr sz="1300" b="1" kern="0" spc="1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r>
              <a:rPr sz="1300" b="1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用于</a:t>
            </a:r>
            <a:r>
              <a:rPr sz="1300" b="1" kern="0" spc="1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r>
              <a:rPr sz="2100" b="1" kern="0" spc="1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海量</a:t>
            </a:r>
            <a:r>
              <a:rPr sz="1300" b="1" kern="0" spc="1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结构化数据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9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9000"/>
              </a:lnSpc>
            </a:pP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限定: 结构化数据处理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810651" y="1027175"/>
            <a:ext cx="220789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什么是SparkS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QL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64" name="path 6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" name="path 6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68" name="picture 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72212" cy="10347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76300" y="1715261"/>
            <a:ext cx="6957821" cy="2964462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856076" y="4674730"/>
            <a:ext cx="6993890" cy="1737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ct val="99000"/>
              </a:lnSpc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是非常成熟的 海量结构化数据处理框架.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05"/>
              </a:lnSpc>
              <a:spcBef>
                <a:spcPts val="220"/>
              </a:spcBef>
            </a:pP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主要在2个点: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本身十分优秀, 支持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语言\性能强\可以自动优化\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简单\兼容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等等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algn="l" rtl="0" eaLnBrk="0">
              <a:lnSpc>
                <a:spcPct val="99000"/>
              </a:lnSpc>
              <a:spcBef>
                <a:spcPts val="465"/>
              </a:spcBef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企业大面积在使用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处理业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务数据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74980" algn="l" rtl="0" eaLnBrk="0">
              <a:lnSpc>
                <a:spcPct val="88000"/>
              </a:lnSpc>
              <a:spcBef>
                <a:spcPts val="485"/>
              </a:spcBef>
            </a:pPr>
            <a:r>
              <a:rPr sz="1300" kern="0" spc="5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3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离线开发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74980" algn="l" rtl="0" eaLnBrk="0">
              <a:lnSpc>
                <a:spcPct val="88000"/>
              </a:lnSpc>
              <a:spcBef>
                <a:spcPts val="655"/>
              </a:spcBef>
            </a:pP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数仓搭建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4980" algn="l" rtl="0" eaLnBrk="0">
              <a:lnSpc>
                <a:spcPct val="88000"/>
              </a:lnSpc>
              <a:spcBef>
                <a:spcPts val="5"/>
              </a:spcBef>
            </a:pP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科学计算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88246" y="3324605"/>
            <a:ext cx="860297" cy="2638805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810651" y="1027175"/>
            <a:ext cx="266509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为什么学习SparkSQL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9500552" y="2674188"/>
            <a:ext cx="1052830" cy="356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2600" kern="0" spc="90" dirty="0">
                <a:solidFill>
                  <a:srgbClr val="E6B9B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多挣钱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path 90"/>
          <p:cNvSpPr/>
          <p:nvPr/>
        </p:nvSpPr>
        <p:spPr>
          <a:xfrm>
            <a:off x="9502203" y="2675839"/>
            <a:ext cx="1049146" cy="353453"/>
          </a:xfrm>
          <a:custGeom>
            <a:avLst/>
            <a:gdLst/>
            <a:ahLst/>
            <a:cxnLst/>
            <a:rect l="0" t="0" r="0" b="0"/>
            <a:pathLst>
              <a:path w="1652" h="556">
                <a:moveTo>
                  <a:pt x="913" y="354"/>
                </a:moveTo>
                <a:lnTo>
                  <a:pt x="972" y="354"/>
                </a:lnTo>
                <a:lnTo>
                  <a:pt x="972" y="309"/>
                </a:lnTo>
                <a:lnTo>
                  <a:pt x="913" y="309"/>
                </a:lnTo>
                <a:lnTo>
                  <a:pt x="913" y="354"/>
                </a:lnTo>
                <a:close/>
                <a:moveTo>
                  <a:pt x="913" y="264"/>
                </a:moveTo>
                <a:lnTo>
                  <a:pt x="972" y="264"/>
                </a:lnTo>
                <a:lnTo>
                  <a:pt x="972" y="219"/>
                </a:lnTo>
                <a:lnTo>
                  <a:pt x="913" y="219"/>
                </a:lnTo>
                <a:lnTo>
                  <a:pt x="913" y="264"/>
                </a:lnTo>
                <a:close/>
                <a:moveTo>
                  <a:pt x="841" y="122"/>
                </a:moveTo>
                <a:cubicBezTo>
                  <a:pt x="824" y="149"/>
                  <a:pt x="811" y="166"/>
                  <a:pt x="803" y="174"/>
                </a:cubicBezTo>
                <a:cubicBezTo>
                  <a:pt x="817" y="175"/>
                  <a:pt x="836" y="176"/>
                  <a:pt x="859" y="176"/>
                </a:cubicBezTo>
                <a:lnTo>
                  <a:pt x="880" y="176"/>
                </a:lnTo>
                <a:cubicBezTo>
                  <a:pt x="885" y="168"/>
                  <a:pt x="894" y="150"/>
                  <a:pt x="908" y="122"/>
                </a:cubicBezTo>
                <a:lnTo>
                  <a:pt x="841" y="122"/>
                </a:lnTo>
                <a:close/>
                <a:moveTo>
                  <a:pt x="1515" y="32"/>
                </a:moveTo>
                <a:cubicBezTo>
                  <a:pt x="1536" y="55"/>
                  <a:pt x="1554" y="74"/>
                  <a:pt x="1566" y="90"/>
                </a:cubicBezTo>
                <a:cubicBezTo>
                  <a:pt x="1554" y="99"/>
                  <a:pt x="1542" y="109"/>
                  <a:pt x="1530" y="118"/>
                </a:cubicBezTo>
                <a:cubicBezTo>
                  <a:pt x="1517" y="103"/>
                  <a:pt x="1501" y="85"/>
                  <a:pt x="1482" y="63"/>
                </a:cubicBezTo>
                <a:cubicBezTo>
                  <a:pt x="1489" y="54"/>
                  <a:pt x="1500" y="44"/>
                  <a:pt x="1515" y="32"/>
                </a:cubicBezTo>
                <a:moveTo>
                  <a:pt x="195" y="19"/>
                </a:moveTo>
                <a:cubicBezTo>
                  <a:pt x="211" y="30"/>
                  <a:pt x="226" y="41"/>
                  <a:pt x="240" y="52"/>
                </a:cubicBezTo>
                <a:cubicBezTo>
                  <a:pt x="232" y="60"/>
                  <a:pt x="221" y="69"/>
                  <a:pt x="206" y="79"/>
                </a:cubicBezTo>
                <a:lnTo>
                  <a:pt x="429" y="79"/>
                </a:lnTo>
                <a:cubicBezTo>
                  <a:pt x="389" y="141"/>
                  <a:pt x="350" y="186"/>
                  <a:pt x="312" y="214"/>
                </a:cubicBezTo>
                <a:lnTo>
                  <a:pt x="305" y="219"/>
                </a:lnTo>
                <a:lnTo>
                  <a:pt x="311" y="224"/>
                </a:lnTo>
                <a:cubicBezTo>
                  <a:pt x="322" y="233"/>
                  <a:pt x="335" y="240"/>
                  <a:pt x="348" y="246"/>
                </a:cubicBezTo>
                <a:cubicBezTo>
                  <a:pt x="333" y="261"/>
                  <a:pt x="321" y="271"/>
                  <a:pt x="311" y="275"/>
                </a:cubicBezTo>
                <a:lnTo>
                  <a:pt x="489" y="275"/>
                </a:lnTo>
                <a:cubicBezTo>
                  <a:pt x="472" y="323"/>
                  <a:pt x="448" y="363"/>
                  <a:pt x="420" y="395"/>
                </a:cubicBezTo>
                <a:cubicBezTo>
                  <a:pt x="392" y="427"/>
                  <a:pt x="360" y="452"/>
                  <a:pt x="325" y="469"/>
                </a:cubicBezTo>
                <a:cubicBezTo>
                  <a:pt x="290" y="487"/>
                  <a:pt x="252" y="501"/>
                  <a:pt x="210" y="513"/>
                </a:cubicBezTo>
                <a:cubicBezTo>
                  <a:pt x="168" y="524"/>
                  <a:pt x="115" y="533"/>
                  <a:pt x="51" y="539"/>
                </a:cubicBezTo>
                <a:cubicBezTo>
                  <a:pt x="45" y="521"/>
                  <a:pt x="35" y="501"/>
                  <a:pt x="23" y="480"/>
                </a:cubicBezTo>
                <a:cubicBezTo>
                  <a:pt x="63" y="483"/>
                  <a:pt x="107" y="481"/>
                  <a:pt x="156" y="472"/>
                </a:cubicBezTo>
                <a:cubicBezTo>
                  <a:pt x="205" y="464"/>
                  <a:pt x="248" y="451"/>
                  <a:pt x="285" y="435"/>
                </a:cubicBezTo>
                <a:cubicBezTo>
                  <a:pt x="261" y="413"/>
                  <a:pt x="239" y="393"/>
                  <a:pt x="221" y="374"/>
                </a:cubicBezTo>
                <a:cubicBezTo>
                  <a:pt x="233" y="363"/>
                  <a:pt x="245" y="352"/>
                  <a:pt x="257" y="339"/>
                </a:cubicBezTo>
                <a:cubicBezTo>
                  <a:pt x="280" y="361"/>
                  <a:pt x="304" y="385"/>
                  <a:pt x="327" y="410"/>
                </a:cubicBezTo>
                <a:cubicBezTo>
                  <a:pt x="342" y="401"/>
                  <a:pt x="357" y="388"/>
                  <a:pt x="373" y="370"/>
                </a:cubicBezTo>
                <a:cubicBezTo>
                  <a:pt x="389" y="352"/>
                  <a:pt x="403" y="335"/>
                  <a:pt x="414" y="318"/>
                </a:cubicBezTo>
                <a:lnTo>
                  <a:pt x="275" y="318"/>
                </a:lnTo>
                <a:cubicBezTo>
                  <a:pt x="262" y="328"/>
                  <a:pt x="242" y="342"/>
                  <a:pt x="216" y="359"/>
                </a:cubicBezTo>
                <a:cubicBezTo>
                  <a:pt x="190" y="375"/>
                  <a:pt x="152" y="394"/>
                  <a:pt x="102" y="414"/>
                </a:cubicBezTo>
                <a:cubicBezTo>
                  <a:pt x="93" y="398"/>
                  <a:pt x="83" y="385"/>
                  <a:pt x="71" y="372"/>
                </a:cubicBezTo>
                <a:cubicBezTo>
                  <a:pt x="120" y="356"/>
                  <a:pt x="165" y="333"/>
                  <a:pt x="207" y="304"/>
                </a:cubicBezTo>
                <a:cubicBezTo>
                  <a:pt x="238" y="282"/>
                  <a:pt x="263" y="259"/>
                  <a:pt x="282" y="237"/>
                </a:cubicBezTo>
                <a:lnTo>
                  <a:pt x="286" y="232"/>
                </a:lnTo>
                <a:lnTo>
                  <a:pt x="274" y="239"/>
                </a:lnTo>
                <a:cubicBezTo>
                  <a:pt x="244" y="257"/>
                  <a:pt x="214" y="272"/>
                  <a:pt x="186" y="282"/>
                </a:cubicBezTo>
                <a:cubicBezTo>
                  <a:pt x="148" y="295"/>
                  <a:pt x="102" y="309"/>
                  <a:pt x="47" y="322"/>
                </a:cubicBezTo>
                <a:cubicBezTo>
                  <a:pt x="41" y="306"/>
                  <a:pt x="30" y="289"/>
                  <a:pt x="17" y="271"/>
                </a:cubicBezTo>
                <a:cubicBezTo>
                  <a:pt x="48" y="269"/>
                  <a:pt x="82" y="263"/>
                  <a:pt x="120" y="253"/>
                </a:cubicBezTo>
                <a:cubicBezTo>
                  <a:pt x="158" y="244"/>
                  <a:pt x="186" y="234"/>
                  <a:pt x="206" y="224"/>
                </a:cubicBezTo>
                <a:cubicBezTo>
                  <a:pt x="190" y="205"/>
                  <a:pt x="170" y="185"/>
                  <a:pt x="148" y="166"/>
                </a:cubicBezTo>
                <a:cubicBezTo>
                  <a:pt x="160" y="155"/>
                  <a:pt x="171" y="144"/>
                  <a:pt x="181" y="131"/>
                </a:cubicBezTo>
                <a:cubicBezTo>
                  <a:pt x="212" y="159"/>
                  <a:pt x="236" y="182"/>
                  <a:pt x="250" y="199"/>
                </a:cubicBezTo>
                <a:cubicBezTo>
                  <a:pt x="267" y="189"/>
                  <a:pt x="284" y="177"/>
                  <a:pt x="301" y="162"/>
                </a:cubicBezTo>
                <a:cubicBezTo>
                  <a:pt x="318" y="147"/>
                  <a:pt x="333" y="134"/>
                  <a:pt x="345" y="122"/>
                </a:cubicBezTo>
                <a:lnTo>
                  <a:pt x="170" y="122"/>
                </a:lnTo>
                <a:cubicBezTo>
                  <a:pt x="141" y="147"/>
                  <a:pt x="104" y="173"/>
                  <a:pt x="60" y="200"/>
                </a:cubicBezTo>
                <a:cubicBezTo>
                  <a:pt x="50" y="186"/>
                  <a:pt x="37" y="174"/>
                  <a:pt x="23" y="163"/>
                </a:cubicBezTo>
                <a:cubicBezTo>
                  <a:pt x="63" y="144"/>
                  <a:pt x="99" y="121"/>
                  <a:pt x="130" y="94"/>
                </a:cubicBezTo>
                <a:cubicBezTo>
                  <a:pt x="161" y="67"/>
                  <a:pt x="182" y="42"/>
                  <a:pt x="195" y="19"/>
                </a:cubicBezTo>
                <a:moveTo>
                  <a:pt x="1398" y="17"/>
                </a:moveTo>
                <a:cubicBezTo>
                  <a:pt x="1416" y="23"/>
                  <a:pt x="1437" y="27"/>
                  <a:pt x="1458" y="31"/>
                </a:cubicBezTo>
                <a:cubicBezTo>
                  <a:pt x="1454" y="47"/>
                  <a:pt x="1452" y="63"/>
                  <a:pt x="1452" y="81"/>
                </a:cubicBezTo>
                <a:cubicBezTo>
                  <a:pt x="1452" y="100"/>
                  <a:pt x="1452" y="123"/>
                  <a:pt x="1454" y="150"/>
                </a:cubicBezTo>
                <a:cubicBezTo>
                  <a:pt x="1503" y="138"/>
                  <a:pt x="1546" y="124"/>
                  <a:pt x="1580" y="109"/>
                </a:cubicBezTo>
                <a:lnTo>
                  <a:pt x="1596" y="158"/>
                </a:lnTo>
                <a:cubicBezTo>
                  <a:pt x="1581" y="160"/>
                  <a:pt x="1560" y="164"/>
                  <a:pt x="1535" y="171"/>
                </a:cubicBezTo>
                <a:lnTo>
                  <a:pt x="1458" y="194"/>
                </a:lnTo>
                <a:cubicBezTo>
                  <a:pt x="1460" y="211"/>
                  <a:pt x="1461" y="229"/>
                  <a:pt x="1464" y="247"/>
                </a:cubicBezTo>
                <a:cubicBezTo>
                  <a:pt x="1491" y="240"/>
                  <a:pt x="1536" y="224"/>
                  <a:pt x="1600" y="199"/>
                </a:cubicBezTo>
                <a:lnTo>
                  <a:pt x="1615" y="245"/>
                </a:lnTo>
                <a:cubicBezTo>
                  <a:pt x="1548" y="265"/>
                  <a:pt x="1499" y="280"/>
                  <a:pt x="1469" y="290"/>
                </a:cubicBezTo>
                <a:cubicBezTo>
                  <a:pt x="1473" y="322"/>
                  <a:pt x="1479" y="349"/>
                  <a:pt x="1488" y="369"/>
                </a:cubicBezTo>
                <a:cubicBezTo>
                  <a:pt x="1517" y="332"/>
                  <a:pt x="1537" y="302"/>
                  <a:pt x="1549" y="279"/>
                </a:cubicBezTo>
                <a:cubicBezTo>
                  <a:pt x="1565" y="296"/>
                  <a:pt x="1580" y="311"/>
                  <a:pt x="1596" y="324"/>
                </a:cubicBezTo>
                <a:cubicBezTo>
                  <a:pt x="1584" y="330"/>
                  <a:pt x="1573" y="340"/>
                  <a:pt x="1562" y="352"/>
                </a:cubicBezTo>
                <a:cubicBezTo>
                  <a:pt x="1552" y="365"/>
                  <a:pt x="1534" y="385"/>
                  <a:pt x="1510" y="413"/>
                </a:cubicBezTo>
                <a:cubicBezTo>
                  <a:pt x="1539" y="461"/>
                  <a:pt x="1558" y="481"/>
                  <a:pt x="1565" y="472"/>
                </a:cubicBezTo>
                <a:cubicBezTo>
                  <a:pt x="1572" y="464"/>
                  <a:pt x="1576" y="448"/>
                  <a:pt x="1576" y="423"/>
                </a:cubicBezTo>
                <a:cubicBezTo>
                  <a:pt x="1596" y="434"/>
                  <a:pt x="1615" y="442"/>
                  <a:pt x="1634" y="445"/>
                </a:cubicBezTo>
                <a:cubicBezTo>
                  <a:pt x="1611" y="509"/>
                  <a:pt x="1584" y="536"/>
                  <a:pt x="1554" y="526"/>
                </a:cubicBezTo>
                <a:cubicBezTo>
                  <a:pt x="1524" y="517"/>
                  <a:pt x="1497" y="489"/>
                  <a:pt x="1471" y="442"/>
                </a:cubicBezTo>
                <a:cubicBezTo>
                  <a:pt x="1430" y="476"/>
                  <a:pt x="1388" y="502"/>
                  <a:pt x="1343" y="519"/>
                </a:cubicBezTo>
                <a:cubicBezTo>
                  <a:pt x="1335" y="502"/>
                  <a:pt x="1322" y="487"/>
                  <a:pt x="1306" y="473"/>
                </a:cubicBezTo>
                <a:cubicBezTo>
                  <a:pt x="1334" y="464"/>
                  <a:pt x="1360" y="454"/>
                  <a:pt x="1384" y="444"/>
                </a:cubicBezTo>
                <a:cubicBezTo>
                  <a:pt x="1407" y="433"/>
                  <a:pt x="1429" y="420"/>
                  <a:pt x="1447" y="403"/>
                </a:cubicBezTo>
                <a:cubicBezTo>
                  <a:pt x="1434" y="371"/>
                  <a:pt x="1426" y="338"/>
                  <a:pt x="1420" y="303"/>
                </a:cubicBezTo>
                <a:cubicBezTo>
                  <a:pt x="1406" y="308"/>
                  <a:pt x="1380" y="317"/>
                  <a:pt x="1345" y="331"/>
                </a:cubicBezTo>
                <a:lnTo>
                  <a:pt x="1329" y="282"/>
                </a:lnTo>
                <a:cubicBezTo>
                  <a:pt x="1354" y="277"/>
                  <a:pt x="1382" y="270"/>
                  <a:pt x="1415" y="259"/>
                </a:cubicBezTo>
                <a:cubicBezTo>
                  <a:pt x="1412" y="240"/>
                  <a:pt x="1410" y="223"/>
                  <a:pt x="1409" y="206"/>
                </a:cubicBezTo>
                <a:cubicBezTo>
                  <a:pt x="1380" y="213"/>
                  <a:pt x="1356" y="220"/>
                  <a:pt x="1336" y="225"/>
                </a:cubicBezTo>
                <a:lnTo>
                  <a:pt x="1323" y="179"/>
                </a:lnTo>
                <a:cubicBezTo>
                  <a:pt x="1345" y="176"/>
                  <a:pt x="1373" y="170"/>
                  <a:pt x="1407" y="162"/>
                </a:cubicBezTo>
                <a:cubicBezTo>
                  <a:pt x="1402" y="101"/>
                  <a:pt x="1399" y="53"/>
                  <a:pt x="1398" y="17"/>
                </a:cubicBezTo>
                <a:moveTo>
                  <a:pt x="1213" y="17"/>
                </a:moveTo>
                <a:cubicBezTo>
                  <a:pt x="1229" y="31"/>
                  <a:pt x="1246" y="41"/>
                  <a:pt x="1265" y="48"/>
                </a:cubicBezTo>
                <a:cubicBezTo>
                  <a:pt x="1251" y="63"/>
                  <a:pt x="1238" y="80"/>
                  <a:pt x="1226" y="99"/>
                </a:cubicBezTo>
                <a:cubicBezTo>
                  <a:pt x="1266" y="99"/>
                  <a:pt x="1300" y="97"/>
                  <a:pt x="1330" y="94"/>
                </a:cubicBezTo>
                <a:lnTo>
                  <a:pt x="1330" y="144"/>
                </a:lnTo>
                <a:cubicBezTo>
                  <a:pt x="1299" y="142"/>
                  <a:pt x="1256" y="142"/>
                  <a:pt x="1202" y="142"/>
                </a:cubicBezTo>
                <a:cubicBezTo>
                  <a:pt x="1189" y="160"/>
                  <a:pt x="1177" y="177"/>
                  <a:pt x="1165" y="191"/>
                </a:cubicBezTo>
                <a:lnTo>
                  <a:pt x="1161" y="195"/>
                </a:lnTo>
                <a:lnTo>
                  <a:pt x="1165" y="196"/>
                </a:lnTo>
                <a:cubicBezTo>
                  <a:pt x="1181" y="198"/>
                  <a:pt x="1193" y="199"/>
                  <a:pt x="1203" y="199"/>
                </a:cubicBezTo>
                <a:lnTo>
                  <a:pt x="1261" y="199"/>
                </a:lnTo>
                <a:cubicBezTo>
                  <a:pt x="1272" y="199"/>
                  <a:pt x="1288" y="198"/>
                  <a:pt x="1308" y="195"/>
                </a:cubicBezTo>
                <a:lnTo>
                  <a:pt x="1308" y="245"/>
                </a:lnTo>
                <a:cubicBezTo>
                  <a:pt x="1280" y="243"/>
                  <a:pt x="1260" y="243"/>
                  <a:pt x="1246" y="243"/>
                </a:cubicBezTo>
                <a:lnTo>
                  <a:pt x="1246" y="298"/>
                </a:lnTo>
                <a:cubicBezTo>
                  <a:pt x="1277" y="298"/>
                  <a:pt x="1305" y="297"/>
                  <a:pt x="1327" y="294"/>
                </a:cubicBezTo>
                <a:lnTo>
                  <a:pt x="1327" y="343"/>
                </a:lnTo>
                <a:cubicBezTo>
                  <a:pt x="1303" y="342"/>
                  <a:pt x="1275" y="341"/>
                  <a:pt x="1246" y="341"/>
                </a:cubicBezTo>
                <a:lnTo>
                  <a:pt x="1246" y="448"/>
                </a:lnTo>
                <a:cubicBezTo>
                  <a:pt x="1256" y="437"/>
                  <a:pt x="1277" y="416"/>
                  <a:pt x="1307" y="386"/>
                </a:cubicBezTo>
                <a:cubicBezTo>
                  <a:pt x="1312" y="401"/>
                  <a:pt x="1320" y="416"/>
                  <a:pt x="1332" y="431"/>
                </a:cubicBezTo>
                <a:cubicBezTo>
                  <a:pt x="1318" y="441"/>
                  <a:pt x="1301" y="454"/>
                  <a:pt x="1281" y="472"/>
                </a:cubicBezTo>
                <a:cubicBezTo>
                  <a:pt x="1261" y="489"/>
                  <a:pt x="1238" y="509"/>
                  <a:pt x="1212" y="532"/>
                </a:cubicBezTo>
                <a:cubicBezTo>
                  <a:pt x="1201" y="515"/>
                  <a:pt x="1190" y="501"/>
                  <a:pt x="1179" y="491"/>
                </a:cubicBezTo>
                <a:cubicBezTo>
                  <a:pt x="1189" y="472"/>
                  <a:pt x="1194" y="452"/>
                  <a:pt x="1194" y="429"/>
                </a:cubicBezTo>
                <a:lnTo>
                  <a:pt x="1194" y="341"/>
                </a:lnTo>
                <a:cubicBezTo>
                  <a:pt x="1174" y="341"/>
                  <a:pt x="1150" y="342"/>
                  <a:pt x="1121" y="343"/>
                </a:cubicBezTo>
                <a:lnTo>
                  <a:pt x="1121" y="294"/>
                </a:lnTo>
                <a:cubicBezTo>
                  <a:pt x="1153" y="297"/>
                  <a:pt x="1177" y="298"/>
                  <a:pt x="1194" y="298"/>
                </a:cubicBezTo>
                <a:lnTo>
                  <a:pt x="1194" y="243"/>
                </a:lnTo>
                <a:cubicBezTo>
                  <a:pt x="1189" y="243"/>
                  <a:pt x="1174" y="243"/>
                  <a:pt x="1149" y="245"/>
                </a:cubicBezTo>
                <a:lnTo>
                  <a:pt x="1149" y="209"/>
                </a:lnTo>
                <a:lnTo>
                  <a:pt x="1143" y="215"/>
                </a:lnTo>
                <a:cubicBezTo>
                  <a:pt x="1134" y="199"/>
                  <a:pt x="1123" y="188"/>
                  <a:pt x="1110" y="180"/>
                </a:cubicBezTo>
                <a:cubicBezTo>
                  <a:pt x="1130" y="159"/>
                  <a:pt x="1149" y="133"/>
                  <a:pt x="1168" y="103"/>
                </a:cubicBezTo>
                <a:cubicBezTo>
                  <a:pt x="1187" y="74"/>
                  <a:pt x="1202" y="45"/>
                  <a:pt x="1213" y="17"/>
                </a:cubicBezTo>
                <a:moveTo>
                  <a:pt x="829" y="17"/>
                </a:moveTo>
                <a:cubicBezTo>
                  <a:pt x="855" y="27"/>
                  <a:pt x="876" y="36"/>
                  <a:pt x="891" y="41"/>
                </a:cubicBezTo>
                <a:cubicBezTo>
                  <a:pt x="880" y="56"/>
                  <a:pt x="871" y="69"/>
                  <a:pt x="863" y="79"/>
                </a:cubicBezTo>
                <a:lnTo>
                  <a:pt x="983" y="79"/>
                </a:lnTo>
                <a:cubicBezTo>
                  <a:pt x="975" y="98"/>
                  <a:pt x="966" y="116"/>
                  <a:pt x="958" y="133"/>
                </a:cubicBezTo>
                <a:cubicBezTo>
                  <a:pt x="950" y="151"/>
                  <a:pt x="943" y="165"/>
                  <a:pt x="936" y="176"/>
                </a:cubicBezTo>
                <a:lnTo>
                  <a:pt x="1029" y="176"/>
                </a:lnTo>
                <a:cubicBezTo>
                  <a:pt x="1026" y="198"/>
                  <a:pt x="1024" y="222"/>
                  <a:pt x="1024" y="249"/>
                </a:cubicBezTo>
                <a:lnTo>
                  <a:pt x="1024" y="264"/>
                </a:lnTo>
                <a:cubicBezTo>
                  <a:pt x="1038" y="264"/>
                  <a:pt x="1054" y="262"/>
                  <a:pt x="1071" y="259"/>
                </a:cubicBezTo>
                <a:lnTo>
                  <a:pt x="1071" y="311"/>
                </a:lnTo>
                <a:cubicBezTo>
                  <a:pt x="1054" y="310"/>
                  <a:pt x="1038" y="309"/>
                  <a:pt x="1024" y="309"/>
                </a:cubicBezTo>
                <a:lnTo>
                  <a:pt x="1024" y="341"/>
                </a:lnTo>
                <a:cubicBezTo>
                  <a:pt x="1024" y="370"/>
                  <a:pt x="1026" y="399"/>
                  <a:pt x="1029" y="427"/>
                </a:cubicBezTo>
                <a:lnTo>
                  <a:pt x="972" y="427"/>
                </a:lnTo>
                <a:lnTo>
                  <a:pt x="972" y="397"/>
                </a:lnTo>
                <a:lnTo>
                  <a:pt x="913" y="397"/>
                </a:lnTo>
                <a:lnTo>
                  <a:pt x="913" y="478"/>
                </a:lnTo>
                <a:cubicBezTo>
                  <a:pt x="913" y="501"/>
                  <a:pt x="906" y="516"/>
                  <a:pt x="892" y="522"/>
                </a:cubicBezTo>
                <a:cubicBezTo>
                  <a:pt x="878" y="529"/>
                  <a:pt x="854" y="532"/>
                  <a:pt x="819" y="532"/>
                </a:cubicBezTo>
                <a:cubicBezTo>
                  <a:pt x="817" y="518"/>
                  <a:pt x="812" y="497"/>
                  <a:pt x="805" y="472"/>
                </a:cubicBezTo>
                <a:cubicBezTo>
                  <a:pt x="828" y="475"/>
                  <a:pt x="843" y="476"/>
                  <a:pt x="849" y="475"/>
                </a:cubicBezTo>
                <a:cubicBezTo>
                  <a:pt x="856" y="475"/>
                  <a:pt x="859" y="471"/>
                  <a:pt x="859" y="463"/>
                </a:cubicBezTo>
                <a:lnTo>
                  <a:pt x="859" y="397"/>
                </a:lnTo>
                <a:lnTo>
                  <a:pt x="829" y="397"/>
                </a:lnTo>
                <a:cubicBezTo>
                  <a:pt x="805" y="397"/>
                  <a:pt x="780" y="398"/>
                  <a:pt x="754" y="399"/>
                </a:cubicBezTo>
                <a:lnTo>
                  <a:pt x="754" y="350"/>
                </a:lnTo>
                <a:cubicBezTo>
                  <a:pt x="779" y="352"/>
                  <a:pt x="804" y="354"/>
                  <a:pt x="829" y="354"/>
                </a:cubicBezTo>
                <a:lnTo>
                  <a:pt x="859" y="354"/>
                </a:lnTo>
                <a:lnTo>
                  <a:pt x="859" y="309"/>
                </a:lnTo>
                <a:lnTo>
                  <a:pt x="827" y="309"/>
                </a:lnTo>
                <a:cubicBezTo>
                  <a:pt x="798" y="309"/>
                  <a:pt x="769" y="310"/>
                  <a:pt x="739" y="311"/>
                </a:cubicBezTo>
                <a:lnTo>
                  <a:pt x="739" y="259"/>
                </a:lnTo>
                <a:cubicBezTo>
                  <a:pt x="772" y="262"/>
                  <a:pt x="804" y="264"/>
                  <a:pt x="833" y="264"/>
                </a:cubicBezTo>
                <a:lnTo>
                  <a:pt x="859" y="264"/>
                </a:lnTo>
                <a:lnTo>
                  <a:pt x="859" y="219"/>
                </a:lnTo>
                <a:lnTo>
                  <a:pt x="857" y="219"/>
                </a:lnTo>
                <a:cubicBezTo>
                  <a:pt x="834" y="219"/>
                  <a:pt x="810" y="220"/>
                  <a:pt x="784" y="221"/>
                </a:cubicBezTo>
                <a:lnTo>
                  <a:pt x="784" y="193"/>
                </a:lnTo>
                <a:cubicBezTo>
                  <a:pt x="778" y="207"/>
                  <a:pt x="773" y="219"/>
                  <a:pt x="766" y="227"/>
                </a:cubicBezTo>
                <a:cubicBezTo>
                  <a:pt x="756" y="221"/>
                  <a:pt x="741" y="211"/>
                  <a:pt x="721" y="197"/>
                </a:cubicBezTo>
                <a:lnTo>
                  <a:pt x="722" y="197"/>
                </a:lnTo>
                <a:lnTo>
                  <a:pt x="717" y="197"/>
                </a:lnTo>
                <a:cubicBezTo>
                  <a:pt x="703" y="196"/>
                  <a:pt x="692" y="195"/>
                  <a:pt x="685" y="195"/>
                </a:cubicBezTo>
                <a:lnTo>
                  <a:pt x="685" y="262"/>
                </a:lnTo>
                <a:cubicBezTo>
                  <a:pt x="701" y="252"/>
                  <a:pt x="717" y="245"/>
                  <a:pt x="732" y="240"/>
                </a:cubicBezTo>
                <a:cubicBezTo>
                  <a:pt x="734" y="264"/>
                  <a:pt x="735" y="281"/>
                  <a:pt x="735" y="292"/>
                </a:cubicBezTo>
                <a:cubicBezTo>
                  <a:pt x="707" y="302"/>
                  <a:pt x="691" y="308"/>
                  <a:pt x="685" y="311"/>
                </a:cubicBezTo>
                <a:lnTo>
                  <a:pt x="685" y="461"/>
                </a:lnTo>
                <a:cubicBezTo>
                  <a:pt x="685" y="490"/>
                  <a:pt x="679" y="507"/>
                  <a:pt x="665" y="513"/>
                </a:cubicBezTo>
                <a:cubicBezTo>
                  <a:pt x="652" y="519"/>
                  <a:pt x="627" y="522"/>
                  <a:pt x="590" y="522"/>
                </a:cubicBezTo>
                <a:cubicBezTo>
                  <a:pt x="590" y="509"/>
                  <a:pt x="588" y="491"/>
                  <a:pt x="582" y="466"/>
                </a:cubicBezTo>
                <a:lnTo>
                  <a:pt x="631" y="466"/>
                </a:lnTo>
                <a:cubicBezTo>
                  <a:pt x="633" y="466"/>
                  <a:pt x="633" y="459"/>
                  <a:pt x="633" y="446"/>
                </a:cubicBezTo>
                <a:lnTo>
                  <a:pt x="633" y="328"/>
                </a:lnTo>
                <a:cubicBezTo>
                  <a:pt x="630" y="331"/>
                  <a:pt x="623" y="335"/>
                  <a:pt x="612" y="339"/>
                </a:cubicBezTo>
                <a:cubicBezTo>
                  <a:pt x="601" y="343"/>
                  <a:pt x="587" y="349"/>
                  <a:pt x="570" y="356"/>
                </a:cubicBezTo>
                <a:cubicBezTo>
                  <a:pt x="560" y="334"/>
                  <a:pt x="552" y="317"/>
                  <a:pt x="548" y="305"/>
                </a:cubicBezTo>
                <a:cubicBezTo>
                  <a:pt x="564" y="299"/>
                  <a:pt x="580" y="295"/>
                  <a:pt x="596" y="291"/>
                </a:cubicBezTo>
                <a:cubicBezTo>
                  <a:pt x="611" y="287"/>
                  <a:pt x="623" y="284"/>
                  <a:pt x="633" y="281"/>
                </a:cubicBezTo>
                <a:lnTo>
                  <a:pt x="633" y="195"/>
                </a:lnTo>
                <a:lnTo>
                  <a:pt x="627" y="195"/>
                </a:lnTo>
                <a:cubicBezTo>
                  <a:pt x="606" y="195"/>
                  <a:pt x="583" y="196"/>
                  <a:pt x="558" y="197"/>
                </a:cubicBezTo>
                <a:lnTo>
                  <a:pt x="558" y="148"/>
                </a:lnTo>
                <a:cubicBezTo>
                  <a:pt x="581" y="151"/>
                  <a:pt x="604" y="152"/>
                  <a:pt x="627" y="152"/>
                </a:cubicBezTo>
                <a:lnTo>
                  <a:pt x="633" y="152"/>
                </a:lnTo>
                <a:lnTo>
                  <a:pt x="633" y="90"/>
                </a:lnTo>
                <a:cubicBezTo>
                  <a:pt x="633" y="70"/>
                  <a:pt x="633" y="50"/>
                  <a:pt x="631" y="28"/>
                </a:cubicBezTo>
                <a:lnTo>
                  <a:pt x="687" y="28"/>
                </a:lnTo>
                <a:cubicBezTo>
                  <a:pt x="686" y="47"/>
                  <a:pt x="685" y="68"/>
                  <a:pt x="685" y="90"/>
                </a:cubicBezTo>
                <a:lnTo>
                  <a:pt x="685" y="152"/>
                </a:lnTo>
                <a:cubicBezTo>
                  <a:pt x="695" y="152"/>
                  <a:pt x="711" y="151"/>
                  <a:pt x="732" y="148"/>
                </a:cubicBezTo>
                <a:lnTo>
                  <a:pt x="732" y="183"/>
                </a:lnTo>
                <a:lnTo>
                  <a:pt x="740" y="172"/>
                </a:lnTo>
                <a:cubicBezTo>
                  <a:pt x="783" y="116"/>
                  <a:pt x="813" y="64"/>
                  <a:pt x="829" y="17"/>
                </a:cubicBezTo>
              </a:path>
            </a:pathLst>
          </a:custGeom>
          <a:noFill/>
          <a:ln w="22098" cap="flat">
            <a:solidFill>
              <a:srgbClr val="C0504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92" name="path 9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" name="path 9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6" name="textbox 96"/>
          <p:cNvSpPr/>
          <p:nvPr/>
        </p:nvSpPr>
        <p:spPr>
          <a:xfrm>
            <a:off x="1318779" y="6467487"/>
            <a:ext cx="1012189" cy="20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rect 9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rect 10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ath 102"/>
          <p:cNvSpPr/>
          <p:nvPr/>
        </p:nvSpPr>
        <p:spPr>
          <a:xfrm>
            <a:off x="4133850" y="2380488"/>
            <a:ext cx="362711" cy="364997"/>
          </a:xfrm>
          <a:custGeom>
            <a:avLst/>
            <a:gdLst/>
            <a:ahLst/>
            <a:cxnLst/>
            <a:rect l="0" t="0" r="0" b="0"/>
            <a:pathLst>
              <a:path w="571" h="574">
                <a:moveTo>
                  <a:pt x="0" y="287"/>
                </a:moveTo>
                <a:cubicBezTo>
                  <a:pt x="0" y="128"/>
                  <a:pt x="127" y="0"/>
                  <a:pt x="285" y="0"/>
                </a:cubicBezTo>
                <a:cubicBezTo>
                  <a:pt x="443" y="0"/>
                  <a:pt x="571" y="128"/>
                  <a:pt x="571" y="287"/>
                </a:cubicBezTo>
                <a:cubicBezTo>
                  <a:pt x="571" y="446"/>
                  <a:pt x="443" y="574"/>
                  <a:pt x="285" y="574"/>
                </a:cubicBezTo>
                <a:cubicBezTo>
                  <a:pt x="127" y="574"/>
                  <a:pt x="0" y="446"/>
                  <a:pt x="0" y="287"/>
                </a:cubicBezTo>
              </a:path>
            </a:pathLst>
          </a:custGeom>
          <a:solidFill>
            <a:srgbClr val="3B568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path 104"/>
          <p:cNvSpPr/>
          <p:nvPr/>
        </p:nvSpPr>
        <p:spPr>
          <a:xfrm>
            <a:off x="4133850" y="4121657"/>
            <a:ext cx="362711" cy="363473"/>
          </a:xfrm>
          <a:custGeom>
            <a:avLst/>
            <a:gdLst/>
            <a:ahLst/>
            <a:cxnLst/>
            <a:rect l="0" t="0" r="0" b="0"/>
            <a:pathLst>
              <a:path w="571" h="572">
                <a:moveTo>
                  <a:pt x="0" y="286"/>
                </a:moveTo>
                <a:cubicBezTo>
                  <a:pt x="0" y="128"/>
                  <a:pt x="127" y="0"/>
                  <a:pt x="285" y="0"/>
                </a:cubicBezTo>
                <a:cubicBezTo>
                  <a:pt x="443" y="0"/>
                  <a:pt x="571" y="128"/>
                  <a:pt x="571" y="286"/>
                </a:cubicBezTo>
                <a:cubicBezTo>
                  <a:pt x="571" y="444"/>
                  <a:pt x="443" y="572"/>
                  <a:pt x="285" y="572"/>
                </a:cubicBezTo>
                <a:cubicBezTo>
                  <a:pt x="127" y="572"/>
                  <a:pt x="0" y="444"/>
                  <a:pt x="0" y="286"/>
                </a:cubicBezTo>
              </a:path>
            </a:pathLst>
          </a:custGeom>
          <a:solidFill>
            <a:srgbClr val="3B568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path 106"/>
          <p:cNvSpPr/>
          <p:nvPr/>
        </p:nvSpPr>
        <p:spPr>
          <a:xfrm>
            <a:off x="4133850" y="4960620"/>
            <a:ext cx="362711" cy="364235"/>
          </a:xfrm>
          <a:custGeom>
            <a:avLst/>
            <a:gdLst/>
            <a:ahLst/>
            <a:cxnLst/>
            <a:rect l="0" t="0" r="0" b="0"/>
            <a:pathLst>
              <a:path w="571" h="573">
                <a:moveTo>
                  <a:pt x="0" y="286"/>
                </a:moveTo>
                <a:cubicBezTo>
                  <a:pt x="0" y="128"/>
                  <a:pt x="127" y="0"/>
                  <a:pt x="285" y="0"/>
                </a:cubicBezTo>
                <a:cubicBezTo>
                  <a:pt x="443" y="0"/>
                  <a:pt x="571" y="128"/>
                  <a:pt x="571" y="286"/>
                </a:cubicBezTo>
                <a:cubicBezTo>
                  <a:pt x="571" y="445"/>
                  <a:pt x="443" y="573"/>
                  <a:pt x="285" y="573"/>
                </a:cubicBezTo>
                <a:cubicBezTo>
                  <a:pt x="127" y="573"/>
                  <a:pt x="0" y="445"/>
                  <a:pt x="0" y="286"/>
                </a:cubicBezTo>
              </a:path>
            </a:pathLst>
          </a:custGeom>
          <a:solidFill>
            <a:srgbClr val="FF8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path 108"/>
          <p:cNvSpPr/>
          <p:nvPr/>
        </p:nvSpPr>
        <p:spPr>
          <a:xfrm>
            <a:off x="4133850" y="3244595"/>
            <a:ext cx="362711" cy="362711"/>
          </a:xfrm>
          <a:custGeom>
            <a:avLst/>
            <a:gdLst/>
            <a:ahLst/>
            <a:cxnLst/>
            <a:rect l="0" t="0" r="0" b="0"/>
            <a:pathLst>
              <a:path w="571" h="571">
                <a:moveTo>
                  <a:pt x="0" y="285"/>
                </a:moveTo>
                <a:cubicBezTo>
                  <a:pt x="0" y="127"/>
                  <a:pt x="127" y="0"/>
                  <a:pt x="285" y="0"/>
                </a:cubicBezTo>
                <a:cubicBezTo>
                  <a:pt x="443" y="0"/>
                  <a:pt x="571" y="127"/>
                  <a:pt x="571" y="285"/>
                </a:cubicBezTo>
                <a:cubicBezTo>
                  <a:pt x="571" y="443"/>
                  <a:pt x="443" y="571"/>
                  <a:pt x="285" y="571"/>
                </a:cubicBezTo>
                <a:cubicBezTo>
                  <a:pt x="127" y="571"/>
                  <a:pt x="0" y="443"/>
                  <a:pt x="0" y="285"/>
                </a:cubicBezTo>
              </a:path>
            </a:pathLst>
          </a:custGeom>
          <a:solidFill>
            <a:srgbClr val="FF8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4133850" y="2340030"/>
          <a:ext cx="3462019" cy="3089275"/>
        </p:xfrm>
        <a:graphic>
          <a:graphicData uri="http://schemas.openxmlformats.org/drawingml/2006/table">
            <a:tbl>
              <a:tblPr/>
              <a:tblGrid>
                <a:gridCol w="430529"/>
                <a:gridCol w="3031489"/>
              </a:tblGrid>
              <a:tr h="6819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73000"/>
                        </a:lnSpc>
                      </a:pPr>
                      <a:r>
                        <a:rPr sz="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850" algn="l" rtl="0" eaLnBrk="0">
                        <a:lnSpc>
                          <a:spcPct val="86000"/>
                        </a:lnSpc>
                      </a:pPr>
                      <a:r>
                        <a:rPr sz="1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融合性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8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SQL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可以无缝集成在代码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中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, 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随时用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SQL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处理数据</a:t>
                      </a:r>
                      <a:endParaRPr sz="10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7840" algn="l" rtl="0" eaLnBrk="0">
                        <a:lnSpc>
                          <a:spcPct val="86000"/>
                        </a:lnSpc>
                      </a:pPr>
                      <a:r>
                        <a:rPr sz="1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统一数据访问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65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3825" algn="l" rtl="0" eaLnBrk="0">
                        <a:lnSpc>
                          <a:spcPct val="73000"/>
                        </a:lnSpc>
                      </a:pPr>
                      <a:r>
                        <a:rPr sz="18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endParaRPr sz="1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66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一套标准API可读写不同数据源</a:t>
                      </a:r>
                      <a:endParaRPr sz="11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6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3670" algn="l" rtl="0" eaLnBrk="0">
                        <a:lnSpc>
                          <a:spcPts val="1230"/>
                        </a:lnSpc>
                        <a:spcBef>
                          <a:spcPts val="5"/>
                        </a:spcBef>
                      </a:pPr>
                      <a:r>
                        <a:rPr sz="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</a:t>
                      </a: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83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Hive兼容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660" algn="l" rtl="0" eaLnBrk="0">
                        <a:lnSpc>
                          <a:spcPct val="95000"/>
                        </a:lnSpc>
                      </a:pP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可以使用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SparkSQL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直接计算并生成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Hive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数据表</a:t>
                      </a:r>
                      <a:endParaRPr sz="10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0650" algn="l" rtl="0" eaLnBrk="0">
                        <a:lnSpc>
                          <a:spcPct val="73000"/>
                        </a:lnSpc>
                      </a:pPr>
                      <a:r>
                        <a:rPr sz="18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</a:t>
                      </a:r>
                      <a:endParaRPr sz="1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310" algn="l" rtl="0" eaLnBrk="0">
                        <a:lnSpc>
                          <a:spcPct val="88000"/>
                        </a:lnSpc>
                      </a:pPr>
                      <a:r>
                        <a:rPr sz="1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标准化连接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120" indent="1905" algn="l" rtl="0" eaLnBrk="0">
                        <a:lnSpc>
                          <a:spcPct val="97000"/>
                        </a:lnSpc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支持标准化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JDBC\ODBC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连接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,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方便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和各种数据库进行数据交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互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.</a:t>
                      </a:r>
                      <a:endParaRPr sz="9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 rot="21600000">
            <a:off x="584454" y="2827782"/>
            <a:ext cx="3035045" cy="2185416"/>
            <a:chOff x="0" y="0"/>
            <a:chExt cx="3035045" cy="2185416"/>
          </a:xfrm>
        </p:grpSpPr>
        <p:sp>
          <p:nvSpPr>
            <p:cNvPr id="112" name="path 112"/>
            <p:cNvSpPr/>
            <p:nvPr/>
          </p:nvSpPr>
          <p:spPr>
            <a:xfrm>
              <a:off x="0" y="22098"/>
              <a:ext cx="717804" cy="2163317"/>
            </a:xfrm>
            <a:custGeom>
              <a:avLst/>
              <a:gdLst/>
              <a:ahLst/>
              <a:cxnLst/>
              <a:rect l="0" t="0" r="0" b="0"/>
              <a:pathLst>
                <a:path w="1130" h="3406">
                  <a:moveTo>
                    <a:pt x="0" y="3406"/>
                  </a:moveTo>
                  <a:lnTo>
                    <a:pt x="0" y="0"/>
                  </a:lnTo>
                  <a:lnTo>
                    <a:pt x="1130" y="681"/>
                  </a:lnTo>
                  <a:lnTo>
                    <a:pt x="1130" y="2725"/>
                  </a:lnTo>
                  <a:lnTo>
                    <a:pt x="0" y="3406"/>
                  </a:lnTo>
                  <a:close/>
                </a:path>
              </a:pathLst>
            </a:custGeom>
            <a:solidFill>
              <a:srgbClr val="3B568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4" name="path 114"/>
            <p:cNvSpPr/>
            <p:nvPr/>
          </p:nvSpPr>
          <p:spPr>
            <a:xfrm>
              <a:off x="771143" y="22098"/>
              <a:ext cx="719328" cy="2163317"/>
            </a:xfrm>
            <a:custGeom>
              <a:avLst/>
              <a:gdLst/>
              <a:ahLst/>
              <a:cxnLst/>
              <a:rect l="0" t="0" r="0" b="0"/>
              <a:pathLst>
                <a:path w="1132" h="3406">
                  <a:moveTo>
                    <a:pt x="0" y="3406"/>
                  </a:moveTo>
                  <a:lnTo>
                    <a:pt x="0" y="0"/>
                  </a:lnTo>
                  <a:lnTo>
                    <a:pt x="1132" y="681"/>
                  </a:lnTo>
                  <a:lnTo>
                    <a:pt x="1132" y="2725"/>
                  </a:lnTo>
                  <a:lnTo>
                    <a:pt x="0" y="3406"/>
                  </a:lnTo>
                  <a:close/>
                </a:path>
              </a:pathLst>
            </a:custGeom>
            <a:solidFill>
              <a:srgbClr val="FF8F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" name="path 116"/>
            <p:cNvSpPr/>
            <p:nvPr/>
          </p:nvSpPr>
          <p:spPr>
            <a:xfrm>
              <a:off x="1543811" y="22098"/>
              <a:ext cx="718566" cy="2163317"/>
            </a:xfrm>
            <a:custGeom>
              <a:avLst/>
              <a:gdLst/>
              <a:ahLst/>
              <a:cxnLst/>
              <a:rect l="0" t="0" r="0" b="0"/>
              <a:pathLst>
                <a:path w="1131" h="3406">
                  <a:moveTo>
                    <a:pt x="0" y="3406"/>
                  </a:moveTo>
                  <a:lnTo>
                    <a:pt x="0" y="0"/>
                  </a:lnTo>
                  <a:lnTo>
                    <a:pt x="1131" y="681"/>
                  </a:lnTo>
                  <a:lnTo>
                    <a:pt x="1131" y="2725"/>
                  </a:lnTo>
                  <a:lnTo>
                    <a:pt x="0" y="3406"/>
                  </a:lnTo>
                  <a:close/>
                </a:path>
              </a:pathLst>
            </a:custGeom>
            <a:solidFill>
              <a:srgbClr val="3B568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" name="path 118"/>
            <p:cNvSpPr/>
            <p:nvPr/>
          </p:nvSpPr>
          <p:spPr>
            <a:xfrm>
              <a:off x="2315717" y="0"/>
              <a:ext cx="719327" cy="2163317"/>
            </a:xfrm>
            <a:custGeom>
              <a:avLst/>
              <a:gdLst/>
              <a:ahLst/>
              <a:cxnLst/>
              <a:rect l="0" t="0" r="0" b="0"/>
              <a:pathLst>
                <a:path w="1132" h="3406">
                  <a:moveTo>
                    <a:pt x="0" y="3406"/>
                  </a:moveTo>
                  <a:lnTo>
                    <a:pt x="0" y="0"/>
                  </a:lnTo>
                  <a:lnTo>
                    <a:pt x="1132" y="681"/>
                  </a:lnTo>
                  <a:lnTo>
                    <a:pt x="1132" y="2725"/>
                  </a:lnTo>
                  <a:lnTo>
                    <a:pt x="0" y="3406"/>
                  </a:lnTo>
                  <a:close/>
                </a:path>
              </a:pathLst>
            </a:custGeom>
            <a:solidFill>
              <a:srgbClr val="FF8F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20" name="picture 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28076" y="3827526"/>
            <a:ext cx="2879597" cy="1573517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228076" y="2505455"/>
            <a:ext cx="2877311" cy="1046226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810651" y="1027175"/>
            <a:ext cx="22072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 SparkSQL的特点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2982127" y="3518846"/>
            <a:ext cx="504190" cy="783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标准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780" algn="l" rtl="0" eaLnBrk="0">
              <a:lnSpc>
                <a:spcPct val="85000"/>
              </a:lnSpc>
              <a:spcBef>
                <a:spcPts val="105"/>
              </a:spcBef>
            </a:pP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化连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875" algn="l" rtl="0" eaLnBrk="0">
              <a:lnSpc>
                <a:spcPct val="86000"/>
              </a:lnSpc>
              <a:spcBef>
                <a:spcPts val="15"/>
              </a:spcBef>
            </a:pP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1440572" y="3540802"/>
            <a:ext cx="501650" cy="783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900" kern="0" spc="-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统一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240" algn="l" rtl="0" eaLnBrk="0">
              <a:lnSpc>
                <a:spcPct val="85000"/>
              </a:lnSpc>
              <a:spcBef>
                <a:spcPts val="85"/>
              </a:spcBef>
            </a:pP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145" algn="l" rtl="0" eaLnBrk="0">
              <a:lnSpc>
                <a:spcPct val="86000"/>
              </a:lnSpc>
              <a:spcBef>
                <a:spcPts val="20"/>
              </a:spcBef>
            </a:pP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访问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657004" y="3441515"/>
            <a:ext cx="335279" cy="97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400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融合性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2218032" y="3691168"/>
            <a:ext cx="496569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ct val="73000"/>
              </a:lnSpc>
            </a:pPr>
            <a:r>
              <a:rPr sz="1900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Hive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140"/>
              </a:spcBef>
            </a:pP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兼容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44" name="path 14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" name="path 14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8" name="rect 14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rect 15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2"/>
          <p:cNvSpPr/>
          <p:nvPr/>
        </p:nvSpPr>
        <p:spPr>
          <a:xfrm>
            <a:off x="791258" y="1824567"/>
            <a:ext cx="5785484" cy="3413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indent="-3175" algn="l" rtl="0" eaLnBrk="0">
              <a:lnSpc>
                <a:spcPct val="111000"/>
              </a:lnSpc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在许多年前(2012\2013左右)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逐步火热起来, 大片抢占分布式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9000"/>
              </a:lnSpc>
              <a:spcBef>
                <a:spcPts val="40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作为通用计算框架, 也不可能放弃这一细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分领域.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 algn="l" rtl="0" eaLnBrk="0">
              <a:lnSpc>
                <a:spcPts val="1805"/>
              </a:lnSpc>
              <a:spcBef>
                <a:spcPts val="220"/>
              </a:spcBef>
            </a:pP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于是,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官方模仿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推出了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Shark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框架(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0.9版本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8890" algn="l" rtl="0" eaLnBrk="0">
              <a:lnSpc>
                <a:spcPct val="111000"/>
              </a:lnSpc>
              <a:spcBef>
                <a:spcPts val="39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Shark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框架是几乎100%模仿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sz="1300" kern="0" spc="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内部的配置项\优化项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等都是直接模仿而</a:t>
            </a:r>
            <a:r>
              <a:rPr sz="13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来.不同的在于将执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行引擎由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MapReduce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更换为了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indent="3175" algn="l" rtl="0" eaLnBrk="0">
              <a:lnSpc>
                <a:spcPct val="103000"/>
              </a:lnSpc>
              <a:spcBef>
                <a:spcPts val="400"/>
              </a:spcBef>
            </a:pP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Shark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框架太模仿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是针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优化, 很多地方和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SparkCore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)水土不服, 最终被放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弃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9000"/>
              </a:lnSpc>
              <a:spcBef>
                <a:spcPts val="40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官方下决心开发一个自己的分布式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 也就是诞生了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现在的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95000"/>
              </a:lnSpc>
              <a:spcBef>
                <a:spcPts val="210"/>
              </a:spcBef>
            </a:pP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747509" y="1804416"/>
            <a:ext cx="4600955" cy="3162287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58" name="textbox 15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810651" y="1027175"/>
            <a:ext cx="430784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1.4 SparkSQL发展历史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前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 Shark框架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4" name="picture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68" name="path 16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" name="path 17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2" name="rect 17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" name="rect 17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766060" y="1457705"/>
            <a:ext cx="6659879" cy="2787395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1620064" y="4737312"/>
            <a:ext cx="9083675" cy="1278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05"/>
              </a:lnSpc>
            </a:pPr>
            <a:r>
              <a:rPr sz="13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2014年</a:t>
            </a:r>
            <a:r>
              <a:rPr sz="13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1.0正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式发布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2015年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  发布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数据结构, 沿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用至今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2016年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 发布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数据结构(带泛型的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), 适用于支持泛型的语言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\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Scala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2016年 2.0 统一了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和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以后只有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了,</a:t>
            </a:r>
            <a:r>
              <a:rPr sz="1300" kern="0" spc="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 没有泛型的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2019年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3.0 发布，  性能大幅度提升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变化不大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0" name="picture 1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82" name="textbox 18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810651" y="1027175"/>
            <a:ext cx="243649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1.4 Spark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SQL发展历史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92" name="path 19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4" name="path 19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6" name="rect 19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" name="rect 19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200"/>
          <p:cNvSpPr/>
          <p:nvPr/>
        </p:nvSpPr>
        <p:spPr>
          <a:xfrm>
            <a:off x="5207000" y="1645285"/>
            <a:ext cx="6278880" cy="4350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" algn="l" rtl="0" eaLnBrk="0">
              <a:lnSpc>
                <a:spcPts val="2325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SparkSQL用于处理大规模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结构化数据的计算引擎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7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4330" indent="-330835" algn="l" rtl="0" eaLnBrk="0">
              <a:lnSpc>
                <a:spcPct val="153000"/>
              </a:lnSpc>
              <a:spcBef>
                <a:spcPts val="55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SparkSQL在企业中广泛使用，并性能极好，学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习它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不管是工作还是就业都有很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大帮助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6235" indent="-329565" algn="l" rtl="0" eaLnBrk="0">
              <a:lnSpc>
                <a:spcPct val="153000"/>
              </a:lnSpc>
              <a:spcBef>
                <a:spcPts val="54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SparkSQL：使用简单、API统一、兼容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HIVE、支持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标准化JDBC和OD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BC连接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6395" indent="-353695" algn="l" rtl="0" eaLnBrk="0">
              <a:lnSpc>
                <a:spcPct val="17200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SparkSQL 2014年正式发布，2.0版Spark发布于201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6年，当下使用的3.0</a:t>
            </a:r>
            <a:r>
              <a:rPr lang="zh-CN"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发布于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2019年</a:t>
            </a:r>
            <a:endParaRPr sz="2000" kern="0" spc="-3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710946" y="1928622"/>
            <a:ext cx="3594226" cy="3043300"/>
            <a:chOff x="0" y="0"/>
            <a:chExt cx="3594226" cy="3043300"/>
          </a:xfrm>
        </p:grpSpPr>
        <p:grpSp>
          <p:nvGrpSpPr>
            <p:cNvPr id="22" name="group 22"/>
            <p:cNvGrpSpPr/>
            <p:nvPr/>
          </p:nvGrpSpPr>
          <p:grpSpPr>
            <a:xfrm rot="21600000">
              <a:off x="0" y="0"/>
              <a:ext cx="3594226" cy="3043300"/>
              <a:chOff x="0" y="0"/>
              <a:chExt cx="3594226" cy="3043300"/>
            </a:xfrm>
          </p:grpSpPr>
          <p:sp>
            <p:nvSpPr>
              <p:cNvPr id="202" name="path 202"/>
              <p:cNvSpPr/>
              <p:nvPr/>
            </p:nvSpPr>
            <p:spPr>
              <a:xfrm>
                <a:off x="477900" y="2443098"/>
                <a:ext cx="600963" cy="600202"/>
              </a:xfrm>
              <a:custGeom>
                <a:avLst/>
                <a:gdLst/>
                <a:ahLst/>
                <a:cxnLst/>
                <a:rect l="0" t="0" r="0" b="0"/>
                <a:pathLst>
                  <a:path w="946" h="945">
                    <a:moveTo>
                      <a:pt x="10" y="472"/>
                    </a:moveTo>
                    <a:cubicBezTo>
                      <a:pt x="10" y="217"/>
                      <a:pt x="217" y="10"/>
                      <a:pt x="473" y="10"/>
                    </a:cubicBezTo>
                    <a:cubicBezTo>
                      <a:pt x="729" y="10"/>
                      <a:pt x="936" y="217"/>
                      <a:pt x="936" y="472"/>
                    </a:cubicBezTo>
                    <a:cubicBezTo>
                      <a:pt x="936" y="728"/>
                      <a:pt x="729" y="935"/>
                      <a:pt x="473" y="935"/>
                    </a:cubicBezTo>
                    <a:cubicBezTo>
                      <a:pt x="217" y="935"/>
                      <a:pt x="10" y="728"/>
                      <a:pt x="10" y="472"/>
                    </a:cubicBezTo>
                  </a:path>
                </a:pathLst>
              </a:custGeom>
              <a:noFill/>
              <a:ln w="12700" cap="flat">
                <a:solidFill>
                  <a:srgbClr val="BFBFB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path 204"/>
              <p:cNvSpPr/>
              <p:nvPr/>
            </p:nvSpPr>
            <p:spPr>
              <a:xfrm>
                <a:off x="2097785" y="1855469"/>
                <a:ext cx="926591" cy="927353"/>
              </a:xfrm>
              <a:custGeom>
                <a:avLst/>
                <a:gdLst/>
                <a:ahLst/>
                <a:cxnLst/>
                <a:rect l="0" t="0" r="0" b="0"/>
                <a:pathLst>
                  <a:path w="1459" h="1460">
                    <a:moveTo>
                      <a:pt x="0" y="730"/>
                    </a:moveTo>
                    <a:cubicBezTo>
                      <a:pt x="0" y="326"/>
                      <a:pt x="326" y="0"/>
                      <a:pt x="729" y="0"/>
                    </a:cubicBezTo>
                    <a:cubicBezTo>
                      <a:pt x="1132" y="0"/>
                      <a:pt x="1459" y="326"/>
                      <a:pt x="1459" y="730"/>
                    </a:cubicBezTo>
                    <a:cubicBezTo>
                      <a:pt x="1459" y="1133"/>
                      <a:pt x="1132" y="1460"/>
                      <a:pt x="729" y="1460"/>
                    </a:cubicBezTo>
                    <a:cubicBezTo>
                      <a:pt x="326" y="1460"/>
                      <a:pt x="0" y="1133"/>
                      <a:pt x="0" y="730"/>
                    </a:cubicBezTo>
                  </a:path>
                </a:pathLst>
              </a:custGeom>
              <a:solidFill>
                <a:srgbClr val="515151">
                  <a:alpha val="63137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path 206"/>
              <p:cNvSpPr/>
              <p:nvPr/>
            </p:nvSpPr>
            <p:spPr>
              <a:xfrm>
                <a:off x="1990470" y="443610"/>
                <a:ext cx="1603755" cy="1602993"/>
              </a:xfrm>
              <a:custGeom>
                <a:avLst/>
                <a:gdLst/>
                <a:ahLst/>
                <a:cxnLst/>
                <a:rect l="0" t="0" r="0" b="0"/>
                <a:pathLst>
                  <a:path w="2525" h="2524">
                    <a:moveTo>
                      <a:pt x="10" y="1262"/>
                    </a:moveTo>
                    <a:cubicBezTo>
                      <a:pt x="10" y="570"/>
                      <a:pt x="570" y="10"/>
                      <a:pt x="1262" y="10"/>
                    </a:cubicBezTo>
                    <a:cubicBezTo>
                      <a:pt x="1954" y="10"/>
                      <a:pt x="2515" y="570"/>
                      <a:pt x="2515" y="1262"/>
                    </a:cubicBezTo>
                    <a:cubicBezTo>
                      <a:pt x="2515" y="1953"/>
                      <a:pt x="1954" y="2514"/>
                      <a:pt x="1262" y="2514"/>
                    </a:cubicBezTo>
                    <a:cubicBezTo>
                      <a:pt x="570" y="2514"/>
                      <a:pt x="10" y="1953"/>
                      <a:pt x="10" y="1262"/>
                    </a:cubicBezTo>
                  </a:path>
                </a:pathLst>
              </a:custGeom>
              <a:noFill/>
              <a:ln w="12700" cap="flat">
                <a:solidFill>
                  <a:srgbClr val="515151"/>
                </a:solidFill>
                <a:prstDash val="dash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path 208"/>
              <p:cNvSpPr/>
              <p:nvPr/>
            </p:nvSpPr>
            <p:spPr>
              <a:xfrm>
                <a:off x="778001" y="624839"/>
                <a:ext cx="1924811" cy="1895856"/>
              </a:xfrm>
              <a:custGeom>
                <a:avLst/>
                <a:gdLst/>
                <a:ahLst/>
                <a:cxnLst/>
                <a:rect l="0" t="0" r="0" b="0"/>
                <a:pathLst>
                  <a:path w="3031" h="2985">
                    <a:moveTo>
                      <a:pt x="0" y="1492"/>
                    </a:moveTo>
                    <a:cubicBezTo>
                      <a:pt x="0" y="668"/>
                      <a:pt x="678" y="0"/>
                      <a:pt x="1515" y="0"/>
                    </a:cubicBezTo>
                    <a:cubicBezTo>
                      <a:pt x="2352" y="0"/>
                      <a:pt x="3031" y="668"/>
                      <a:pt x="3031" y="1492"/>
                    </a:cubicBezTo>
                    <a:cubicBezTo>
                      <a:pt x="3031" y="2317"/>
                      <a:pt x="2352" y="2985"/>
                      <a:pt x="1515" y="2985"/>
                    </a:cubicBezTo>
                    <a:cubicBezTo>
                      <a:pt x="678" y="2985"/>
                      <a:pt x="0" y="2317"/>
                      <a:pt x="0" y="1492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path 210"/>
              <p:cNvSpPr/>
              <p:nvPr/>
            </p:nvSpPr>
            <p:spPr>
              <a:xfrm>
                <a:off x="720851" y="567689"/>
                <a:ext cx="2039111" cy="2010156"/>
              </a:xfrm>
              <a:custGeom>
                <a:avLst/>
                <a:gdLst/>
                <a:ahLst/>
                <a:cxnLst/>
                <a:rect l="0" t="0" r="0" b="0"/>
                <a:pathLst>
                  <a:path w="3211" h="3165">
                    <a:moveTo>
                      <a:pt x="90" y="1582"/>
                    </a:moveTo>
                    <a:cubicBezTo>
                      <a:pt x="90" y="758"/>
                      <a:pt x="768" y="90"/>
                      <a:pt x="1605" y="90"/>
                    </a:cubicBezTo>
                    <a:cubicBezTo>
                      <a:pt x="2442" y="90"/>
                      <a:pt x="3121" y="758"/>
                      <a:pt x="3121" y="1582"/>
                    </a:cubicBezTo>
                    <a:cubicBezTo>
                      <a:pt x="3121" y="2407"/>
                      <a:pt x="2442" y="3075"/>
                      <a:pt x="1605" y="3075"/>
                    </a:cubicBezTo>
                    <a:cubicBezTo>
                      <a:pt x="768" y="3075"/>
                      <a:pt x="90" y="2407"/>
                      <a:pt x="90" y="1582"/>
                    </a:cubicBezTo>
                  </a:path>
                </a:pathLst>
              </a:custGeom>
              <a:noFill/>
              <a:ln w="114300" cap="flat">
                <a:solidFill>
                  <a:srgbClr val="AD2B2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path 212"/>
              <p:cNvSpPr/>
              <p:nvPr/>
            </p:nvSpPr>
            <p:spPr>
              <a:xfrm>
                <a:off x="0" y="0"/>
                <a:ext cx="803909" cy="804671"/>
              </a:xfrm>
              <a:custGeom>
                <a:avLst/>
                <a:gdLst/>
                <a:ahLst/>
                <a:cxnLst/>
                <a:rect l="0" t="0" r="0" b="0"/>
                <a:pathLst>
                  <a:path w="1265" h="1267">
                    <a:moveTo>
                      <a:pt x="0" y="633"/>
                    </a:moveTo>
                    <a:cubicBezTo>
                      <a:pt x="0" y="283"/>
                      <a:pt x="283" y="0"/>
                      <a:pt x="633" y="0"/>
                    </a:cubicBezTo>
                    <a:cubicBezTo>
                      <a:pt x="982" y="0"/>
                      <a:pt x="1265" y="283"/>
                      <a:pt x="1265" y="633"/>
                    </a:cubicBezTo>
                    <a:cubicBezTo>
                      <a:pt x="1265" y="983"/>
                      <a:pt x="982" y="1267"/>
                      <a:pt x="633" y="1267"/>
                    </a:cubicBezTo>
                    <a:cubicBezTo>
                      <a:pt x="283" y="1267"/>
                      <a:pt x="0" y="983"/>
                      <a:pt x="0" y="633"/>
                    </a:cubicBezTo>
                  </a:path>
                </a:pathLst>
              </a:custGeom>
              <a:solidFill>
                <a:srgbClr val="F2F2F2">
                  <a:alpha val="70196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path 214"/>
              <p:cNvSpPr/>
              <p:nvPr/>
            </p:nvSpPr>
            <p:spPr>
              <a:xfrm>
                <a:off x="2393441" y="106679"/>
                <a:ext cx="313943" cy="313944"/>
              </a:xfrm>
              <a:custGeom>
                <a:avLst/>
                <a:gdLst/>
                <a:ahLst/>
                <a:cxnLst/>
                <a:rect l="0" t="0" r="0" b="0"/>
                <a:pathLst>
                  <a:path w="494" h="494">
                    <a:moveTo>
                      <a:pt x="0" y="247"/>
                    </a:moveTo>
                    <a:cubicBezTo>
                      <a:pt x="0" y="110"/>
                      <a:pt x="110" y="0"/>
                      <a:pt x="247" y="0"/>
                    </a:cubicBezTo>
                    <a:cubicBezTo>
                      <a:pt x="383" y="0"/>
                      <a:pt x="494" y="110"/>
                      <a:pt x="494" y="247"/>
                    </a:cubicBezTo>
                    <a:cubicBezTo>
                      <a:pt x="494" y="383"/>
                      <a:pt x="383" y="494"/>
                      <a:pt x="247" y="494"/>
                    </a:cubicBezTo>
                    <a:cubicBezTo>
                      <a:pt x="110" y="494"/>
                      <a:pt x="0" y="383"/>
                      <a:pt x="0" y="247"/>
                    </a:cubicBezTo>
                  </a:path>
                </a:pathLst>
              </a:custGeom>
              <a:solidFill>
                <a:srgbClr val="49504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6" name="textbox 216"/>
            <p:cNvSpPr/>
            <p:nvPr/>
          </p:nvSpPr>
          <p:spPr>
            <a:xfrm>
              <a:off x="-12700" y="-12700"/>
              <a:ext cx="3620134" cy="3098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2220" algn="l" rtl="0" eaLnBrk="0">
                <a:lnSpc>
                  <a:spcPct val="87000"/>
                </a:lnSpc>
              </a:pPr>
              <a:r>
                <a:rPr sz="40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18" name="picture 2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28" name="path 22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0" name="path 23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2" name="rect 23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4" name="rect 23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236"/>
          <p:cNvSpPr/>
          <p:nvPr/>
        </p:nvSpPr>
        <p:spPr>
          <a:xfrm>
            <a:off x="5362575" y="2201545"/>
            <a:ext cx="4142105" cy="3487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95000"/>
              </a:lnSpc>
            </a:pPr>
            <a:r>
              <a:rPr sz="31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31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概述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5"/>
              </a:spcBef>
            </a:pPr>
            <a:r>
              <a:rPr sz="20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0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SparkSQL和Hive的</a:t>
            </a: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0"/>
              </a:spcBef>
            </a:pPr>
            <a:r>
              <a:rPr sz="20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0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 SparkSQL的数</a:t>
            </a: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据抽象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90"/>
              </a:spcBef>
            </a:pPr>
            <a:r>
              <a:rPr sz="20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0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 SparkSQL数据抽象的发展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0"/>
              </a:spcBef>
            </a:pP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</a:t>
            </a:r>
            <a:r>
              <a:rPr sz="2000" kern="0" spc="1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DataFrame数据抽象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0"/>
              </a:spcBef>
            </a:pPr>
            <a:r>
              <a:rPr sz="20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0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2.6 SparkSession</a:t>
            </a: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5"/>
              </a:spcBef>
            </a:pP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2.7 SparkSQL</a:t>
            </a:r>
            <a:r>
              <a:rPr sz="2000" kern="0" spc="2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HelloWorld</a:t>
            </a:r>
            <a:endParaRPr sz="2000" kern="0" spc="-20" dirty="0">
              <a:solidFill>
                <a:srgbClr val="59595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3596640" y="2338578"/>
            <a:ext cx="1410458" cy="1318260"/>
            <a:chOff x="0" y="0"/>
            <a:chExt cx="1410458" cy="1318260"/>
          </a:xfrm>
        </p:grpSpPr>
        <p:grpSp>
          <p:nvGrpSpPr>
            <p:cNvPr id="28" name="group 28"/>
            <p:cNvGrpSpPr/>
            <p:nvPr/>
          </p:nvGrpSpPr>
          <p:grpSpPr>
            <a:xfrm rot="21600000">
              <a:off x="0" y="0"/>
              <a:ext cx="1410458" cy="1318260"/>
              <a:chOff x="0" y="0"/>
              <a:chExt cx="1410458" cy="1318260"/>
            </a:xfrm>
          </p:grpSpPr>
          <p:sp>
            <p:nvSpPr>
              <p:cNvPr id="238" name="path 238"/>
              <p:cNvSpPr/>
              <p:nvPr/>
            </p:nvSpPr>
            <p:spPr>
              <a:xfrm>
                <a:off x="274315" y="0"/>
                <a:ext cx="1136142" cy="1318260"/>
              </a:xfrm>
              <a:custGeom>
                <a:avLst/>
                <a:gdLst/>
                <a:ahLst/>
                <a:cxnLst/>
                <a:rect l="0" t="0" r="0" b="0"/>
                <a:pathLst>
                  <a:path w="1789" h="2076">
                    <a:moveTo>
                      <a:pt x="894" y="0"/>
                    </a:moveTo>
                    <a:lnTo>
                      <a:pt x="1789" y="447"/>
                    </a:lnTo>
                    <a:lnTo>
                      <a:pt x="1789" y="1628"/>
                    </a:lnTo>
                    <a:lnTo>
                      <a:pt x="894" y="2076"/>
                    </a:lnTo>
                    <a:lnTo>
                      <a:pt x="0" y="1628"/>
                    </a:lnTo>
                    <a:lnTo>
                      <a:pt x="0" y="44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rgbClr val="AD2B2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path 240"/>
              <p:cNvSpPr/>
              <p:nvPr/>
            </p:nvSpPr>
            <p:spPr>
              <a:xfrm>
                <a:off x="0" y="889253"/>
                <a:ext cx="370331" cy="429005"/>
              </a:xfrm>
              <a:custGeom>
                <a:avLst/>
                <a:gdLst/>
                <a:ahLst/>
                <a:cxnLst/>
                <a:rect l="0" t="0" r="0" b="0"/>
                <a:pathLst>
                  <a:path w="583" h="675">
                    <a:moveTo>
                      <a:pt x="291" y="0"/>
                    </a:moveTo>
                    <a:lnTo>
                      <a:pt x="583" y="145"/>
                    </a:lnTo>
                    <a:lnTo>
                      <a:pt x="583" y="529"/>
                    </a:lnTo>
                    <a:lnTo>
                      <a:pt x="291" y="675"/>
                    </a:lnTo>
                    <a:lnTo>
                      <a:pt x="0" y="529"/>
                    </a:lnTo>
                    <a:lnTo>
                      <a:pt x="0" y="145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2" name="textbox 242"/>
            <p:cNvSpPr/>
            <p:nvPr/>
          </p:nvSpPr>
          <p:spPr>
            <a:xfrm>
              <a:off x="-12700" y="-12700"/>
              <a:ext cx="1436369" cy="1344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7690" algn="l" rtl="0" eaLnBrk="0">
                <a:lnSpc>
                  <a:spcPts val="5280"/>
                </a:lnSpc>
                <a:spcBef>
                  <a:spcPts val="0"/>
                </a:spcBef>
              </a:pPr>
              <a:r>
                <a:rPr sz="4000" b="1" kern="0" spc="-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244"/>
          <p:cNvSpPr/>
          <p:nvPr/>
        </p:nvSpPr>
        <p:spPr>
          <a:xfrm>
            <a:off x="7856001" y="2578353"/>
            <a:ext cx="3451859" cy="3688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indent="7620" algn="l" rtl="0" eaLnBrk="0">
              <a:lnSpc>
                <a:spcPct val="91000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Hive和Spark 均是：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“分布式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计算引擎”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540"/>
              </a:spcBef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均是构建大规模结构化数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据计算的</a:t>
            </a: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绝佳利器，同时Spa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rkSQL拥有更</a:t>
            </a:r>
            <a:r>
              <a:rPr sz="1800" b="1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好的性能。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indent="22225" algn="l" rtl="0" eaLnBrk="0">
              <a:lnSpc>
                <a:spcPct val="96000"/>
              </a:lnSpc>
              <a:spcBef>
                <a:spcPts val="5"/>
              </a:spcBef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目前，企业中使用Hive仍旧居多</a:t>
            </a:r>
            <a:r>
              <a:rPr sz="1800" b="1" kern="0" spc="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,但</a:t>
            </a: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将会在很近的未</a:t>
            </a: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来替代Hive成为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分布式SQL计算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市场的顶级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2577845" y="1992629"/>
            <a:ext cx="3996690" cy="2871978"/>
            <a:chOff x="0" y="0"/>
            <a:chExt cx="3996690" cy="2871978"/>
          </a:xfrm>
        </p:grpSpPr>
        <p:sp>
          <p:nvSpPr>
            <p:cNvPr id="246" name="path 246"/>
            <p:cNvSpPr/>
            <p:nvPr/>
          </p:nvSpPr>
          <p:spPr>
            <a:xfrm>
              <a:off x="0" y="0"/>
              <a:ext cx="2871977" cy="2871978"/>
            </a:xfrm>
            <a:custGeom>
              <a:avLst/>
              <a:gdLst/>
              <a:ahLst/>
              <a:cxnLst/>
              <a:rect l="0" t="0" r="0" b="0"/>
              <a:pathLst>
                <a:path w="4522" h="4522">
                  <a:moveTo>
                    <a:pt x="0" y="2261"/>
                  </a:moveTo>
                  <a:cubicBezTo>
                    <a:pt x="0" y="1012"/>
                    <a:pt x="1012" y="0"/>
                    <a:pt x="2261" y="0"/>
                  </a:cubicBezTo>
                  <a:cubicBezTo>
                    <a:pt x="3510" y="0"/>
                    <a:pt x="4522" y="1012"/>
                    <a:pt x="4522" y="2261"/>
                  </a:cubicBezTo>
                  <a:cubicBezTo>
                    <a:pt x="4522" y="3510"/>
                    <a:pt x="3510" y="4522"/>
                    <a:pt x="2261" y="4522"/>
                  </a:cubicBezTo>
                  <a:cubicBezTo>
                    <a:pt x="1012" y="4522"/>
                    <a:pt x="0" y="3510"/>
                    <a:pt x="0" y="2261"/>
                  </a:cubicBezTo>
                </a:path>
              </a:pathLst>
            </a:custGeom>
            <a:solidFill>
              <a:srgbClr val="8EB4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8" name="path 248"/>
            <p:cNvSpPr/>
            <p:nvPr/>
          </p:nvSpPr>
          <p:spPr>
            <a:xfrm>
              <a:off x="2871977" y="874776"/>
              <a:ext cx="1124711" cy="1123950"/>
            </a:xfrm>
            <a:custGeom>
              <a:avLst/>
              <a:gdLst/>
              <a:ahLst/>
              <a:cxnLst/>
              <a:rect l="0" t="0" r="0" b="0"/>
              <a:pathLst>
                <a:path w="1771" h="1770">
                  <a:moveTo>
                    <a:pt x="0" y="885"/>
                  </a:moveTo>
                  <a:cubicBezTo>
                    <a:pt x="0" y="396"/>
                    <a:pt x="396" y="0"/>
                    <a:pt x="885" y="0"/>
                  </a:cubicBezTo>
                  <a:cubicBezTo>
                    <a:pt x="1374" y="0"/>
                    <a:pt x="1771" y="396"/>
                    <a:pt x="1771" y="885"/>
                  </a:cubicBezTo>
                  <a:cubicBezTo>
                    <a:pt x="1771" y="1373"/>
                    <a:pt x="1374" y="1770"/>
                    <a:pt x="885" y="1770"/>
                  </a:cubicBezTo>
                  <a:cubicBezTo>
                    <a:pt x="396" y="1770"/>
                    <a:pt x="0" y="1373"/>
                    <a:pt x="0" y="885"/>
                  </a:cubicBezTo>
                </a:path>
              </a:pathLst>
            </a:custGeom>
            <a:solidFill>
              <a:srgbClr val="948A5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50" name="textbox 250"/>
          <p:cNvSpPr/>
          <p:nvPr/>
        </p:nvSpPr>
        <p:spPr>
          <a:xfrm>
            <a:off x="1636776" y="5891021"/>
            <a:ext cx="4836159" cy="610869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62380" algn="l" rtl="0" eaLnBrk="0">
              <a:lnSpc>
                <a:spcPct val="86000"/>
              </a:lnSpc>
            </a:pP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都可以运行在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YARN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之上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52" name="picture 2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54" name="textbox 25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1453133" y="2866644"/>
            <a:ext cx="1124711" cy="1124711"/>
            <a:chOff x="0" y="0"/>
            <a:chExt cx="1124711" cy="1124711"/>
          </a:xfrm>
        </p:grpSpPr>
        <p:sp>
          <p:nvSpPr>
            <p:cNvPr id="256" name="path 256"/>
            <p:cNvSpPr/>
            <p:nvPr/>
          </p:nvSpPr>
          <p:spPr>
            <a:xfrm>
              <a:off x="0" y="0"/>
              <a:ext cx="1124711" cy="1124711"/>
            </a:xfrm>
            <a:custGeom>
              <a:avLst/>
              <a:gdLst/>
              <a:ahLst/>
              <a:cxnLst/>
              <a:rect l="0" t="0" r="0" b="0"/>
              <a:pathLst>
                <a:path w="1771" h="1771">
                  <a:moveTo>
                    <a:pt x="0" y="885"/>
                  </a:moveTo>
                  <a:cubicBezTo>
                    <a:pt x="0" y="396"/>
                    <a:pt x="396" y="0"/>
                    <a:pt x="885" y="0"/>
                  </a:cubicBezTo>
                  <a:cubicBezTo>
                    <a:pt x="1374" y="0"/>
                    <a:pt x="1771" y="396"/>
                    <a:pt x="1771" y="885"/>
                  </a:cubicBezTo>
                  <a:cubicBezTo>
                    <a:pt x="1771" y="1374"/>
                    <a:pt x="1374" y="1771"/>
                    <a:pt x="885" y="1771"/>
                  </a:cubicBezTo>
                  <a:cubicBezTo>
                    <a:pt x="396" y="1771"/>
                    <a:pt x="0" y="1374"/>
                    <a:pt x="0" y="885"/>
                  </a:cubicBezTo>
                </a:path>
              </a:pathLst>
            </a:custGeom>
            <a:solidFill>
              <a:srgbClr val="948A5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8" name="textbox 258"/>
            <p:cNvSpPr/>
            <p:nvPr/>
          </p:nvSpPr>
          <p:spPr>
            <a:xfrm>
              <a:off x="-12700" y="-12700"/>
              <a:ext cx="1150619" cy="11544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59410" algn="l" rtl="0" eaLnBrk="0">
                <a:lnSpc>
                  <a:spcPct val="85000"/>
                </a:lnSpc>
                <a:spcBef>
                  <a:spcPts val="0"/>
                </a:spcBef>
              </a:pPr>
              <a:r>
                <a:rPr sz="1800" kern="0" spc="-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无元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55600" algn="l" rtl="0" eaLnBrk="0">
                <a:lnSpc>
                  <a:spcPct val="85000"/>
                </a:lnSpc>
                <a:spcBef>
                  <a:spcPts val="325"/>
                </a:spcBef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数据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56870" algn="l" rtl="0" eaLnBrk="0">
                <a:lnSpc>
                  <a:spcPct val="86000"/>
                </a:lnSpc>
                <a:spcBef>
                  <a:spcPts val="205"/>
                </a:spcBef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管理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548640" y="2864065"/>
            <a:ext cx="1124711" cy="1131099"/>
            <a:chOff x="0" y="0"/>
            <a:chExt cx="1124711" cy="1131099"/>
          </a:xfrm>
        </p:grpSpPr>
        <p:sp>
          <p:nvSpPr>
            <p:cNvPr id="260" name="path 260"/>
            <p:cNvSpPr/>
            <p:nvPr/>
          </p:nvSpPr>
          <p:spPr>
            <a:xfrm>
              <a:off x="0" y="7149"/>
              <a:ext cx="1124711" cy="1123950"/>
            </a:xfrm>
            <a:custGeom>
              <a:avLst/>
              <a:gdLst/>
              <a:ahLst/>
              <a:cxnLst/>
              <a:rect l="0" t="0" r="0" b="0"/>
              <a:pathLst>
                <a:path w="1771" h="1770">
                  <a:moveTo>
                    <a:pt x="0" y="885"/>
                  </a:moveTo>
                  <a:cubicBezTo>
                    <a:pt x="0" y="396"/>
                    <a:pt x="396" y="0"/>
                    <a:pt x="885" y="0"/>
                  </a:cubicBezTo>
                  <a:cubicBezTo>
                    <a:pt x="1374" y="0"/>
                    <a:pt x="1771" y="396"/>
                    <a:pt x="1771" y="885"/>
                  </a:cubicBezTo>
                  <a:cubicBezTo>
                    <a:pt x="1771" y="1373"/>
                    <a:pt x="1374" y="1770"/>
                    <a:pt x="885" y="1770"/>
                  </a:cubicBezTo>
                  <a:cubicBezTo>
                    <a:pt x="396" y="1770"/>
                    <a:pt x="0" y="1373"/>
                    <a:pt x="0" y="885"/>
                  </a:cubicBezTo>
                </a:path>
              </a:pathLst>
            </a:custGeom>
            <a:solidFill>
              <a:srgbClr val="9BBB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2" name="textbox 262"/>
            <p:cNvSpPr/>
            <p:nvPr/>
          </p:nvSpPr>
          <p:spPr>
            <a:xfrm>
              <a:off x="-12700" y="-12700"/>
              <a:ext cx="1150619" cy="11607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60680" algn="l" rtl="0" eaLnBrk="0">
                <a:lnSpc>
                  <a:spcPts val="2410"/>
                </a:lnSpc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SQL\</a:t>
              </a:r>
              <a:endParaRPr sz="1800" dirty="0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  <a:p>
              <a:pPr marL="354330" algn="l" rtl="0" eaLnBrk="0">
                <a:lnSpc>
                  <a:spcPct val="85000"/>
                </a:lnSpc>
                <a:spcBef>
                  <a:spcPts val="215"/>
                </a:spcBef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代码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53060" algn="l" rtl="0" eaLnBrk="0">
                <a:lnSpc>
                  <a:spcPct val="85000"/>
                </a:lnSpc>
                <a:spcBef>
                  <a:spcPts val="330"/>
                </a:spcBef>
              </a:pP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混合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54330" algn="l" rtl="0" eaLnBrk="0">
                <a:lnSpc>
                  <a:spcPct val="86000"/>
                </a:lnSpc>
                <a:spcBef>
                  <a:spcPts val="190"/>
                </a:spcBef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执行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21600000">
            <a:off x="6353555" y="2866644"/>
            <a:ext cx="1124711" cy="1124711"/>
            <a:chOff x="0" y="0"/>
            <a:chExt cx="1124711" cy="1124711"/>
          </a:xfrm>
        </p:grpSpPr>
        <p:sp>
          <p:nvSpPr>
            <p:cNvPr id="264" name="path 264"/>
            <p:cNvSpPr/>
            <p:nvPr/>
          </p:nvSpPr>
          <p:spPr>
            <a:xfrm>
              <a:off x="0" y="0"/>
              <a:ext cx="1124711" cy="1124711"/>
            </a:xfrm>
            <a:custGeom>
              <a:avLst/>
              <a:gdLst/>
              <a:ahLst/>
              <a:cxnLst/>
              <a:rect l="0" t="0" r="0" b="0"/>
              <a:pathLst>
                <a:path w="1771" h="1771">
                  <a:moveTo>
                    <a:pt x="0" y="885"/>
                  </a:moveTo>
                  <a:cubicBezTo>
                    <a:pt x="0" y="396"/>
                    <a:pt x="396" y="0"/>
                    <a:pt x="885" y="0"/>
                  </a:cubicBezTo>
                  <a:cubicBezTo>
                    <a:pt x="1374" y="0"/>
                    <a:pt x="1771" y="396"/>
                    <a:pt x="1771" y="885"/>
                  </a:cubicBezTo>
                  <a:cubicBezTo>
                    <a:pt x="1771" y="1374"/>
                    <a:pt x="1374" y="1771"/>
                    <a:pt x="885" y="1771"/>
                  </a:cubicBezTo>
                  <a:cubicBezTo>
                    <a:pt x="396" y="1771"/>
                    <a:pt x="0" y="1374"/>
                    <a:pt x="0" y="885"/>
                  </a:cubicBezTo>
                </a:path>
              </a:pathLst>
            </a:custGeom>
            <a:solidFill>
              <a:srgbClr val="9BBB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6" name="textbox 266"/>
            <p:cNvSpPr/>
            <p:nvPr/>
          </p:nvSpPr>
          <p:spPr>
            <a:xfrm>
              <a:off x="-12700" y="-12700"/>
              <a:ext cx="1150619" cy="1180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54965" algn="l" rtl="0" eaLnBrk="0">
                <a:lnSpc>
                  <a:spcPct val="85000"/>
                </a:lnSpc>
                <a:spcBef>
                  <a:spcPts val="0"/>
                </a:spcBef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仅能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06070" algn="l" rtl="0" eaLnBrk="0">
                <a:lnSpc>
                  <a:spcPct val="93000"/>
                </a:lnSpc>
                <a:spcBef>
                  <a:spcPts val="20"/>
                </a:spcBef>
              </a:pPr>
              <a:r>
                <a:rPr sz="1800" kern="0" spc="-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以</a:t>
              </a:r>
              <a:r>
                <a:rPr sz="1800" kern="0" spc="-5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SQL</a:t>
              </a:r>
              <a:endParaRPr sz="1800" dirty="0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  <a:p>
              <a:pPr marL="358775" algn="l" rtl="0" eaLnBrk="0">
                <a:lnSpc>
                  <a:spcPts val="2395"/>
                </a:lnSpc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开发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1697736" y="1742694"/>
            <a:ext cx="1123950" cy="1124711"/>
            <a:chOff x="0" y="0"/>
            <a:chExt cx="1123950" cy="1124711"/>
          </a:xfrm>
        </p:grpSpPr>
        <p:sp>
          <p:nvSpPr>
            <p:cNvPr id="268" name="path 268"/>
            <p:cNvSpPr/>
            <p:nvPr/>
          </p:nvSpPr>
          <p:spPr>
            <a:xfrm>
              <a:off x="0" y="0"/>
              <a:ext cx="1123950" cy="1124711"/>
            </a:xfrm>
            <a:custGeom>
              <a:avLst/>
              <a:gdLst/>
              <a:ahLst/>
              <a:cxnLst/>
              <a:rect l="0" t="0" r="0" b="0"/>
              <a:pathLst>
                <a:path w="1770" h="1771">
                  <a:moveTo>
                    <a:pt x="0" y="885"/>
                  </a:moveTo>
                  <a:cubicBezTo>
                    <a:pt x="0" y="396"/>
                    <a:pt x="396" y="0"/>
                    <a:pt x="885" y="0"/>
                  </a:cubicBezTo>
                  <a:cubicBezTo>
                    <a:pt x="1373" y="0"/>
                    <a:pt x="1770" y="396"/>
                    <a:pt x="1770" y="885"/>
                  </a:cubicBezTo>
                  <a:cubicBezTo>
                    <a:pt x="1770" y="1374"/>
                    <a:pt x="1373" y="1771"/>
                    <a:pt x="885" y="1771"/>
                  </a:cubicBezTo>
                  <a:cubicBezTo>
                    <a:pt x="396" y="1771"/>
                    <a:pt x="0" y="1374"/>
                    <a:pt x="0" y="885"/>
                  </a:cubicBezTo>
                </a:path>
              </a:pathLst>
            </a:custGeom>
            <a:solidFill>
              <a:srgbClr val="37609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0" name="textbox 270"/>
            <p:cNvSpPr/>
            <p:nvPr/>
          </p:nvSpPr>
          <p:spPr>
            <a:xfrm>
              <a:off x="-12700" y="-12700"/>
              <a:ext cx="1149350" cy="11544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68935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800" kern="0" spc="-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内存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55600" algn="l" rtl="0" eaLnBrk="0">
                <a:lnSpc>
                  <a:spcPct val="86000"/>
                </a:lnSpc>
                <a:spcBef>
                  <a:spcPts val="180"/>
                </a:spcBef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计算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21600000">
            <a:off x="1697736" y="3995166"/>
            <a:ext cx="1123950" cy="1124711"/>
            <a:chOff x="0" y="0"/>
            <a:chExt cx="1123950" cy="1124711"/>
          </a:xfrm>
        </p:grpSpPr>
        <p:sp>
          <p:nvSpPr>
            <p:cNvPr id="272" name="path 272"/>
            <p:cNvSpPr/>
            <p:nvPr/>
          </p:nvSpPr>
          <p:spPr>
            <a:xfrm>
              <a:off x="0" y="0"/>
              <a:ext cx="1123950" cy="1124711"/>
            </a:xfrm>
            <a:custGeom>
              <a:avLst/>
              <a:gdLst/>
              <a:ahLst/>
              <a:cxnLst/>
              <a:rect l="0" t="0" r="0" b="0"/>
              <a:pathLst>
                <a:path w="1770" h="1771">
                  <a:moveTo>
                    <a:pt x="0" y="885"/>
                  </a:moveTo>
                  <a:cubicBezTo>
                    <a:pt x="0" y="396"/>
                    <a:pt x="396" y="0"/>
                    <a:pt x="885" y="0"/>
                  </a:cubicBezTo>
                  <a:cubicBezTo>
                    <a:pt x="1373" y="0"/>
                    <a:pt x="1770" y="396"/>
                    <a:pt x="1770" y="885"/>
                  </a:cubicBezTo>
                  <a:cubicBezTo>
                    <a:pt x="1770" y="1374"/>
                    <a:pt x="1373" y="1771"/>
                    <a:pt x="885" y="1771"/>
                  </a:cubicBezTo>
                  <a:cubicBezTo>
                    <a:pt x="396" y="1771"/>
                    <a:pt x="0" y="1374"/>
                    <a:pt x="0" y="885"/>
                  </a:cubicBezTo>
                </a:path>
              </a:pathLst>
            </a:custGeom>
            <a:solidFill>
              <a:srgbClr val="77933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4" name="textbox 274"/>
            <p:cNvSpPr/>
            <p:nvPr/>
          </p:nvSpPr>
          <p:spPr>
            <a:xfrm>
              <a:off x="-12700" y="-12700"/>
              <a:ext cx="1149350" cy="1150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54330" algn="l" rtl="0" eaLnBrk="0">
                <a:lnSpc>
                  <a:spcPct val="85000"/>
                </a:lnSpc>
                <a:spcBef>
                  <a:spcPts val="5"/>
                </a:spcBef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底层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57505" algn="l" rtl="0" eaLnBrk="0">
                <a:lnSpc>
                  <a:spcPct val="100000"/>
                </a:lnSpc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运行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22580" algn="l" rtl="0" eaLnBrk="0">
                <a:lnSpc>
                  <a:spcPct val="94000"/>
                </a:lnSpc>
              </a:pP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Spark</a:t>
              </a:r>
              <a:endParaRPr sz="1800" dirty="0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  <a:p>
              <a:pPr marL="389890" algn="l" rtl="0" eaLnBrk="0">
                <a:lnSpc>
                  <a:spcPct val="85000"/>
                </a:lnSpc>
                <a:spcBef>
                  <a:spcPts val="10"/>
                </a:spcBef>
              </a:pPr>
              <a:r>
                <a:rPr sz="1800" kern="0" spc="-6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RDD</a:t>
              </a:r>
              <a:endParaRPr sz="1800" dirty="0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5229605" y="1742694"/>
            <a:ext cx="1123950" cy="1124711"/>
            <a:chOff x="0" y="0"/>
            <a:chExt cx="1123950" cy="1124711"/>
          </a:xfrm>
        </p:grpSpPr>
        <p:sp>
          <p:nvSpPr>
            <p:cNvPr id="276" name="path 276"/>
            <p:cNvSpPr/>
            <p:nvPr/>
          </p:nvSpPr>
          <p:spPr>
            <a:xfrm>
              <a:off x="0" y="0"/>
              <a:ext cx="1123950" cy="1124711"/>
            </a:xfrm>
            <a:custGeom>
              <a:avLst/>
              <a:gdLst/>
              <a:ahLst/>
              <a:cxnLst/>
              <a:rect l="0" t="0" r="0" b="0"/>
              <a:pathLst>
                <a:path w="1770" h="1771">
                  <a:moveTo>
                    <a:pt x="0" y="885"/>
                  </a:moveTo>
                  <a:cubicBezTo>
                    <a:pt x="0" y="396"/>
                    <a:pt x="396" y="0"/>
                    <a:pt x="885" y="0"/>
                  </a:cubicBezTo>
                  <a:cubicBezTo>
                    <a:pt x="1373" y="0"/>
                    <a:pt x="1770" y="396"/>
                    <a:pt x="1770" y="885"/>
                  </a:cubicBezTo>
                  <a:cubicBezTo>
                    <a:pt x="1770" y="1374"/>
                    <a:pt x="1373" y="1771"/>
                    <a:pt x="885" y="1771"/>
                  </a:cubicBezTo>
                  <a:cubicBezTo>
                    <a:pt x="396" y="1771"/>
                    <a:pt x="0" y="1374"/>
                    <a:pt x="0" y="885"/>
                  </a:cubicBezTo>
                </a:path>
              </a:pathLst>
            </a:custGeom>
            <a:solidFill>
              <a:srgbClr val="37609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8" name="textbox 278"/>
            <p:cNvSpPr/>
            <p:nvPr/>
          </p:nvSpPr>
          <p:spPr>
            <a:xfrm>
              <a:off x="-12700" y="-12700"/>
              <a:ext cx="1149350" cy="11531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53695" algn="l" rtl="0" eaLnBrk="0">
                <a:lnSpc>
                  <a:spcPct val="85000"/>
                </a:lnSpc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磁盘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54330" algn="l" rtl="0" eaLnBrk="0">
                <a:lnSpc>
                  <a:spcPct val="85000"/>
                </a:lnSpc>
                <a:spcBef>
                  <a:spcPts val="195"/>
                </a:spcBef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迭代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21600000">
            <a:off x="5229605" y="3991355"/>
            <a:ext cx="1123950" cy="1123950"/>
            <a:chOff x="0" y="0"/>
            <a:chExt cx="1123950" cy="1123950"/>
          </a:xfrm>
        </p:grpSpPr>
        <p:sp>
          <p:nvSpPr>
            <p:cNvPr id="280" name="path 280"/>
            <p:cNvSpPr/>
            <p:nvPr/>
          </p:nvSpPr>
          <p:spPr>
            <a:xfrm>
              <a:off x="0" y="0"/>
              <a:ext cx="1123950" cy="1123950"/>
            </a:xfrm>
            <a:custGeom>
              <a:avLst/>
              <a:gdLst/>
              <a:ahLst/>
              <a:cxnLst/>
              <a:rect l="0" t="0" r="0" b="0"/>
              <a:pathLst>
                <a:path w="1770" h="1770">
                  <a:moveTo>
                    <a:pt x="0" y="885"/>
                  </a:moveTo>
                  <a:cubicBezTo>
                    <a:pt x="0" y="396"/>
                    <a:pt x="396" y="0"/>
                    <a:pt x="885" y="0"/>
                  </a:cubicBezTo>
                  <a:cubicBezTo>
                    <a:pt x="1373" y="0"/>
                    <a:pt x="1770" y="396"/>
                    <a:pt x="1770" y="885"/>
                  </a:cubicBezTo>
                  <a:cubicBezTo>
                    <a:pt x="1770" y="1373"/>
                    <a:pt x="1373" y="1770"/>
                    <a:pt x="885" y="1770"/>
                  </a:cubicBezTo>
                  <a:cubicBezTo>
                    <a:pt x="396" y="1770"/>
                    <a:pt x="0" y="1373"/>
                    <a:pt x="0" y="885"/>
                  </a:cubicBezTo>
                </a:path>
              </a:pathLst>
            </a:custGeom>
            <a:solidFill>
              <a:srgbClr val="77933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2" name="textbox 282"/>
            <p:cNvSpPr/>
            <p:nvPr/>
          </p:nvSpPr>
          <p:spPr>
            <a:xfrm>
              <a:off x="-12700" y="-12700"/>
              <a:ext cx="1149350" cy="11671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75590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底层运行</a:t>
              </a:r>
              <a:endParaRPr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87020" algn="l" rtl="0" eaLnBrk="0">
                <a:lnSpc>
                  <a:spcPct val="72000"/>
                </a:lnSpc>
                <a:spcBef>
                  <a:spcPts val="305"/>
                </a:spcBef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MapRedu</a:t>
              </a:r>
              <a:endParaRPr sz="1200" dirty="0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  <a:p>
              <a:pPr algn="l" rtl="0" eaLnBrk="0">
                <a:lnSpc>
                  <a:spcPct val="108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09905" algn="l" rtl="0" eaLnBrk="0">
                <a:lnSpc>
                  <a:spcPts val="715"/>
                </a:lnSpc>
              </a:pPr>
              <a:r>
                <a:rPr sz="1200" kern="0" spc="-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ce</a:t>
              </a:r>
              <a:endParaRPr sz="1200" dirty="0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86" name="textbox 286"/>
          <p:cNvSpPr/>
          <p:nvPr/>
        </p:nvSpPr>
        <p:spPr>
          <a:xfrm>
            <a:off x="1809750" y="5343626"/>
            <a:ext cx="4173854" cy="287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700" b="1" kern="0" spc="-10" baseline="6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</a:t>
            </a:r>
            <a:r>
              <a:rPr sz="2700" b="1" kern="0" spc="-10" baseline="-150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endParaRPr sz="2700" baseline="-1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928507" y="1154175"/>
            <a:ext cx="296354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SparkSQL和Hive的异同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3151492" y="3163989"/>
            <a:ext cx="173799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55015" indent="-742315" algn="l" rtl="0" eaLnBrk="0">
              <a:lnSpc>
                <a:spcPct val="93000"/>
              </a:lnSpc>
            </a:pP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分布式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SQL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计算引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擎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92" name="picture 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94" name="textbox 29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5728011" y="3211943"/>
            <a:ext cx="58674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50"/>
              </a:lnSpc>
            </a:pPr>
            <a:r>
              <a:rPr sz="1800" kern="0" spc="-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Metas</a:t>
            </a:r>
            <a:endParaRPr sz="1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99695" algn="l" rtl="0" eaLnBrk="0">
              <a:lnSpc>
                <a:spcPts val="2575"/>
              </a:lnSpc>
            </a:pP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otre</a:t>
            </a:r>
            <a:endParaRPr sz="1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98" name="path 29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0" name="path 30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02" name="rect 30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4" name="rect 30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table 306"/>
          <p:cNvGraphicFramePr>
            <a:graphicFrameLocks noGrp="1"/>
          </p:cNvGraphicFramePr>
          <p:nvPr/>
        </p:nvGraphicFramePr>
        <p:xfrm>
          <a:off x="527176" y="1978030"/>
          <a:ext cx="5704204" cy="3807459"/>
        </p:xfrm>
        <a:graphic>
          <a:graphicData uri="http://schemas.openxmlformats.org/drawingml/2006/table">
            <a:tbl>
              <a:tblPr/>
              <a:tblGrid>
                <a:gridCol w="2056764"/>
                <a:gridCol w="3647439"/>
              </a:tblGrid>
              <a:tr h="13335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30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Pandas</a:t>
                      </a:r>
                      <a:endParaRPr sz="30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82B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7264">
                <a:tc vMerge="1"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4790" algn="l" rtl="0" eaLnBrk="0">
                        <a:lnSpc>
                          <a:spcPts val="3525"/>
                        </a:lnSpc>
                        <a:spcBef>
                          <a:spcPts val="5"/>
                        </a:spcBef>
                      </a:pPr>
                      <a:r>
                        <a:rPr sz="4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•DataFram</a:t>
                      </a:r>
                      <a:r>
                        <a:rPr sz="4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</a:t>
                      </a:r>
                      <a:endParaRPr sz="45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AE9"/>
                    </a:solidFill>
                  </a:tcPr>
                </a:tc>
              </a:tr>
              <a:tr h="183514">
                <a:tc vMerge="1"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527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3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SparkCore</a:t>
                      </a:r>
                      <a:endParaRPr sz="30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994">
                <a:tc vMerge="1"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4790" algn="l" rtl="0" eaLnBrk="0">
                        <a:lnSpc>
                          <a:spcPts val="3495"/>
                        </a:lnSpc>
                        <a:spcBef>
                          <a:spcPts val="0"/>
                        </a:spcBef>
                      </a:pPr>
                      <a:r>
                        <a:rPr sz="45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•RDD</a:t>
                      </a:r>
                      <a:endParaRPr sz="45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BEA"/>
                    </a:solidFill>
                  </a:tcPr>
                </a:tc>
              </a:tr>
              <a:tr h="182879">
                <a:tc vMerge="1"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040" algn="l" rtl="0" eaLnBrk="0">
                        <a:lnSpc>
                          <a:spcPct val="72000"/>
                        </a:lnSpc>
                      </a:pPr>
                      <a:r>
                        <a:rPr sz="3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SparkSQL</a:t>
                      </a:r>
                      <a:endParaRPr sz="30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994">
                <a:tc vMerge="1"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4790" algn="l" rtl="0" eaLnBrk="0">
                        <a:lnSpc>
                          <a:spcPts val="3525"/>
                        </a:lnSpc>
                        <a:spcBef>
                          <a:spcPts val="5"/>
                        </a:spcBef>
                      </a:pPr>
                      <a:r>
                        <a:rPr sz="4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•DataFram</a:t>
                      </a:r>
                      <a:r>
                        <a:rPr sz="4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</a:t>
                      </a:r>
                      <a:endParaRPr sz="45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BEA"/>
                    </a:solidFill>
                  </a:tcPr>
                </a:tc>
              </a:tr>
              <a:tr h="134620">
                <a:tc vMerge="1"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1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08" name="textbox 308"/>
          <p:cNvSpPr/>
          <p:nvPr/>
        </p:nvSpPr>
        <p:spPr>
          <a:xfrm>
            <a:off x="6745605" y="2123541"/>
            <a:ext cx="3957320" cy="3545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81000"/>
              </a:lnSpc>
            </a:pP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Pandas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</a:t>
            </a:r>
            <a:r>
              <a:rPr sz="18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aFrame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87000"/>
              </a:lnSpc>
              <a:spcBef>
                <a:spcPts val="755"/>
              </a:spcBef>
            </a:pPr>
            <a:r>
              <a:rPr sz="1800" kern="0" spc="-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5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b="1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二维表数据结构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87000"/>
              </a:lnSpc>
              <a:spcBef>
                <a:spcPts val="715"/>
              </a:spcBef>
            </a:pPr>
            <a:r>
              <a:rPr sz="1800" kern="0" spc="-2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6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单机（本地）集合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545"/>
              </a:spcBef>
            </a:pPr>
            <a:r>
              <a:rPr sz="18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SparkCore</a:t>
            </a:r>
            <a:r>
              <a:rPr sz="1800" b="1" kern="0" spc="2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88000"/>
              </a:lnSpc>
              <a:spcBef>
                <a:spcPts val="555"/>
              </a:spcBef>
            </a:pPr>
            <a:r>
              <a:rPr sz="1800" kern="0" spc="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无标准数据结构，存储什么数据均可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87000"/>
              </a:lnSpc>
              <a:spcBef>
                <a:spcPts val="715"/>
              </a:spcBef>
            </a:pPr>
            <a:r>
              <a:rPr sz="1800" kern="0" spc="-12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6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b="1" kern="0" spc="-12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分布式集合（分区）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545"/>
              </a:spcBef>
            </a:pP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800" b="1" kern="0" spc="2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87000"/>
              </a:lnSpc>
              <a:spcBef>
                <a:spcPts val="575"/>
              </a:spcBef>
            </a:pPr>
            <a:r>
              <a:rPr sz="1800" kern="0" spc="-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5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b="1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二维表数据结构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7000"/>
              </a:lnSpc>
              <a:spcBef>
                <a:spcPts val="0"/>
              </a:spcBef>
            </a:pPr>
            <a:r>
              <a:rPr sz="1800" kern="0" spc="-12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6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b="1" kern="0" spc="-12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分布式集合（分区）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16" name="picture 3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928507" y="1154175"/>
            <a:ext cx="26739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 SparkSQL的数据抽象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322" name="path 32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4" name="path 32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26" name="rect 32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" name="rect 32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path 330"/>
          <p:cNvSpPr/>
          <p:nvPr/>
        </p:nvSpPr>
        <p:spPr>
          <a:xfrm>
            <a:off x="743203" y="4479674"/>
            <a:ext cx="1637791" cy="25400"/>
          </a:xfrm>
          <a:custGeom>
            <a:avLst/>
            <a:gdLst/>
            <a:ahLst/>
            <a:cxnLst/>
            <a:rect l="0" t="0" r="0" b="0"/>
            <a:pathLst>
              <a:path w="2579" h="40">
                <a:moveTo>
                  <a:pt x="2579" y="20"/>
                </a:moveTo>
                <a:lnTo>
                  <a:pt x="0" y="20"/>
                </a:lnTo>
              </a:path>
            </a:pathLst>
          </a:custGeom>
          <a:noFill/>
          <a:ln w="254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path 332"/>
          <p:cNvSpPr/>
          <p:nvPr/>
        </p:nvSpPr>
        <p:spPr>
          <a:xfrm>
            <a:off x="743330" y="3198753"/>
            <a:ext cx="1637537" cy="25400"/>
          </a:xfrm>
          <a:custGeom>
            <a:avLst/>
            <a:gdLst/>
            <a:ahLst/>
            <a:cxnLst/>
            <a:rect l="0" t="0" r="0" b="0"/>
            <a:pathLst>
              <a:path w="2578" h="40">
                <a:moveTo>
                  <a:pt x="2578" y="20"/>
                </a:moveTo>
                <a:lnTo>
                  <a:pt x="0" y="20"/>
                </a:lnTo>
              </a:path>
            </a:pathLst>
          </a:custGeom>
          <a:noFill/>
          <a:ln w="254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334"/>
          <p:cNvSpPr/>
          <p:nvPr/>
        </p:nvSpPr>
        <p:spPr>
          <a:xfrm>
            <a:off x="6471487" y="2612973"/>
            <a:ext cx="5295265" cy="2493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 其实有3类数据抽象对象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ts val="2425"/>
              </a:lnSpc>
            </a:pPr>
            <a:r>
              <a:rPr sz="1800" kern="0" spc="-7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7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800" b="1" kern="0" spc="-7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SchemaRDD对象（已废弃</a:t>
            </a:r>
            <a:r>
              <a:rPr sz="1800" b="1" kern="0" spc="-8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86000"/>
              </a:lnSpc>
              <a:spcBef>
                <a:spcPts val="770"/>
              </a:spcBef>
            </a:pPr>
            <a:r>
              <a:rPr sz="1800" kern="0" spc="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8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DataSet对象：可用于Jav</a:t>
            </a:r>
            <a:r>
              <a:rPr sz="18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a、Scala语言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2895" indent="-281305" algn="l" rtl="0" eaLnBrk="0">
              <a:lnSpc>
                <a:spcPct val="91000"/>
              </a:lnSpc>
              <a:spcBef>
                <a:spcPts val="715"/>
              </a:spcBef>
            </a:pPr>
            <a:r>
              <a:rPr sz="1800" kern="0" spc="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8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</a:t>
            </a:r>
            <a:r>
              <a:rPr sz="18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ame对象：可用于Java、Scala、</a:t>
            </a:r>
            <a:r>
              <a:rPr sz="1800" b="1" kern="0" spc="-38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sz="18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4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800" b="1" kern="0" spc="-39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4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210" indent="-17145" algn="l" rtl="0" eaLnBrk="0">
              <a:lnSpc>
                <a:spcPct val="91000"/>
              </a:lnSpc>
              <a:spcBef>
                <a:spcPts val="5"/>
              </a:spcBef>
            </a:pPr>
            <a:r>
              <a:rPr sz="18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以Python开发Spar</a:t>
            </a:r>
            <a:r>
              <a:rPr sz="18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kSQL，主要使用的就是    </a:t>
            </a:r>
            <a:r>
              <a:rPr sz="18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DataFrame对象作为核心数据结构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36" name="table 336"/>
          <p:cNvGraphicFramePr>
            <a:graphicFrameLocks noGrp="1"/>
          </p:cNvGraphicFramePr>
          <p:nvPr/>
        </p:nvGraphicFramePr>
        <p:xfrm>
          <a:off x="527176" y="1976494"/>
          <a:ext cx="5704205" cy="1871980"/>
        </p:xfrm>
        <a:graphic>
          <a:graphicData uri="http://schemas.openxmlformats.org/drawingml/2006/table">
            <a:tbl>
              <a:tblPr/>
              <a:tblGrid>
                <a:gridCol w="2056764"/>
                <a:gridCol w="3647440"/>
              </a:tblGrid>
              <a:tr h="19685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050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</a:pPr>
                      <a:r>
                        <a:rPr sz="3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SparkSQL</a:t>
                      </a:r>
                      <a:endParaRPr sz="31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400685" algn="l" rtl="0" eaLnBrk="0">
                        <a:lnSpc>
                          <a:spcPct val="90000"/>
                        </a:lnSpc>
                        <a:spcBef>
                          <a:spcPts val="15"/>
                        </a:spcBef>
                      </a:pPr>
                      <a:r>
                        <a:rPr sz="3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3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3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JVM</a:t>
                      </a:r>
                      <a:endParaRPr sz="31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B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45">
                <a:tc vMerge="1"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5110" algn="l" rtl="0" eaLnBrk="0">
                        <a:lnSpc>
                          <a:spcPts val="3840"/>
                        </a:lnSpc>
                        <a:spcBef>
                          <a:spcPts val="5"/>
                        </a:spcBef>
                      </a:pPr>
                      <a:r>
                        <a:rPr sz="4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•Dataset</a:t>
                      </a:r>
                      <a:endParaRPr sz="49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BEA"/>
                    </a:solidFill>
                  </a:tcPr>
                </a:tc>
              </a:tr>
              <a:tr h="197485">
                <a:tc vMerge="1"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38" name="table 338"/>
          <p:cNvGraphicFramePr>
            <a:graphicFrameLocks noGrp="1"/>
          </p:cNvGraphicFramePr>
          <p:nvPr/>
        </p:nvGraphicFramePr>
        <p:xfrm>
          <a:off x="2571622" y="4100188"/>
          <a:ext cx="3660140" cy="1502410"/>
        </p:xfrm>
        <a:graphic>
          <a:graphicData uri="http://schemas.openxmlformats.org/drawingml/2006/table">
            <a:tbl>
              <a:tblPr/>
              <a:tblGrid>
                <a:gridCol w="3660140"/>
              </a:tblGrid>
              <a:tr h="14770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175" algn="l" rtl="0" eaLnBrk="0">
                        <a:lnSpc>
                          <a:spcPts val="3840"/>
                        </a:lnSpc>
                        <a:spcBef>
                          <a:spcPts val="5"/>
                        </a:spcBef>
                      </a:pPr>
                      <a:r>
                        <a:rPr sz="49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•DataFrame</a:t>
                      </a:r>
                      <a:endParaRPr sz="49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BEA"/>
                    </a:solidFill>
                  </a:tcPr>
                </a:tc>
              </a:tr>
            </a:tbl>
          </a:graphicData>
        </a:graphic>
      </p:graphicFrame>
      <p:sp>
        <p:nvSpPr>
          <p:cNvPr id="340" name="rect 340"/>
          <p:cNvSpPr/>
          <p:nvPr/>
        </p:nvSpPr>
        <p:spPr>
          <a:xfrm>
            <a:off x="539876" y="3928497"/>
            <a:ext cx="2044445" cy="1846326"/>
          </a:xfrm>
          <a:prstGeom prst="rect">
            <a:avLst/>
          </a:prstGeom>
          <a:solidFill>
            <a:srgbClr val="4F81BD">
              <a:alpha val="9843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" name="path 342"/>
          <p:cNvSpPr/>
          <p:nvPr/>
        </p:nvSpPr>
        <p:spPr>
          <a:xfrm>
            <a:off x="527176" y="3915797"/>
            <a:ext cx="2069845" cy="333120"/>
          </a:xfrm>
          <a:custGeom>
            <a:avLst/>
            <a:gdLst/>
            <a:ahLst/>
            <a:cxnLst/>
            <a:rect l="0" t="0" r="0" b="0"/>
            <a:pathLst>
              <a:path w="3259" h="524">
                <a:moveTo>
                  <a:pt x="20" y="504"/>
                </a:moveTo>
                <a:cubicBezTo>
                  <a:pt x="20" y="236"/>
                  <a:pt x="236" y="20"/>
                  <a:pt x="504" y="20"/>
                </a:cubicBezTo>
                <a:lnTo>
                  <a:pt x="2755" y="20"/>
                </a:lnTo>
                <a:cubicBezTo>
                  <a:pt x="3022" y="20"/>
                  <a:pt x="3239" y="236"/>
                  <a:pt x="3239" y="504"/>
                </a:cubicBezTo>
              </a:path>
            </a:pathLst>
          </a:custGeom>
          <a:noFill/>
          <a:ln w="254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44" name="table 344"/>
          <p:cNvGraphicFramePr>
            <a:graphicFrameLocks noGrp="1"/>
          </p:cNvGraphicFramePr>
          <p:nvPr/>
        </p:nvGraphicFramePr>
        <p:xfrm>
          <a:off x="527176" y="4218011"/>
          <a:ext cx="2069464" cy="1569085"/>
        </p:xfrm>
        <a:graphic>
          <a:graphicData uri="http://schemas.openxmlformats.org/drawingml/2006/table">
            <a:tbl>
              <a:tblPr/>
              <a:tblGrid>
                <a:gridCol w="2069464"/>
              </a:tblGrid>
              <a:tr h="1569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050" algn="l" rtl="0" eaLnBrk="0">
                        <a:lnSpc>
                          <a:spcPct val="73000"/>
                        </a:lnSpc>
                      </a:pPr>
                      <a:r>
                        <a:rPr sz="3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SparkSQL</a:t>
                      </a:r>
                      <a:endParaRPr sz="31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799465" algn="l" rtl="0" eaLnBrk="0">
                        <a:lnSpc>
                          <a:spcPct val="90000"/>
                        </a:lnSpc>
                        <a:spcBef>
                          <a:spcPts val="15"/>
                        </a:spcBef>
                      </a:pPr>
                      <a:r>
                        <a:rPr sz="31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For</a:t>
                      </a:r>
                      <a:endParaRPr sz="31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292100" algn="l" rtl="0" eaLnBrk="0">
                        <a:lnSpc>
                          <a:spcPts val="4280"/>
                        </a:lnSpc>
                        <a:spcBef>
                          <a:spcPts val="600"/>
                        </a:spcBef>
                      </a:pPr>
                      <a:r>
                        <a:rPr sz="3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Python</a:t>
                      </a:r>
                      <a:r>
                        <a:rPr sz="31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\R</a:t>
                      </a:r>
                      <a:endParaRPr sz="31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6" name="picture 3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348" name="textbox 34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52" name="picture 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354" name="textbox 354"/>
          <p:cNvSpPr/>
          <p:nvPr/>
        </p:nvSpPr>
        <p:spPr>
          <a:xfrm>
            <a:off x="928507" y="1154175"/>
            <a:ext cx="26739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 SparkSQL的数据抽象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358" name="path 35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" name="path 36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62" name="rect 36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4" name="rect 36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box 366"/>
          <p:cNvSpPr/>
          <p:nvPr/>
        </p:nvSpPr>
        <p:spPr>
          <a:xfrm>
            <a:off x="1315491" y="4395317"/>
            <a:ext cx="9876790" cy="208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200" b="1" kern="0" spc="-4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从SparkSQL的发展历史可以看</a:t>
            </a:r>
            <a:r>
              <a:rPr sz="1200" b="1" kern="0" spc="-5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9085" indent="-280035" algn="l" rtl="0" eaLnBrk="0">
              <a:lnSpc>
                <a:spcPct val="104000"/>
              </a:lnSpc>
              <a:spcBef>
                <a:spcPts val="140"/>
              </a:spcBef>
            </a:pPr>
            <a:r>
              <a:rPr sz="1200" kern="0" spc="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14年最早的数据抽象是：SchemaRDD（内部存储二维表数据结构的RDD</a:t>
            </a:r>
            <a:r>
              <a:rPr sz="1200" b="1" kern="0" spc="2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SchemaRDD就是魔改的RDD，将RDD支持的存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储数据，限定</a:t>
            </a: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为二维表数据结构用以支持SQL查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询。由于是魔改RDD，只是一个过渡产品，现已废弃。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ts val="1585"/>
              </a:lnSpc>
              <a:spcBef>
                <a:spcPts val="365"/>
              </a:spcBef>
            </a:pPr>
            <a:r>
              <a:rPr sz="1200" kern="0" spc="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15年发布DataFrame对象，基于Pandas的DataFrame（模仿）独立于RDD进行实现，将数据以二维表结构进行存储并支持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分布式运行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ts val="1585"/>
              </a:lnSpc>
              <a:spcBef>
                <a:spcPts val="360"/>
              </a:spcBef>
            </a:pPr>
            <a:r>
              <a:rPr sz="1200" kern="0" spc="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16年发布DataSet对象，在DataFrame之上添加了泛型的支持，用以更好的支持Java和Scala这两个支持泛型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的编程语言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ts val="1585"/>
              </a:lnSpc>
              <a:spcBef>
                <a:spcPts val="360"/>
              </a:spcBef>
            </a:pPr>
            <a:r>
              <a:rPr sz="1200" kern="0" spc="0" dirty="0">
                <a:solidFill>
                  <a:srgbClr val="948A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16年，Spark2.0版本，将DataFrame和DataSet进行合并。其底层均是DataSet对象，但在Python和R语言到用时，显示为DataF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rame对象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4165" algn="l" rtl="0" eaLnBrk="0">
              <a:lnSpc>
                <a:spcPct val="87000"/>
              </a:lnSpc>
              <a:spcBef>
                <a:spcPts val="105"/>
              </a:spcBef>
            </a:pP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。和老的DataFr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ame对象没有区别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8" name="picture 3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766060" y="1457705"/>
            <a:ext cx="6659879" cy="2787395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372" name="textbox 37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76" name="textbox 376"/>
          <p:cNvSpPr/>
          <p:nvPr/>
        </p:nvSpPr>
        <p:spPr>
          <a:xfrm>
            <a:off x="928507" y="1154175"/>
            <a:ext cx="31311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 SparkSQL数据抽象的发展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8" name="picture 3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52" name="group 5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382" name="path 38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4" name="path 38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86" name="rect 38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8" name="rect 38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ath 390"/>
          <p:cNvSpPr/>
          <p:nvPr/>
        </p:nvSpPr>
        <p:spPr>
          <a:xfrm>
            <a:off x="1951481" y="2366771"/>
            <a:ext cx="3132582" cy="3132582"/>
          </a:xfrm>
          <a:custGeom>
            <a:avLst/>
            <a:gdLst/>
            <a:ahLst/>
            <a:cxnLst/>
            <a:rect l="0" t="0" r="0" b="0"/>
            <a:pathLst>
              <a:path w="4933" h="4933">
                <a:moveTo>
                  <a:pt x="2466" y="0"/>
                </a:moveTo>
                <a:cubicBezTo>
                  <a:pt x="3828" y="0"/>
                  <a:pt x="4933" y="1104"/>
                  <a:pt x="4933" y="2466"/>
                </a:cubicBezTo>
                <a:lnTo>
                  <a:pt x="4737" y="2466"/>
                </a:lnTo>
                <a:cubicBezTo>
                  <a:pt x="4737" y="1212"/>
                  <a:pt x="3720" y="195"/>
                  <a:pt x="2466" y="195"/>
                </a:cubicBezTo>
                <a:lnTo>
                  <a:pt x="2466" y="0"/>
                </a:lnTo>
                <a:close/>
              </a:path>
              <a:path w="4933" h="4933">
                <a:moveTo>
                  <a:pt x="4933" y="2466"/>
                </a:moveTo>
                <a:cubicBezTo>
                  <a:pt x="4933" y="3828"/>
                  <a:pt x="3828" y="4933"/>
                  <a:pt x="2466" y="4933"/>
                </a:cubicBezTo>
                <a:lnTo>
                  <a:pt x="2466" y="4737"/>
                </a:lnTo>
                <a:cubicBezTo>
                  <a:pt x="3720" y="4737"/>
                  <a:pt x="4737" y="3720"/>
                  <a:pt x="4737" y="2466"/>
                </a:cubicBezTo>
                <a:lnTo>
                  <a:pt x="4933" y="2466"/>
                </a:lnTo>
                <a:close/>
              </a:path>
              <a:path w="4933" h="4933">
                <a:moveTo>
                  <a:pt x="2466" y="4933"/>
                </a:moveTo>
                <a:cubicBezTo>
                  <a:pt x="1104" y="4933"/>
                  <a:pt x="0" y="3828"/>
                  <a:pt x="0" y="2466"/>
                </a:cubicBezTo>
                <a:lnTo>
                  <a:pt x="195" y="2466"/>
                </a:lnTo>
                <a:cubicBezTo>
                  <a:pt x="195" y="3720"/>
                  <a:pt x="1212" y="4737"/>
                  <a:pt x="2466" y="4737"/>
                </a:cubicBezTo>
                <a:lnTo>
                  <a:pt x="2466" y="4933"/>
                </a:lnTo>
                <a:close/>
              </a:path>
              <a:path w="4933" h="4933">
                <a:moveTo>
                  <a:pt x="0" y="2466"/>
                </a:moveTo>
                <a:cubicBezTo>
                  <a:pt x="0" y="1104"/>
                  <a:pt x="1104" y="0"/>
                  <a:pt x="2466" y="0"/>
                </a:cubicBezTo>
                <a:lnTo>
                  <a:pt x="2466" y="195"/>
                </a:lnTo>
                <a:cubicBezTo>
                  <a:pt x="1212" y="195"/>
                  <a:pt x="195" y="1212"/>
                  <a:pt x="195" y="2466"/>
                </a:cubicBezTo>
                <a:lnTo>
                  <a:pt x="0" y="2466"/>
                </a:lnTo>
                <a:close/>
              </a:path>
            </a:pathLst>
          </a:custGeom>
          <a:solidFill>
            <a:srgbClr val="B2C1D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4" name="group 54"/>
          <p:cNvGrpSpPr/>
          <p:nvPr/>
        </p:nvGrpSpPr>
        <p:grpSpPr>
          <a:xfrm rot="21600000">
            <a:off x="7206995" y="2448305"/>
            <a:ext cx="2969514" cy="2969514"/>
            <a:chOff x="0" y="0"/>
            <a:chExt cx="2969514" cy="2969514"/>
          </a:xfrm>
        </p:grpSpPr>
        <p:grpSp>
          <p:nvGrpSpPr>
            <p:cNvPr id="56" name="group 56"/>
            <p:cNvGrpSpPr/>
            <p:nvPr/>
          </p:nvGrpSpPr>
          <p:grpSpPr>
            <a:xfrm rot="21600000">
              <a:off x="0" y="0"/>
              <a:ext cx="2969514" cy="2969514"/>
              <a:chOff x="0" y="0"/>
              <a:chExt cx="2969514" cy="2969514"/>
            </a:xfrm>
          </p:grpSpPr>
          <p:sp>
            <p:nvSpPr>
              <p:cNvPr id="392" name="path 392"/>
              <p:cNvSpPr/>
              <p:nvPr/>
            </p:nvSpPr>
            <p:spPr>
              <a:xfrm>
                <a:off x="0" y="0"/>
                <a:ext cx="2969514" cy="2969514"/>
              </a:xfrm>
              <a:custGeom>
                <a:avLst/>
                <a:gdLst/>
                <a:ahLst/>
                <a:cxnLst/>
                <a:rect l="0" t="0" r="0" b="0"/>
                <a:pathLst>
                  <a:path w="4676" h="4676">
                    <a:moveTo>
                      <a:pt x="0" y="2338"/>
                    </a:moveTo>
                    <a:cubicBezTo>
                      <a:pt x="0" y="1046"/>
                      <a:pt x="1046" y="0"/>
                      <a:pt x="2338" y="0"/>
                    </a:cubicBezTo>
                    <a:lnTo>
                      <a:pt x="2338" y="217"/>
                    </a:lnTo>
                    <a:cubicBezTo>
                      <a:pt x="1166" y="217"/>
                      <a:pt x="217" y="1166"/>
                      <a:pt x="217" y="2338"/>
                    </a:cubicBezTo>
                    <a:lnTo>
                      <a:pt x="0" y="2338"/>
                    </a:lnTo>
                    <a:close/>
                  </a:path>
                  <a:path w="4676" h="4676">
                    <a:moveTo>
                      <a:pt x="2338" y="4676"/>
                    </a:moveTo>
                    <a:cubicBezTo>
                      <a:pt x="1046" y="4676"/>
                      <a:pt x="0" y="3629"/>
                      <a:pt x="0" y="2338"/>
                    </a:cubicBezTo>
                    <a:lnTo>
                      <a:pt x="217" y="2338"/>
                    </a:lnTo>
                    <a:cubicBezTo>
                      <a:pt x="217" y="3509"/>
                      <a:pt x="1166" y="4459"/>
                      <a:pt x="2338" y="4459"/>
                    </a:cubicBezTo>
                    <a:lnTo>
                      <a:pt x="2338" y="4676"/>
                    </a:lnTo>
                    <a:close/>
                  </a:path>
                  <a:path w="4676" h="4676">
                    <a:moveTo>
                      <a:pt x="4676" y="2338"/>
                    </a:moveTo>
                    <a:cubicBezTo>
                      <a:pt x="4676" y="3629"/>
                      <a:pt x="3629" y="4676"/>
                      <a:pt x="2338" y="4676"/>
                    </a:cubicBezTo>
                    <a:lnTo>
                      <a:pt x="2338" y="4459"/>
                    </a:lnTo>
                    <a:cubicBezTo>
                      <a:pt x="3509" y="4459"/>
                      <a:pt x="4459" y="3509"/>
                      <a:pt x="4459" y="2338"/>
                    </a:cubicBezTo>
                    <a:lnTo>
                      <a:pt x="4676" y="2338"/>
                    </a:lnTo>
                    <a:close/>
                  </a:path>
                  <a:path w="4676" h="4676">
                    <a:moveTo>
                      <a:pt x="2338" y="0"/>
                    </a:moveTo>
                    <a:cubicBezTo>
                      <a:pt x="3629" y="0"/>
                      <a:pt x="4676" y="1046"/>
                      <a:pt x="4676" y="2338"/>
                    </a:cubicBezTo>
                    <a:lnTo>
                      <a:pt x="4459" y="2338"/>
                    </a:lnTo>
                    <a:cubicBezTo>
                      <a:pt x="4459" y="1166"/>
                      <a:pt x="3509" y="217"/>
                      <a:pt x="2338" y="217"/>
                    </a:cubicBezTo>
                    <a:lnTo>
                      <a:pt x="2338" y="0"/>
                    </a:lnTo>
                    <a:close/>
                  </a:path>
                </a:pathLst>
              </a:custGeom>
              <a:solidFill>
                <a:srgbClr val="B2C1DB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" name="path 394"/>
              <p:cNvSpPr/>
              <p:nvPr/>
            </p:nvSpPr>
            <p:spPr>
              <a:xfrm>
                <a:off x="801243" y="801242"/>
                <a:ext cx="1367028" cy="1367790"/>
              </a:xfrm>
              <a:custGeom>
                <a:avLst/>
                <a:gdLst/>
                <a:ahLst/>
                <a:cxnLst/>
                <a:rect l="0" t="0" r="0" b="0"/>
                <a:pathLst>
                  <a:path w="2152" h="2154">
                    <a:moveTo>
                      <a:pt x="0" y="1077"/>
                    </a:moveTo>
                    <a:cubicBezTo>
                      <a:pt x="0" y="482"/>
                      <a:pt x="481" y="0"/>
                      <a:pt x="1076" y="0"/>
                    </a:cubicBezTo>
                    <a:cubicBezTo>
                      <a:pt x="1670" y="0"/>
                      <a:pt x="2152" y="482"/>
                      <a:pt x="2152" y="1077"/>
                    </a:cubicBezTo>
                    <a:cubicBezTo>
                      <a:pt x="2152" y="1671"/>
                      <a:pt x="1670" y="2154"/>
                      <a:pt x="1076" y="2154"/>
                    </a:cubicBezTo>
                    <a:cubicBezTo>
                      <a:pt x="481" y="2154"/>
                      <a:pt x="0" y="1671"/>
                      <a:pt x="0" y="1077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" name="path 396"/>
              <p:cNvSpPr/>
              <p:nvPr/>
            </p:nvSpPr>
            <p:spPr>
              <a:xfrm>
                <a:off x="788543" y="788542"/>
                <a:ext cx="1392428" cy="1393190"/>
              </a:xfrm>
              <a:custGeom>
                <a:avLst/>
                <a:gdLst/>
                <a:ahLst/>
                <a:cxnLst/>
                <a:rect l="0" t="0" r="0" b="0"/>
                <a:pathLst>
                  <a:path w="2192" h="2194">
                    <a:moveTo>
                      <a:pt x="20" y="1097"/>
                    </a:moveTo>
                    <a:cubicBezTo>
                      <a:pt x="20" y="502"/>
                      <a:pt x="501" y="20"/>
                      <a:pt x="1096" y="20"/>
                    </a:cubicBezTo>
                    <a:cubicBezTo>
                      <a:pt x="1690" y="20"/>
                      <a:pt x="2172" y="502"/>
                      <a:pt x="2172" y="1097"/>
                    </a:cubicBezTo>
                    <a:cubicBezTo>
                      <a:pt x="2172" y="1691"/>
                      <a:pt x="1690" y="2174"/>
                      <a:pt x="1096" y="2174"/>
                    </a:cubicBezTo>
                    <a:cubicBezTo>
                      <a:pt x="501" y="2174"/>
                      <a:pt x="20" y="1691"/>
                      <a:pt x="20" y="1097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8" name="textbox 398"/>
            <p:cNvSpPr/>
            <p:nvPr/>
          </p:nvSpPr>
          <p:spPr>
            <a:xfrm>
              <a:off x="-12700" y="-12700"/>
              <a:ext cx="2995295" cy="30245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61720" algn="l" rtl="0" eaLnBrk="0">
                <a:lnSpc>
                  <a:spcPts val="1255"/>
                </a:lnSpc>
              </a:pPr>
              <a:r>
                <a:rPr sz="1600" kern="0" spc="-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DataFrame</a:t>
              </a:r>
              <a:endParaRPr sz="1600" dirty="0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400" name="rect 400"/>
          <p:cNvSpPr/>
          <p:nvPr/>
        </p:nvSpPr>
        <p:spPr>
          <a:xfrm>
            <a:off x="9813031" y="6582159"/>
            <a:ext cx="2378968" cy="275840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2" name="textbox 402"/>
          <p:cNvSpPr/>
          <p:nvPr/>
        </p:nvSpPr>
        <p:spPr>
          <a:xfrm>
            <a:off x="-12700" y="6569456"/>
            <a:ext cx="12217400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0"/>
              </a:spcBef>
              <a:tabLst>
                <a:tab pos="3876040" algn="l"/>
              </a:tabLst>
            </a:pPr>
            <a:r>
              <a:rPr sz="11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800" b="1" kern="0" spc="20" baseline="600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</a:t>
            </a:r>
            <a:r>
              <a:rPr sz="1800" b="1" kern="0" spc="0" baseline="600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800" b="1" kern="0" spc="20" baseline="600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可以存储的数据则没有任何限制，想处理什么就处理什</a:t>
            </a:r>
            <a:r>
              <a:rPr sz="1800" b="1" kern="0" spc="10" baseline="600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么</a:t>
            </a:r>
            <a:r>
              <a:rPr sz="1100" b="1" kern="0" spc="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</a:t>
            </a:r>
            <a:r>
              <a:rPr sz="2400" kern="0" spc="10" baseline="-900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</a:t>
            </a:r>
            <a:endParaRPr sz="15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04" name="path 404"/>
          <p:cNvSpPr/>
          <p:nvPr/>
        </p:nvSpPr>
        <p:spPr>
          <a:xfrm>
            <a:off x="9589645" y="6582156"/>
            <a:ext cx="400812" cy="208788"/>
          </a:xfrm>
          <a:custGeom>
            <a:avLst/>
            <a:gdLst/>
            <a:ahLst/>
            <a:cxnLst/>
            <a:rect l="0" t="0" r="0" b="0"/>
            <a:pathLst>
              <a:path w="631" h="328">
                <a:moveTo>
                  <a:pt x="315" y="0"/>
                </a:moveTo>
                <a:lnTo>
                  <a:pt x="631" y="315"/>
                </a:lnTo>
                <a:lnTo>
                  <a:pt x="618" y="328"/>
                </a:lnTo>
                <a:lnTo>
                  <a:pt x="13" y="328"/>
                </a:lnTo>
                <a:lnTo>
                  <a:pt x="0" y="315"/>
                </a:lnTo>
                <a:lnTo>
                  <a:pt x="315" y="0"/>
                </a:lnTo>
                <a:close/>
              </a:path>
            </a:pathLst>
          </a:custGeom>
          <a:solidFill>
            <a:srgbClr val="68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3848963" y="5962370"/>
            <a:ext cx="4365625" cy="577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ct val="87000"/>
              </a:lnSpc>
            </a:pP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DataFrame和RDD都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是：弹性的、分布式的、数据集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只是，</a:t>
            </a:r>
            <a:r>
              <a:rPr sz="1200" b="1" kern="0" spc="-26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DataFrame存储的数据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结构“限定”为：二维表结构化数</a:t>
            </a:r>
            <a:r>
              <a:rPr sz="1200" b="1" kern="0" spc="-10" dirty="0">
                <a:solidFill>
                  <a:srgbClr val="948A5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8" name="group 58"/>
          <p:cNvGrpSpPr/>
          <p:nvPr/>
        </p:nvGrpSpPr>
        <p:grpSpPr>
          <a:xfrm rot="21600000">
            <a:off x="2820797" y="3236086"/>
            <a:ext cx="1394713" cy="1394714"/>
            <a:chOff x="0" y="0"/>
            <a:chExt cx="1394713" cy="1394714"/>
          </a:xfrm>
        </p:grpSpPr>
        <p:grpSp>
          <p:nvGrpSpPr>
            <p:cNvPr id="60" name="group 60"/>
            <p:cNvGrpSpPr/>
            <p:nvPr/>
          </p:nvGrpSpPr>
          <p:grpSpPr>
            <a:xfrm rot="21600000">
              <a:off x="0" y="0"/>
              <a:ext cx="1394713" cy="1394714"/>
              <a:chOff x="0" y="0"/>
              <a:chExt cx="1394713" cy="1394714"/>
            </a:xfrm>
          </p:grpSpPr>
          <p:sp>
            <p:nvSpPr>
              <p:cNvPr id="408" name="path 408"/>
              <p:cNvSpPr/>
              <p:nvPr/>
            </p:nvSpPr>
            <p:spPr>
              <a:xfrm>
                <a:off x="12700" y="12700"/>
                <a:ext cx="1369313" cy="1369314"/>
              </a:xfrm>
              <a:custGeom>
                <a:avLst/>
                <a:gdLst/>
                <a:ahLst/>
                <a:cxnLst/>
                <a:rect l="0" t="0" r="0" b="0"/>
                <a:pathLst>
                  <a:path w="2156" h="2156">
                    <a:moveTo>
                      <a:pt x="0" y="1078"/>
                    </a:moveTo>
                    <a:cubicBezTo>
                      <a:pt x="0" y="482"/>
                      <a:pt x="482" y="0"/>
                      <a:pt x="1078" y="0"/>
                    </a:cubicBezTo>
                    <a:cubicBezTo>
                      <a:pt x="1673" y="0"/>
                      <a:pt x="2156" y="482"/>
                      <a:pt x="2156" y="1078"/>
                    </a:cubicBezTo>
                    <a:cubicBezTo>
                      <a:pt x="2156" y="1673"/>
                      <a:pt x="1673" y="2156"/>
                      <a:pt x="1078" y="2156"/>
                    </a:cubicBezTo>
                    <a:cubicBezTo>
                      <a:pt x="482" y="2156"/>
                      <a:pt x="0" y="1673"/>
                      <a:pt x="0" y="1078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0" name="path 410"/>
              <p:cNvSpPr/>
              <p:nvPr/>
            </p:nvSpPr>
            <p:spPr>
              <a:xfrm>
                <a:off x="0" y="0"/>
                <a:ext cx="1394713" cy="1394714"/>
              </a:xfrm>
              <a:custGeom>
                <a:avLst/>
                <a:gdLst/>
                <a:ahLst/>
                <a:cxnLst/>
                <a:rect l="0" t="0" r="0" b="0"/>
                <a:pathLst>
                  <a:path w="2196" h="2196">
                    <a:moveTo>
                      <a:pt x="20" y="1098"/>
                    </a:moveTo>
                    <a:cubicBezTo>
                      <a:pt x="20" y="502"/>
                      <a:pt x="502" y="20"/>
                      <a:pt x="1098" y="20"/>
                    </a:cubicBezTo>
                    <a:cubicBezTo>
                      <a:pt x="1693" y="20"/>
                      <a:pt x="2176" y="502"/>
                      <a:pt x="2176" y="1098"/>
                    </a:cubicBezTo>
                    <a:cubicBezTo>
                      <a:pt x="2176" y="1693"/>
                      <a:pt x="1693" y="2176"/>
                      <a:pt x="1098" y="2176"/>
                    </a:cubicBezTo>
                    <a:cubicBezTo>
                      <a:pt x="502" y="2176"/>
                      <a:pt x="20" y="1693"/>
                      <a:pt x="20" y="1098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2" name="textbox 412"/>
            <p:cNvSpPr/>
            <p:nvPr/>
          </p:nvSpPr>
          <p:spPr>
            <a:xfrm>
              <a:off x="-12700" y="-12700"/>
              <a:ext cx="1420494" cy="14859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2265" algn="l" rtl="0" eaLnBrk="0">
                <a:lnSpc>
                  <a:spcPts val="2795"/>
                </a:lnSpc>
                <a:spcBef>
                  <a:spcPts val="5"/>
                </a:spcBef>
              </a:pPr>
              <a:r>
                <a:rPr sz="3600" kern="0" spc="-11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RDD</a:t>
              </a:r>
              <a:endParaRPr sz="3600" dirty="0"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414" name="textbox 41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62" name="group 62"/>
          <p:cNvGrpSpPr/>
          <p:nvPr/>
        </p:nvGrpSpPr>
        <p:grpSpPr>
          <a:xfrm rot="21600000">
            <a:off x="4477384" y="3441827"/>
            <a:ext cx="996950" cy="1036955"/>
            <a:chOff x="0" y="34087"/>
            <a:chExt cx="996950" cy="1036955"/>
          </a:xfrm>
        </p:grpSpPr>
        <p:grpSp>
          <p:nvGrpSpPr>
            <p:cNvPr id="64" name="group 64"/>
            <p:cNvGrpSpPr/>
            <p:nvPr/>
          </p:nvGrpSpPr>
          <p:grpSpPr>
            <a:xfrm rot="21600000">
              <a:off x="0" y="34087"/>
              <a:ext cx="983996" cy="983995"/>
              <a:chOff x="0" y="0"/>
              <a:chExt cx="983996" cy="983995"/>
            </a:xfrm>
          </p:grpSpPr>
          <p:sp>
            <p:nvSpPr>
              <p:cNvPr id="418" name="path 418"/>
              <p:cNvSpPr/>
              <p:nvPr/>
            </p:nvSpPr>
            <p:spPr>
              <a:xfrm>
                <a:off x="12700" y="12700"/>
                <a:ext cx="958596" cy="958595"/>
              </a:xfrm>
              <a:custGeom>
                <a:avLst/>
                <a:gdLst/>
                <a:ahLst/>
                <a:cxnLst/>
                <a:rect l="0" t="0" r="0" b="0"/>
                <a:pathLst>
                  <a:path w="1509" h="1509">
                    <a:moveTo>
                      <a:pt x="0" y="754"/>
                    </a:moveTo>
                    <a:cubicBezTo>
                      <a:pt x="0" y="337"/>
                      <a:pt x="337" y="0"/>
                      <a:pt x="754" y="0"/>
                    </a:cubicBezTo>
                    <a:cubicBezTo>
                      <a:pt x="1171" y="0"/>
                      <a:pt x="1509" y="337"/>
                      <a:pt x="1509" y="754"/>
                    </a:cubicBezTo>
                    <a:cubicBezTo>
                      <a:pt x="1509" y="1171"/>
                      <a:pt x="1171" y="1509"/>
                      <a:pt x="754" y="1509"/>
                    </a:cubicBezTo>
                    <a:cubicBezTo>
                      <a:pt x="337" y="1509"/>
                      <a:pt x="0" y="1171"/>
                      <a:pt x="0" y="754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" name="path 420"/>
              <p:cNvSpPr/>
              <p:nvPr/>
            </p:nvSpPr>
            <p:spPr>
              <a:xfrm>
                <a:off x="0" y="0"/>
                <a:ext cx="983996" cy="983995"/>
              </a:xfrm>
              <a:custGeom>
                <a:avLst/>
                <a:gdLst/>
                <a:ahLst/>
                <a:cxnLst/>
                <a:rect l="0" t="0" r="0" b="0"/>
                <a:pathLst>
                  <a:path w="1549" h="1549">
                    <a:moveTo>
                      <a:pt x="20" y="774"/>
                    </a:moveTo>
                    <a:cubicBezTo>
                      <a:pt x="20" y="357"/>
                      <a:pt x="357" y="20"/>
                      <a:pt x="774" y="20"/>
                    </a:cubicBezTo>
                    <a:cubicBezTo>
                      <a:pt x="1191" y="20"/>
                      <a:pt x="1529" y="357"/>
                      <a:pt x="1529" y="774"/>
                    </a:cubicBezTo>
                    <a:cubicBezTo>
                      <a:pt x="1529" y="1191"/>
                      <a:pt x="1191" y="1529"/>
                      <a:pt x="774" y="1529"/>
                    </a:cubicBezTo>
                    <a:cubicBezTo>
                      <a:pt x="357" y="1529"/>
                      <a:pt x="20" y="1191"/>
                      <a:pt x="20" y="774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2" name="textbox 422"/>
            <p:cNvSpPr/>
            <p:nvPr/>
          </p:nvSpPr>
          <p:spPr>
            <a:xfrm>
              <a:off x="151130" y="210617"/>
              <a:ext cx="845820" cy="860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0960" algn="l" rtl="0" eaLnBrk="0">
                <a:lnSpc>
                  <a:spcPct val="85000"/>
                </a:lnSpc>
              </a:pPr>
              <a:r>
                <a:rPr lang="zh-CN" sz="1600" b="1" kern="0" spc="-50" dirty="0">
                  <a:solidFill>
                    <a:srgbClr val="C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存储</a:t>
              </a:r>
              <a:r>
                <a:rPr sz="1600" b="1" kern="0" spc="-50" dirty="0">
                  <a:solidFill>
                    <a:srgbClr val="C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任意结构</a:t>
              </a:r>
              <a:r>
                <a:rPr lang="zh-CN" sz="1600" b="1" kern="0" spc="-50" dirty="0">
                  <a:solidFill>
                    <a:srgbClr val="C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数据</a:t>
              </a:r>
              <a:endParaRPr lang="zh-CN" sz="1600" b="1" kern="0" spc="-50" dirty="0">
                <a:solidFill>
                  <a:srgbClr val="C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 rot="21600000">
            <a:off x="1574927" y="3441826"/>
            <a:ext cx="983996" cy="983995"/>
            <a:chOff x="0" y="34023"/>
            <a:chExt cx="983996" cy="983995"/>
          </a:xfrm>
        </p:grpSpPr>
        <p:grpSp>
          <p:nvGrpSpPr>
            <p:cNvPr id="68" name="group 68"/>
            <p:cNvGrpSpPr/>
            <p:nvPr/>
          </p:nvGrpSpPr>
          <p:grpSpPr>
            <a:xfrm rot="21600000">
              <a:off x="0" y="34023"/>
              <a:ext cx="983996" cy="983995"/>
              <a:chOff x="0" y="0"/>
              <a:chExt cx="983996" cy="983995"/>
            </a:xfrm>
          </p:grpSpPr>
          <p:sp>
            <p:nvSpPr>
              <p:cNvPr id="424" name="path 424"/>
              <p:cNvSpPr/>
              <p:nvPr/>
            </p:nvSpPr>
            <p:spPr>
              <a:xfrm>
                <a:off x="12700" y="12700"/>
                <a:ext cx="958596" cy="958595"/>
              </a:xfrm>
              <a:custGeom>
                <a:avLst/>
                <a:gdLst/>
                <a:ahLst/>
                <a:cxnLst/>
                <a:rect l="0" t="0" r="0" b="0"/>
                <a:pathLst>
                  <a:path w="1509" h="1509">
                    <a:moveTo>
                      <a:pt x="0" y="754"/>
                    </a:moveTo>
                    <a:cubicBezTo>
                      <a:pt x="0" y="337"/>
                      <a:pt x="337" y="0"/>
                      <a:pt x="754" y="0"/>
                    </a:cubicBezTo>
                    <a:cubicBezTo>
                      <a:pt x="1171" y="0"/>
                      <a:pt x="1509" y="337"/>
                      <a:pt x="1509" y="754"/>
                    </a:cubicBezTo>
                    <a:cubicBezTo>
                      <a:pt x="1509" y="1171"/>
                      <a:pt x="1171" y="1509"/>
                      <a:pt x="754" y="1509"/>
                    </a:cubicBezTo>
                    <a:cubicBezTo>
                      <a:pt x="337" y="1509"/>
                      <a:pt x="0" y="1171"/>
                      <a:pt x="0" y="754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" name="path 426"/>
              <p:cNvSpPr/>
              <p:nvPr/>
            </p:nvSpPr>
            <p:spPr>
              <a:xfrm>
                <a:off x="0" y="0"/>
                <a:ext cx="983996" cy="983995"/>
              </a:xfrm>
              <a:custGeom>
                <a:avLst/>
                <a:gdLst/>
                <a:ahLst/>
                <a:cxnLst/>
                <a:rect l="0" t="0" r="0" b="0"/>
                <a:pathLst>
                  <a:path w="1549" h="1549">
                    <a:moveTo>
                      <a:pt x="20" y="774"/>
                    </a:moveTo>
                    <a:cubicBezTo>
                      <a:pt x="20" y="357"/>
                      <a:pt x="357" y="20"/>
                      <a:pt x="774" y="20"/>
                    </a:cubicBezTo>
                    <a:cubicBezTo>
                      <a:pt x="1191" y="20"/>
                      <a:pt x="1529" y="357"/>
                      <a:pt x="1529" y="774"/>
                    </a:cubicBezTo>
                    <a:cubicBezTo>
                      <a:pt x="1529" y="1191"/>
                      <a:pt x="1191" y="1529"/>
                      <a:pt x="774" y="1529"/>
                    </a:cubicBezTo>
                    <a:cubicBezTo>
                      <a:pt x="357" y="1529"/>
                      <a:pt x="20" y="1191"/>
                      <a:pt x="20" y="774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8" name="textbox 428"/>
            <p:cNvSpPr/>
            <p:nvPr/>
          </p:nvSpPr>
          <p:spPr>
            <a:xfrm>
              <a:off x="109855" y="290563"/>
              <a:ext cx="763905" cy="727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ctr" rtl="0" eaLnBrk="0">
                <a:lnSpc>
                  <a:spcPct val="6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4930" algn="ctr" rtl="0" eaLnBrk="0">
                <a:lnSpc>
                  <a:spcPct val="85000"/>
                </a:lnSpc>
              </a:pPr>
              <a:r>
                <a:rPr sz="1600" kern="0" spc="-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分布</a:t>
              </a:r>
              <a:r>
                <a:rPr sz="1600" kern="0" spc="-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式的</a:t>
              </a:r>
              <a:endParaRPr sz="1600" kern="0" spc="-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 rot="21600000">
            <a:off x="3025775" y="1990216"/>
            <a:ext cx="983996" cy="983995"/>
            <a:chOff x="0" y="33636"/>
            <a:chExt cx="983996" cy="983995"/>
          </a:xfrm>
        </p:grpSpPr>
        <p:grpSp>
          <p:nvGrpSpPr>
            <p:cNvPr id="72" name="group 72"/>
            <p:cNvGrpSpPr/>
            <p:nvPr/>
          </p:nvGrpSpPr>
          <p:grpSpPr>
            <a:xfrm rot="21600000">
              <a:off x="0" y="33636"/>
              <a:ext cx="983996" cy="983995"/>
              <a:chOff x="0" y="0"/>
              <a:chExt cx="983996" cy="983995"/>
            </a:xfrm>
          </p:grpSpPr>
          <p:sp>
            <p:nvSpPr>
              <p:cNvPr id="430" name="path 430"/>
              <p:cNvSpPr/>
              <p:nvPr/>
            </p:nvSpPr>
            <p:spPr>
              <a:xfrm>
                <a:off x="12700" y="12700"/>
                <a:ext cx="958596" cy="958595"/>
              </a:xfrm>
              <a:custGeom>
                <a:avLst/>
                <a:gdLst/>
                <a:ahLst/>
                <a:cxnLst/>
                <a:rect l="0" t="0" r="0" b="0"/>
                <a:pathLst>
                  <a:path w="1509" h="1509">
                    <a:moveTo>
                      <a:pt x="0" y="754"/>
                    </a:moveTo>
                    <a:cubicBezTo>
                      <a:pt x="0" y="337"/>
                      <a:pt x="337" y="0"/>
                      <a:pt x="754" y="0"/>
                    </a:cubicBezTo>
                    <a:cubicBezTo>
                      <a:pt x="1171" y="0"/>
                      <a:pt x="1509" y="337"/>
                      <a:pt x="1509" y="754"/>
                    </a:cubicBezTo>
                    <a:cubicBezTo>
                      <a:pt x="1509" y="1171"/>
                      <a:pt x="1171" y="1509"/>
                      <a:pt x="754" y="1509"/>
                    </a:cubicBezTo>
                    <a:cubicBezTo>
                      <a:pt x="337" y="1509"/>
                      <a:pt x="0" y="1171"/>
                      <a:pt x="0" y="754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" name="path 432"/>
              <p:cNvSpPr/>
              <p:nvPr/>
            </p:nvSpPr>
            <p:spPr>
              <a:xfrm>
                <a:off x="0" y="0"/>
                <a:ext cx="983996" cy="983995"/>
              </a:xfrm>
              <a:custGeom>
                <a:avLst/>
                <a:gdLst/>
                <a:ahLst/>
                <a:cxnLst/>
                <a:rect l="0" t="0" r="0" b="0"/>
                <a:pathLst>
                  <a:path w="1549" h="1549">
                    <a:moveTo>
                      <a:pt x="20" y="774"/>
                    </a:moveTo>
                    <a:cubicBezTo>
                      <a:pt x="20" y="357"/>
                      <a:pt x="357" y="20"/>
                      <a:pt x="774" y="20"/>
                    </a:cubicBezTo>
                    <a:cubicBezTo>
                      <a:pt x="1191" y="20"/>
                      <a:pt x="1529" y="357"/>
                      <a:pt x="1529" y="774"/>
                    </a:cubicBezTo>
                    <a:cubicBezTo>
                      <a:pt x="1529" y="1191"/>
                      <a:pt x="1191" y="1529"/>
                      <a:pt x="774" y="1529"/>
                    </a:cubicBezTo>
                    <a:cubicBezTo>
                      <a:pt x="357" y="1529"/>
                      <a:pt x="20" y="1191"/>
                      <a:pt x="20" y="774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4" name="textbox 434"/>
            <p:cNvSpPr/>
            <p:nvPr/>
          </p:nvSpPr>
          <p:spPr>
            <a:xfrm>
              <a:off x="42545" y="259061"/>
              <a:ext cx="837565" cy="641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6040" algn="ctr" rtl="0" eaLnBrk="0">
                <a:lnSpc>
                  <a:spcPct val="85000"/>
                </a:lnSpc>
              </a:pPr>
              <a:r>
                <a:rPr sz="1600" kern="0" spc="-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有分</a:t>
              </a:r>
              <a:r>
                <a:rPr sz="1600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区的</a:t>
              </a:r>
              <a:endParaRPr sz="1600" kern="0" spc="-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21600000">
            <a:off x="3025775" y="4892674"/>
            <a:ext cx="983996" cy="983995"/>
            <a:chOff x="0" y="33648"/>
            <a:chExt cx="983996" cy="983995"/>
          </a:xfrm>
        </p:grpSpPr>
        <p:grpSp>
          <p:nvGrpSpPr>
            <p:cNvPr id="76" name="group 76"/>
            <p:cNvGrpSpPr/>
            <p:nvPr/>
          </p:nvGrpSpPr>
          <p:grpSpPr>
            <a:xfrm rot="21600000">
              <a:off x="0" y="33648"/>
              <a:ext cx="983996" cy="983995"/>
              <a:chOff x="0" y="0"/>
              <a:chExt cx="983996" cy="983995"/>
            </a:xfrm>
          </p:grpSpPr>
          <p:sp>
            <p:nvSpPr>
              <p:cNvPr id="436" name="path 436"/>
              <p:cNvSpPr/>
              <p:nvPr/>
            </p:nvSpPr>
            <p:spPr>
              <a:xfrm>
                <a:off x="12700" y="12700"/>
                <a:ext cx="958596" cy="958595"/>
              </a:xfrm>
              <a:custGeom>
                <a:avLst/>
                <a:gdLst/>
                <a:ahLst/>
                <a:cxnLst/>
                <a:rect l="0" t="0" r="0" b="0"/>
                <a:pathLst>
                  <a:path w="1509" h="1509">
                    <a:moveTo>
                      <a:pt x="0" y="754"/>
                    </a:moveTo>
                    <a:cubicBezTo>
                      <a:pt x="0" y="337"/>
                      <a:pt x="337" y="0"/>
                      <a:pt x="754" y="0"/>
                    </a:cubicBezTo>
                    <a:cubicBezTo>
                      <a:pt x="1171" y="0"/>
                      <a:pt x="1509" y="337"/>
                      <a:pt x="1509" y="754"/>
                    </a:cubicBezTo>
                    <a:cubicBezTo>
                      <a:pt x="1509" y="1171"/>
                      <a:pt x="1171" y="1509"/>
                      <a:pt x="754" y="1509"/>
                    </a:cubicBezTo>
                    <a:cubicBezTo>
                      <a:pt x="337" y="1509"/>
                      <a:pt x="0" y="1171"/>
                      <a:pt x="0" y="754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8" name="path 438"/>
              <p:cNvSpPr/>
              <p:nvPr/>
            </p:nvSpPr>
            <p:spPr>
              <a:xfrm>
                <a:off x="0" y="0"/>
                <a:ext cx="983996" cy="983995"/>
              </a:xfrm>
              <a:custGeom>
                <a:avLst/>
                <a:gdLst/>
                <a:ahLst/>
                <a:cxnLst/>
                <a:rect l="0" t="0" r="0" b="0"/>
                <a:pathLst>
                  <a:path w="1549" h="1549">
                    <a:moveTo>
                      <a:pt x="20" y="774"/>
                    </a:moveTo>
                    <a:cubicBezTo>
                      <a:pt x="20" y="357"/>
                      <a:pt x="357" y="20"/>
                      <a:pt x="774" y="20"/>
                    </a:cubicBezTo>
                    <a:cubicBezTo>
                      <a:pt x="1191" y="20"/>
                      <a:pt x="1529" y="357"/>
                      <a:pt x="1529" y="774"/>
                    </a:cubicBezTo>
                    <a:cubicBezTo>
                      <a:pt x="1529" y="1191"/>
                      <a:pt x="1191" y="1529"/>
                      <a:pt x="774" y="1529"/>
                    </a:cubicBezTo>
                    <a:cubicBezTo>
                      <a:pt x="357" y="1529"/>
                      <a:pt x="20" y="1191"/>
                      <a:pt x="20" y="774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0" name="textbox 440"/>
            <p:cNvSpPr/>
            <p:nvPr/>
          </p:nvSpPr>
          <p:spPr>
            <a:xfrm>
              <a:off x="123190" y="356228"/>
              <a:ext cx="756920" cy="6470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1755" algn="l" rtl="0" eaLnBrk="0">
                <a:lnSpc>
                  <a:spcPct val="85000"/>
                </a:lnSpc>
              </a:pPr>
              <a:r>
                <a:rPr sz="1600" kern="0" spc="-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弹性</a:t>
              </a:r>
              <a:r>
                <a:rPr sz="1600" kern="0" spc="-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</a:t>
              </a:r>
              <a:endParaRPr sz="16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 rot="21600000">
            <a:off x="8200517" y="4892675"/>
            <a:ext cx="982471" cy="982472"/>
            <a:chOff x="0" y="0"/>
            <a:chExt cx="982471" cy="982472"/>
          </a:xfrm>
        </p:grpSpPr>
        <p:grpSp>
          <p:nvGrpSpPr>
            <p:cNvPr id="80" name="group 80"/>
            <p:cNvGrpSpPr/>
            <p:nvPr/>
          </p:nvGrpSpPr>
          <p:grpSpPr>
            <a:xfrm rot="21600000">
              <a:off x="0" y="0"/>
              <a:ext cx="982471" cy="982472"/>
              <a:chOff x="0" y="0"/>
              <a:chExt cx="982471" cy="982472"/>
            </a:xfrm>
          </p:grpSpPr>
          <p:sp>
            <p:nvSpPr>
              <p:cNvPr id="442" name="path 442"/>
              <p:cNvSpPr/>
              <p:nvPr/>
            </p:nvSpPr>
            <p:spPr>
              <a:xfrm>
                <a:off x="12700" y="12700"/>
                <a:ext cx="957071" cy="957072"/>
              </a:xfrm>
              <a:custGeom>
                <a:avLst/>
                <a:gdLst/>
                <a:ahLst/>
                <a:cxnLst/>
                <a:rect l="0" t="0" r="0" b="0"/>
                <a:pathLst>
                  <a:path w="1507" h="1507">
                    <a:moveTo>
                      <a:pt x="0" y="753"/>
                    </a:moveTo>
                    <a:cubicBezTo>
                      <a:pt x="0" y="337"/>
                      <a:pt x="337" y="0"/>
                      <a:pt x="753" y="0"/>
                    </a:cubicBezTo>
                    <a:cubicBezTo>
                      <a:pt x="1169" y="0"/>
                      <a:pt x="1507" y="337"/>
                      <a:pt x="1507" y="753"/>
                    </a:cubicBezTo>
                    <a:cubicBezTo>
                      <a:pt x="1507" y="1169"/>
                      <a:pt x="1169" y="1507"/>
                      <a:pt x="753" y="1507"/>
                    </a:cubicBezTo>
                    <a:cubicBezTo>
                      <a:pt x="337" y="1507"/>
                      <a:pt x="0" y="1169"/>
                      <a:pt x="0" y="753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4" name="path 444"/>
              <p:cNvSpPr/>
              <p:nvPr/>
            </p:nvSpPr>
            <p:spPr>
              <a:xfrm>
                <a:off x="0" y="0"/>
                <a:ext cx="982471" cy="982472"/>
              </a:xfrm>
              <a:custGeom>
                <a:avLst/>
                <a:gdLst/>
                <a:ahLst/>
                <a:cxnLst/>
                <a:rect l="0" t="0" r="0" b="0"/>
                <a:pathLst>
                  <a:path w="1547" h="1547">
                    <a:moveTo>
                      <a:pt x="20" y="773"/>
                    </a:moveTo>
                    <a:cubicBezTo>
                      <a:pt x="20" y="357"/>
                      <a:pt x="357" y="20"/>
                      <a:pt x="773" y="20"/>
                    </a:cubicBezTo>
                    <a:cubicBezTo>
                      <a:pt x="1189" y="20"/>
                      <a:pt x="1527" y="357"/>
                      <a:pt x="1527" y="773"/>
                    </a:cubicBezTo>
                    <a:cubicBezTo>
                      <a:pt x="1527" y="1189"/>
                      <a:pt x="1189" y="1527"/>
                      <a:pt x="773" y="1527"/>
                    </a:cubicBezTo>
                    <a:cubicBezTo>
                      <a:pt x="357" y="1527"/>
                      <a:pt x="20" y="1189"/>
                      <a:pt x="20" y="773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6" name="textbox 446"/>
            <p:cNvSpPr/>
            <p:nvPr/>
          </p:nvSpPr>
          <p:spPr>
            <a:xfrm>
              <a:off x="-12700" y="-12700"/>
              <a:ext cx="1008380" cy="10109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7965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5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弹性的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8200517" y="1992503"/>
            <a:ext cx="982471" cy="982471"/>
            <a:chOff x="0" y="0"/>
            <a:chExt cx="982471" cy="982471"/>
          </a:xfrm>
        </p:grpSpPr>
        <p:grpSp>
          <p:nvGrpSpPr>
            <p:cNvPr id="84" name="group 84"/>
            <p:cNvGrpSpPr/>
            <p:nvPr/>
          </p:nvGrpSpPr>
          <p:grpSpPr>
            <a:xfrm rot="21600000">
              <a:off x="0" y="0"/>
              <a:ext cx="982471" cy="982471"/>
              <a:chOff x="0" y="0"/>
              <a:chExt cx="982471" cy="982471"/>
            </a:xfrm>
          </p:grpSpPr>
          <p:sp>
            <p:nvSpPr>
              <p:cNvPr id="448" name="path 448"/>
              <p:cNvSpPr/>
              <p:nvPr/>
            </p:nvSpPr>
            <p:spPr>
              <a:xfrm>
                <a:off x="12700" y="12700"/>
                <a:ext cx="957071" cy="957071"/>
              </a:xfrm>
              <a:custGeom>
                <a:avLst/>
                <a:gdLst/>
                <a:ahLst/>
                <a:cxnLst/>
                <a:rect l="0" t="0" r="0" b="0"/>
                <a:pathLst>
                  <a:path w="1507" h="1507">
                    <a:moveTo>
                      <a:pt x="0" y="753"/>
                    </a:moveTo>
                    <a:cubicBezTo>
                      <a:pt x="0" y="337"/>
                      <a:pt x="337" y="0"/>
                      <a:pt x="753" y="0"/>
                    </a:cubicBezTo>
                    <a:cubicBezTo>
                      <a:pt x="1169" y="0"/>
                      <a:pt x="1507" y="337"/>
                      <a:pt x="1507" y="753"/>
                    </a:cubicBezTo>
                    <a:cubicBezTo>
                      <a:pt x="1507" y="1169"/>
                      <a:pt x="1169" y="1507"/>
                      <a:pt x="753" y="1507"/>
                    </a:cubicBezTo>
                    <a:cubicBezTo>
                      <a:pt x="337" y="1507"/>
                      <a:pt x="0" y="1169"/>
                      <a:pt x="0" y="753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0" name="path 450"/>
              <p:cNvSpPr/>
              <p:nvPr/>
            </p:nvSpPr>
            <p:spPr>
              <a:xfrm>
                <a:off x="0" y="0"/>
                <a:ext cx="982471" cy="982471"/>
              </a:xfrm>
              <a:custGeom>
                <a:avLst/>
                <a:gdLst/>
                <a:ahLst/>
                <a:cxnLst/>
                <a:rect l="0" t="0" r="0" b="0"/>
                <a:pathLst>
                  <a:path w="1547" h="1547">
                    <a:moveTo>
                      <a:pt x="20" y="773"/>
                    </a:moveTo>
                    <a:cubicBezTo>
                      <a:pt x="20" y="357"/>
                      <a:pt x="357" y="20"/>
                      <a:pt x="773" y="20"/>
                    </a:cubicBezTo>
                    <a:cubicBezTo>
                      <a:pt x="1189" y="20"/>
                      <a:pt x="1527" y="357"/>
                      <a:pt x="1527" y="773"/>
                    </a:cubicBezTo>
                    <a:cubicBezTo>
                      <a:pt x="1527" y="1189"/>
                      <a:pt x="1189" y="1527"/>
                      <a:pt x="773" y="1527"/>
                    </a:cubicBezTo>
                    <a:cubicBezTo>
                      <a:pt x="357" y="1527"/>
                      <a:pt x="20" y="1189"/>
                      <a:pt x="20" y="773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2" name="textbox 452"/>
            <p:cNvSpPr/>
            <p:nvPr/>
          </p:nvSpPr>
          <p:spPr>
            <a:xfrm>
              <a:off x="-12700" y="-12700"/>
              <a:ext cx="1008380" cy="10083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6060" algn="l" rtl="0" eaLnBrk="0">
                <a:lnSpc>
                  <a:spcPct val="85000"/>
                </a:lnSpc>
              </a:pPr>
              <a:r>
                <a:rPr sz="1500" kern="0" spc="-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有分区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426085" algn="l" rtl="0" eaLnBrk="0">
                <a:lnSpc>
                  <a:spcPts val="1950"/>
                </a:lnSpc>
              </a:pPr>
              <a:r>
                <a:rPr sz="1500" kern="0" spc="-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 rot="21600000">
            <a:off x="9650603" y="3442589"/>
            <a:ext cx="982471" cy="982471"/>
            <a:chOff x="0" y="0"/>
            <a:chExt cx="982471" cy="982471"/>
          </a:xfrm>
        </p:grpSpPr>
        <p:grpSp>
          <p:nvGrpSpPr>
            <p:cNvPr id="88" name="group 88"/>
            <p:cNvGrpSpPr/>
            <p:nvPr/>
          </p:nvGrpSpPr>
          <p:grpSpPr>
            <a:xfrm rot="21600000">
              <a:off x="0" y="0"/>
              <a:ext cx="982471" cy="982471"/>
              <a:chOff x="0" y="0"/>
              <a:chExt cx="982471" cy="982471"/>
            </a:xfrm>
          </p:grpSpPr>
          <p:sp>
            <p:nvSpPr>
              <p:cNvPr id="454" name="path 454"/>
              <p:cNvSpPr/>
              <p:nvPr/>
            </p:nvSpPr>
            <p:spPr>
              <a:xfrm>
                <a:off x="12700" y="12700"/>
                <a:ext cx="957071" cy="957071"/>
              </a:xfrm>
              <a:custGeom>
                <a:avLst/>
                <a:gdLst/>
                <a:ahLst/>
                <a:cxnLst/>
                <a:rect l="0" t="0" r="0" b="0"/>
                <a:pathLst>
                  <a:path w="1507" h="1507">
                    <a:moveTo>
                      <a:pt x="0" y="753"/>
                    </a:moveTo>
                    <a:cubicBezTo>
                      <a:pt x="0" y="337"/>
                      <a:pt x="337" y="0"/>
                      <a:pt x="753" y="0"/>
                    </a:cubicBezTo>
                    <a:cubicBezTo>
                      <a:pt x="1169" y="0"/>
                      <a:pt x="1507" y="337"/>
                      <a:pt x="1507" y="753"/>
                    </a:cubicBezTo>
                    <a:cubicBezTo>
                      <a:pt x="1507" y="1169"/>
                      <a:pt x="1169" y="1507"/>
                      <a:pt x="753" y="1507"/>
                    </a:cubicBezTo>
                    <a:cubicBezTo>
                      <a:pt x="337" y="1507"/>
                      <a:pt x="0" y="1169"/>
                      <a:pt x="0" y="753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6" name="path 456"/>
              <p:cNvSpPr/>
              <p:nvPr/>
            </p:nvSpPr>
            <p:spPr>
              <a:xfrm>
                <a:off x="0" y="0"/>
                <a:ext cx="982471" cy="982471"/>
              </a:xfrm>
              <a:custGeom>
                <a:avLst/>
                <a:gdLst/>
                <a:ahLst/>
                <a:cxnLst/>
                <a:rect l="0" t="0" r="0" b="0"/>
                <a:pathLst>
                  <a:path w="1547" h="1547">
                    <a:moveTo>
                      <a:pt x="20" y="773"/>
                    </a:moveTo>
                    <a:cubicBezTo>
                      <a:pt x="20" y="357"/>
                      <a:pt x="357" y="20"/>
                      <a:pt x="773" y="20"/>
                    </a:cubicBezTo>
                    <a:cubicBezTo>
                      <a:pt x="1189" y="20"/>
                      <a:pt x="1527" y="357"/>
                      <a:pt x="1527" y="773"/>
                    </a:cubicBezTo>
                    <a:cubicBezTo>
                      <a:pt x="1527" y="1189"/>
                      <a:pt x="1189" y="1527"/>
                      <a:pt x="773" y="1527"/>
                    </a:cubicBezTo>
                    <a:cubicBezTo>
                      <a:pt x="357" y="1527"/>
                      <a:pt x="20" y="1189"/>
                      <a:pt x="20" y="773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8" name="textbox 458"/>
            <p:cNvSpPr/>
            <p:nvPr/>
          </p:nvSpPr>
          <p:spPr>
            <a:xfrm>
              <a:off x="-12700" y="-12700"/>
              <a:ext cx="1008380" cy="10083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9870" algn="l" rtl="0" eaLnBrk="0">
                <a:lnSpc>
                  <a:spcPct val="85000"/>
                </a:lnSpc>
              </a:pPr>
              <a:r>
                <a:rPr sz="15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分布式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426085" algn="l" rtl="0" eaLnBrk="0">
                <a:lnSpc>
                  <a:spcPts val="1950"/>
                </a:lnSpc>
              </a:pPr>
              <a:r>
                <a:rPr sz="1500" kern="0" spc="-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 rot="21600000">
            <a:off x="6750431" y="3442589"/>
            <a:ext cx="982471" cy="982471"/>
            <a:chOff x="0" y="0"/>
            <a:chExt cx="982471" cy="982471"/>
          </a:xfrm>
        </p:grpSpPr>
        <p:grpSp>
          <p:nvGrpSpPr>
            <p:cNvPr id="92" name="group 92"/>
            <p:cNvGrpSpPr/>
            <p:nvPr/>
          </p:nvGrpSpPr>
          <p:grpSpPr>
            <a:xfrm rot="21600000">
              <a:off x="0" y="0"/>
              <a:ext cx="982471" cy="982471"/>
              <a:chOff x="0" y="0"/>
              <a:chExt cx="982471" cy="982471"/>
            </a:xfrm>
          </p:grpSpPr>
          <p:sp>
            <p:nvSpPr>
              <p:cNvPr id="460" name="path 460"/>
              <p:cNvSpPr/>
              <p:nvPr/>
            </p:nvSpPr>
            <p:spPr>
              <a:xfrm>
                <a:off x="12700" y="12700"/>
                <a:ext cx="957071" cy="957071"/>
              </a:xfrm>
              <a:custGeom>
                <a:avLst/>
                <a:gdLst/>
                <a:ahLst/>
                <a:cxnLst/>
                <a:rect l="0" t="0" r="0" b="0"/>
                <a:pathLst>
                  <a:path w="1507" h="1507">
                    <a:moveTo>
                      <a:pt x="0" y="753"/>
                    </a:moveTo>
                    <a:cubicBezTo>
                      <a:pt x="0" y="337"/>
                      <a:pt x="337" y="0"/>
                      <a:pt x="753" y="0"/>
                    </a:cubicBezTo>
                    <a:cubicBezTo>
                      <a:pt x="1169" y="0"/>
                      <a:pt x="1507" y="337"/>
                      <a:pt x="1507" y="753"/>
                    </a:cubicBezTo>
                    <a:cubicBezTo>
                      <a:pt x="1507" y="1169"/>
                      <a:pt x="1169" y="1507"/>
                      <a:pt x="753" y="1507"/>
                    </a:cubicBezTo>
                    <a:cubicBezTo>
                      <a:pt x="337" y="1507"/>
                      <a:pt x="0" y="1169"/>
                      <a:pt x="0" y="753"/>
                    </a:cubicBezTo>
                  </a:path>
                </a:pathLst>
              </a:custGeom>
              <a:solidFill>
                <a:srgbClr val="4F81B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2" name="path 462"/>
              <p:cNvSpPr/>
              <p:nvPr/>
            </p:nvSpPr>
            <p:spPr>
              <a:xfrm>
                <a:off x="0" y="0"/>
                <a:ext cx="982471" cy="982471"/>
              </a:xfrm>
              <a:custGeom>
                <a:avLst/>
                <a:gdLst/>
                <a:ahLst/>
                <a:cxnLst/>
                <a:rect l="0" t="0" r="0" b="0"/>
                <a:pathLst>
                  <a:path w="1547" h="1547">
                    <a:moveTo>
                      <a:pt x="20" y="773"/>
                    </a:moveTo>
                    <a:cubicBezTo>
                      <a:pt x="20" y="357"/>
                      <a:pt x="357" y="20"/>
                      <a:pt x="773" y="20"/>
                    </a:cubicBezTo>
                    <a:cubicBezTo>
                      <a:pt x="1189" y="20"/>
                      <a:pt x="1527" y="357"/>
                      <a:pt x="1527" y="773"/>
                    </a:cubicBezTo>
                    <a:cubicBezTo>
                      <a:pt x="1527" y="1189"/>
                      <a:pt x="1189" y="1527"/>
                      <a:pt x="773" y="1527"/>
                    </a:cubicBezTo>
                    <a:cubicBezTo>
                      <a:pt x="357" y="1527"/>
                      <a:pt x="20" y="1189"/>
                      <a:pt x="20" y="773"/>
                    </a:cubicBez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4" name="textbox 464"/>
            <p:cNvSpPr/>
            <p:nvPr/>
          </p:nvSpPr>
          <p:spPr>
            <a:xfrm>
              <a:off x="-12700" y="-12700"/>
              <a:ext cx="1008380" cy="10083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3840" algn="l" rtl="0" eaLnBrk="0">
                <a:lnSpc>
                  <a:spcPct val="91000"/>
                </a:lnSpc>
              </a:pPr>
              <a:r>
                <a:rPr sz="1300" b="1" kern="0" spc="60" dirty="0">
                  <a:solidFill>
                    <a:srgbClr val="C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存储二</a:t>
              </a:r>
              <a:endParaRPr sz="1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40665" algn="l" rtl="0" eaLnBrk="0">
                <a:lnSpc>
                  <a:spcPts val="1815"/>
                </a:lnSpc>
              </a:pPr>
              <a:r>
                <a:rPr sz="1300" b="1" kern="0" spc="70" dirty="0">
                  <a:solidFill>
                    <a:srgbClr val="C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维表结</a:t>
              </a:r>
              <a:endParaRPr sz="1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0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003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1300" b="1" kern="0" spc="70" dirty="0">
                  <a:solidFill>
                    <a:srgbClr val="C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构数据</a:t>
              </a:r>
              <a:endParaRPr sz="1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466" name="textbox 466"/>
          <p:cNvSpPr/>
          <p:nvPr/>
        </p:nvSpPr>
        <p:spPr>
          <a:xfrm>
            <a:off x="928507" y="1154175"/>
            <a:ext cx="213995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DataFrame概述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4" name="group 9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472" name="path 47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4" name="path 47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76" name="rect 47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8" name="rect 47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box 480"/>
          <p:cNvSpPr/>
          <p:nvPr/>
        </p:nvSpPr>
        <p:spPr>
          <a:xfrm>
            <a:off x="918210" y="1154430"/>
            <a:ext cx="6637020" cy="3409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DataFrame概述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400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假定有如下数据集</a:t>
            </a:r>
            <a:endParaRPr sz="1300" kern="0" spc="90" dirty="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  <a:spcBef>
                <a:spcPts val="400"/>
              </a:spcBef>
            </a:pPr>
            <a:r>
              <a:rPr lang="en-US" sz="3600" kern="0" spc="-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</a:t>
            </a:r>
            <a:r>
              <a:rPr sz="3600" kern="0" spc="-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</a:t>
            </a:r>
            <a:r>
              <a:rPr sz="36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189730" algn="l" rtl="0" eaLnBrk="0">
              <a:lnSpc>
                <a:spcPct val="88000"/>
              </a:lnSpc>
              <a:spcBef>
                <a:spcPts val="870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按二维表格存储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r>
              <a:rPr lang="en-US" sz="3600" kern="0" spc="-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</a:t>
            </a:r>
            <a:r>
              <a:rPr sz="3600" kern="0" spc="-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89730" algn="l" rtl="0" eaLnBrk="0">
              <a:lnSpc>
                <a:spcPct val="89000"/>
              </a:lnSpc>
              <a:spcBef>
                <a:spcPts val="5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按数组对象存储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82" name="table 482"/>
          <p:cNvGraphicFramePr>
            <a:graphicFrameLocks noGrp="1"/>
          </p:cNvGraphicFramePr>
          <p:nvPr/>
        </p:nvGraphicFramePr>
        <p:xfrm>
          <a:off x="7884032" y="1880234"/>
          <a:ext cx="4071619" cy="1437640"/>
        </p:xfrm>
        <a:graphic>
          <a:graphicData uri="http://schemas.openxmlformats.org/drawingml/2006/table">
            <a:tbl>
              <a:tblPr/>
              <a:tblGrid>
                <a:gridCol w="4071619"/>
              </a:tblGrid>
              <a:tr h="1428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84" name="picture 4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893557" y="1889759"/>
            <a:ext cx="4053077" cy="1418843"/>
          </a:xfrm>
          <a:prstGeom prst="rect">
            <a:avLst/>
          </a:prstGeom>
        </p:spPr>
      </p:pic>
      <p:graphicFrame>
        <p:nvGraphicFramePr>
          <p:cNvPr id="486" name="table 486"/>
          <p:cNvGraphicFramePr>
            <a:graphicFrameLocks noGrp="1"/>
          </p:cNvGraphicFramePr>
          <p:nvPr/>
        </p:nvGraphicFramePr>
        <p:xfrm>
          <a:off x="7884032" y="3594734"/>
          <a:ext cx="3343275" cy="1164589"/>
        </p:xfrm>
        <a:graphic>
          <a:graphicData uri="http://schemas.openxmlformats.org/drawingml/2006/table">
            <a:tbl>
              <a:tblPr/>
              <a:tblGrid>
                <a:gridCol w="3343275"/>
              </a:tblGrid>
              <a:tr h="11550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88" name="picture 4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93557" y="3604260"/>
            <a:ext cx="3321151" cy="1146047"/>
          </a:xfrm>
          <a:prstGeom prst="rect">
            <a:avLst/>
          </a:prstGeom>
        </p:spPr>
      </p:pic>
      <p:pic>
        <p:nvPicPr>
          <p:cNvPr id="490" name="picture 4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7438" y="2283714"/>
            <a:ext cx="2654795" cy="1320533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494" name="textbox 494"/>
          <p:cNvSpPr/>
          <p:nvPr/>
        </p:nvSpPr>
        <p:spPr>
          <a:xfrm>
            <a:off x="3894709" y="5228628"/>
            <a:ext cx="3475354" cy="713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是按照二维表格的形式存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储数据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则是存储对象本身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6" name="textbox 49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00" name="picture 5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502" name="textbox 50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96" name="group 9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504" name="path 50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6" name="path 50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08" name="rect 50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0" name="rect 51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table 512"/>
          <p:cNvGraphicFramePr>
            <a:graphicFrameLocks noGrp="1"/>
          </p:cNvGraphicFramePr>
          <p:nvPr/>
        </p:nvGraphicFramePr>
        <p:xfrm>
          <a:off x="4060316" y="2539364"/>
          <a:ext cx="4070985" cy="1437639"/>
        </p:xfrm>
        <a:graphic>
          <a:graphicData uri="http://schemas.openxmlformats.org/drawingml/2006/table">
            <a:tbl>
              <a:tblPr/>
              <a:tblGrid>
                <a:gridCol w="4070985"/>
              </a:tblGrid>
              <a:tr h="14281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14" name="picture 5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069841" y="2548890"/>
            <a:ext cx="4052315" cy="1418844"/>
          </a:xfrm>
          <a:prstGeom prst="rect">
            <a:avLst/>
          </a:prstGeom>
        </p:spPr>
      </p:pic>
      <p:grpSp>
        <p:nvGrpSpPr>
          <p:cNvPr id="98" name="group 98"/>
          <p:cNvGrpSpPr/>
          <p:nvPr/>
        </p:nvGrpSpPr>
        <p:grpSpPr>
          <a:xfrm rot="21600000">
            <a:off x="1019683" y="3791711"/>
            <a:ext cx="1068832" cy="966942"/>
            <a:chOff x="0" y="0"/>
            <a:chExt cx="1068832" cy="966942"/>
          </a:xfrm>
        </p:grpSpPr>
        <p:sp>
          <p:nvSpPr>
            <p:cNvPr id="516" name="path 516"/>
            <p:cNvSpPr/>
            <p:nvPr/>
          </p:nvSpPr>
          <p:spPr>
            <a:xfrm>
              <a:off x="0" y="0"/>
              <a:ext cx="1068832" cy="966942"/>
            </a:xfrm>
            <a:custGeom>
              <a:avLst/>
              <a:gdLst/>
              <a:ahLst/>
              <a:cxnLst/>
              <a:rect l="0" t="0" r="0" b="0"/>
              <a:pathLst>
                <a:path w="1683" h="1522">
                  <a:moveTo>
                    <a:pt x="1673" y="0"/>
                  </a:moveTo>
                  <a:lnTo>
                    <a:pt x="1673" y="1097"/>
                  </a:lnTo>
                  <a:lnTo>
                    <a:pt x="841" y="1513"/>
                  </a:lnTo>
                  <a:lnTo>
                    <a:pt x="10" y="1097"/>
                  </a:lnTo>
                  <a:lnTo>
                    <a:pt x="10" y="0"/>
                  </a:lnTo>
                </a:path>
              </a:pathLst>
            </a:custGeom>
            <a:noFill/>
            <a:ln w="12700" cap="flat">
              <a:solidFill>
                <a:srgbClr val="515151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18" name="path 518"/>
            <p:cNvSpPr/>
            <p:nvPr/>
          </p:nvSpPr>
          <p:spPr>
            <a:xfrm>
              <a:off x="199516" y="419100"/>
              <a:ext cx="257555" cy="298704"/>
            </a:xfrm>
            <a:custGeom>
              <a:avLst/>
              <a:gdLst/>
              <a:ahLst/>
              <a:cxnLst/>
              <a:rect l="0" t="0" r="0" b="0"/>
              <a:pathLst>
                <a:path w="405" h="470">
                  <a:moveTo>
                    <a:pt x="202" y="0"/>
                  </a:moveTo>
                  <a:lnTo>
                    <a:pt x="405" y="101"/>
                  </a:lnTo>
                  <a:lnTo>
                    <a:pt x="405" y="368"/>
                  </a:lnTo>
                  <a:lnTo>
                    <a:pt x="202" y="470"/>
                  </a:lnTo>
                  <a:lnTo>
                    <a:pt x="0" y="368"/>
                  </a:lnTo>
                  <a:lnTo>
                    <a:pt x="0" y="101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0" name="group 100"/>
          <p:cNvGrpSpPr/>
          <p:nvPr/>
        </p:nvGrpSpPr>
        <p:grpSpPr>
          <a:xfrm rot="21600000">
            <a:off x="1023193" y="2441447"/>
            <a:ext cx="2328081" cy="2058924"/>
            <a:chOff x="0" y="0"/>
            <a:chExt cx="2328081" cy="2058924"/>
          </a:xfrm>
        </p:grpSpPr>
        <p:grpSp>
          <p:nvGrpSpPr>
            <p:cNvPr id="102" name="group 102"/>
            <p:cNvGrpSpPr/>
            <p:nvPr/>
          </p:nvGrpSpPr>
          <p:grpSpPr>
            <a:xfrm rot="21600000">
              <a:off x="0" y="0"/>
              <a:ext cx="2328081" cy="2058924"/>
              <a:chOff x="0" y="0"/>
              <a:chExt cx="2328081" cy="2058924"/>
            </a:xfrm>
          </p:grpSpPr>
          <p:sp>
            <p:nvSpPr>
              <p:cNvPr id="520" name="path 520"/>
              <p:cNvSpPr/>
              <p:nvPr/>
            </p:nvSpPr>
            <p:spPr>
              <a:xfrm>
                <a:off x="0" y="1080551"/>
                <a:ext cx="1061811" cy="275392"/>
              </a:xfrm>
              <a:custGeom>
                <a:avLst/>
                <a:gdLst/>
                <a:ahLst/>
                <a:cxnLst/>
                <a:rect l="0" t="0" r="0" b="0"/>
                <a:pathLst>
                  <a:path w="1672" h="433">
                    <a:moveTo>
                      <a:pt x="836" y="8"/>
                    </a:moveTo>
                    <a:lnTo>
                      <a:pt x="1667" y="424"/>
                    </a:lnTo>
                    <a:moveTo>
                      <a:pt x="4" y="424"/>
                    </a:moveTo>
                    <a:lnTo>
                      <a:pt x="836" y="8"/>
                    </a:lnTo>
                  </a:path>
                </a:pathLst>
              </a:custGeom>
              <a:noFill/>
              <a:ln w="12700" cap="flat">
                <a:solidFill>
                  <a:srgbClr val="515151"/>
                </a:solidFill>
                <a:prstDash val="dash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2" name="path 522"/>
              <p:cNvSpPr/>
              <p:nvPr/>
            </p:nvSpPr>
            <p:spPr>
              <a:xfrm>
                <a:off x="595293" y="57150"/>
                <a:ext cx="1675637" cy="1944624"/>
              </a:xfrm>
              <a:custGeom>
                <a:avLst/>
                <a:gdLst/>
                <a:ahLst/>
                <a:cxnLst/>
                <a:rect l="0" t="0" r="0" b="0"/>
                <a:pathLst>
                  <a:path w="2638" h="3062">
                    <a:moveTo>
                      <a:pt x="1319" y="0"/>
                    </a:moveTo>
                    <a:lnTo>
                      <a:pt x="2638" y="659"/>
                    </a:lnTo>
                    <a:lnTo>
                      <a:pt x="2638" y="2402"/>
                    </a:lnTo>
                    <a:lnTo>
                      <a:pt x="1319" y="3062"/>
                    </a:lnTo>
                    <a:lnTo>
                      <a:pt x="0" y="2402"/>
                    </a:lnTo>
                    <a:lnTo>
                      <a:pt x="0" y="659"/>
                    </a:lnTo>
                    <a:lnTo>
                      <a:pt x="1319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4" name="path 524"/>
              <p:cNvSpPr/>
              <p:nvPr/>
            </p:nvSpPr>
            <p:spPr>
              <a:xfrm>
                <a:off x="538143" y="0"/>
                <a:ext cx="1789937" cy="2058924"/>
              </a:xfrm>
              <a:custGeom>
                <a:avLst/>
                <a:gdLst/>
                <a:ahLst/>
                <a:cxnLst/>
                <a:rect l="0" t="0" r="0" b="0"/>
                <a:pathLst>
                  <a:path w="2818" h="3242">
                    <a:moveTo>
                      <a:pt x="1409" y="90"/>
                    </a:moveTo>
                    <a:lnTo>
                      <a:pt x="2728" y="749"/>
                    </a:lnTo>
                    <a:lnTo>
                      <a:pt x="2728" y="2492"/>
                    </a:lnTo>
                    <a:lnTo>
                      <a:pt x="1409" y="3152"/>
                    </a:lnTo>
                    <a:lnTo>
                      <a:pt x="90" y="2492"/>
                    </a:lnTo>
                    <a:lnTo>
                      <a:pt x="90" y="749"/>
                    </a:lnTo>
                    <a:lnTo>
                      <a:pt x="1409" y="90"/>
                    </a:lnTo>
                    <a:close/>
                  </a:path>
                </a:pathLst>
              </a:custGeom>
              <a:noFill/>
              <a:ln w="114300" cap="flat">
                <a:solidFill>
                  <a:srgbClr val="AD2B2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6" name="textbox 526"/>
            <p:cNvSpPr/>
            <p:nvPr/>
          </p:nvSpPr>
          <p:spPr>
            <a:xfrm>
              <a:off x="-12700" y="-12700"/>
              <a:ext cx="2353945" cy="2124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66470" algn="l" rtl="0" eaLnBrk="0">
                <a:lnSpc>
                  <a:spcPct val="85000"/>
                </a:lnSpc>
              </a:pPr>
              <a:r>
                <a:rPr sz="40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思考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528" name="table 528"/>
          <p:cNvGraphicFramePr>
            <a:graphicFrameLocks noGrp="1"/>
          </p:cNvGraphicFramePr>
          <p:nvPr/>
        </p:nvGraphicFramePr>
        <p:xfrm>
          <a:off x="8566022" y="2675001"/>
          <a:ext cx="3343275" cy="1165860"/>
        </p:xfrm>
        <a:graphic>
          <a:graphicData uri="http://schemas.openxmlformats.org/drawingml/2006/table">
            <a:tbl>
              <a:tblPr/>
              <a:tblGrid>
                <a:gridCol w="3343275"/>
              </a:tblGrid>
              <a:tr h="11563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30" name="picture 5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75547" y="2684526"/>
            <a:ext cx="3321151" cy="1146809"/>
          </a:xfrm>
          <a:prstGeom prst="rect">
            <a:avLst/>
          </a:prstGeom>
        </p:spPr>
      </p:pic>
      <p:pic>
        <p:nvPicPr>
          <p:cNvPr id="532" name="picture 5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534" name="textbox 53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38" name="picture 5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540" name="textbox 54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42" name="path 542"/>
          <p:cNvSpPr/>
          <p:nvPr/>
        </p:nvSpPr>
        <p:spPr>
          <a:xfrm>
            <a:off x="1249680" y="1760982"/>
            <a:ext cx="736853" cy="854964"/>
          </a:xfrm>
          <a:custGeom>
            <a:avLst/>
            <a:gdLst/>
            <a:ahLst/>
            <a:cxnLst/>
            <a:rect l="0" t="0" r="0" b="0"/>
            <a:pathLst>
              <a:path w="1160" h="1346">
                <a:moveTo>
                  <a:pt x="580" y="0"/>
                </a:moveTo>
                <a:lnTo>
                  <a:pt x="1160" y="290"/>
                </a:lnTo>
                <a:lnTo>
                  <a:pt x="1160" y="1056"/>
                </a:lnTo>
                <a:lnTo>
                  <a:pt x="580" y="1346"/>
                </a:lnTo>
                <a:lnTo>
                  <a:pt x="0" y="1056"/>
                </a:lnTo>
                <a:lnTo>
                  <a:pt x="0" y="290"/>
                </a:lnTo>
                <a:lnTo>
                  <a:pt x="580" y="0"/>
                </a:lnTo>
                <a:close/>
              </a:path>
            </a:pathLst>
          </a:custGeom>
          <a:solidFill>
            <a:srgbClr val="F2F2F2">
              <a:alpha val="7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4" name="textbox 544"/>
          <p:cNvSpPr/>
          <p:nvPr/>
        </p:nvSpPr>
        <p:spPr>
          <a:xfrm>
            <a:off x="7065492" y="4320235"/>
            <a:ext cx="2621279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谁更适合用SQL进行处理？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6" name="path 546"/>
          <p:cNvSpPr/>
          <p:nvPr/>
        </p:nvSpPr>
        <p:spPr>
          <a:xfrm>
            <a:off x="3672077" y="4443465"/>
            <a:ext cx="507492" cy="583204"/>
          </a:xfrm>
          <a:custGeom>
            <a:avLst/>
            <a:gdLst/>
            <a:ahLst/>
            <a:cxnLst/>
            <a:rect l="0" t="0" r="0" b="0"/>
            <a:pathLst>
              <a:path w="799" h="918">
                <a:moveTo>
                  <a:pt x="399" y="13"/>
                </a:moveTo>
                <a:lnTo>
                  <a:pt x="784" y="205"/>
                </a:lnTo>
                <a:lnTo>
                  <a:pt x="784" y="712"/>
                </a:lnTo>
                <a:lnTo>
                  <a:pt x="399" y="905"/>
                </a:lnTo>
                <a:lnTo>
                  <a:pt x="15" y="712"/>
                </a:lnTo>
                <a:lnTo>
                  <a:pt x="15" y="205"/>
                </a:lnTo>
                <a:lnTo>
                  <a:pt x="399" y="13"/>
                </a:lnTo>
                <a:close/>
              </a:path>
            </a:pathLst>
          </a:custGeom>
          <a:noFill/>
          <a:ln w="19050" cap="flat">
            <a:solidFill>
              <a:srgbClr val="AD2B26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8" name="path 548"/>
          <p:cNvSpPr/>
          <p:nvPr/>
        </p:nvSpPr>
        <p:spPr>
          <a:xfrm>
            <a:off x="3332988" y="2215134"/>
            <a:ext cx="488442" cy="566927"/>
          </a:xfrm>
          <a:custGeom>
            <a:avLst/>
            <a:gdLst/>
            <a:ahLst/>
            <a:cxnLst/>
            <a:rect l="0" t="0" r="0" b="0"/>
            <a:pathLst>
              <a:path w="769" h="892">
                <a:moveTo>
                  <a:pt x="384" y="0"/>
                </a:moveTo>
                <a:lnTo>
                  <a:pt x="769" y="192"/>
                </a:lnTo>
                <a:lnTo>
                  <a:pt x="769" y="700"/>
                </a:lnTo>
                <a:lnTo>
                  <a:pt x="384" y="892"/>
                </a:lnTo>
                <a:lnTo>
                  <a:pt x="0" y="700"/>
                </a:lnTo>
                <a:lnTo>
                  <a:pt x="0" y="192"/>
                </a:lnTo>
                <a:lnTo>
                  <a:pt x="384" y="0"/>
                </a:lnTo>
                <a:close/>
              </a:path>
            </a:pathLst>
          </a:custGeom>
          <a:solidFill>
            <a:srgbClr val="AD2B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4" name="group 10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550" name="path 55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2" name="path 55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54" name="rect 55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6" name="rect 55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textbox 558"/>
          <p:cNvSpPr/>
          <p:nvPr/>
        </p:nvSpPr>
        <p:spPr>
          <a:xfrm>
            <a:off x="871992" y="848739"/>
            <a:ext cx="6181090" cy="2903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 SparkSession对象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7155" algn="l" rtl="0" eaLnBrk="0">
              <a:lnSpc>
                <a:spcPct val="99000"/>
              </a:lnSpc>
              <a:spcBef>
                <a:spcPts val="390"/>
              </a:spcBef>
            </a:pP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阶段，程序的执行入口对象是：  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SparkContext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7155" algn="l" rtl="0" eaLnBrk="0">
              <a:lnSpc>
                <a:spcPts val="1805"/>
              </a:lnSpc>
              <a:spcBef>
                <a:spcPts val="400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2.0后，推出了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对象，</a:t>
            </a:r>
            <a:r>
              <a:rPr sz="1300" kern="0" spc="-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编码的统一入口对象。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6045" algn="l" rtl="0" eaLnBrk="0">
              <a:lnSpc>
                <a:spcPct val="99000"/>
              </a:lnSpc>
              <a:spcBef>
                <a:spcPts val="39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对象可以：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8585" algn="l" rtl="0" eaLnBrk="0">
              <a:lnSpc>
                <a:spcPct val="99000"/>
              </a:lnSpc>
              <a:spcBef>
                <a:spcPts val="470"/>
              </a:spcBef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用于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编程作为入口对象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8585" algn="l" rtl="0" eaLnBrk="0">
              <a:lnSpc>
                <a:spcPct val="99000"/>
              </a:lnSpc>
              <a:spcBef>
                <a:spcPts val="470"/>
              </a:spcBef>
            </a:pP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用于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SparkCore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编程，可以通过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对象中获取到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SparkContext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520" algn="l" rtl="0" eaLnBrk="0">
              <a:lnSpc>
                <a:spcPct val="99000"/>
              </a:lnSpc>
              <a:spcBef>
                <a:spcPts val="0"/>
              </a:spcBef>
            </a:pPr>
            <a:r>
              <a:rPr sz="1300" kern="0" spc="1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所以，后续的代码，执行环境入口对象，统一变更为</a:t>
            </a:r>
            <a:r>
              <a:rPr sz="1300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1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0" name="rect 560"/>
          <p:cNvSpPr/>
          <p:nvPr/>
        </p:nvSpPr>
        <p:spPr>
          <a:xfrm>
            <a:off x="6851142" y="4341878"/>
            <a:ext cx="1863090" cy="671322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2" name="rect 562"/>
          <p:cNvSpPr/>
          <p:nvPr/>
        </p:nvSpPr>
        <p:spPr>
          <a:xfrm>
            <a:off x="5801105" y="5244848"/>
            <a:ext cx="1863089" cy="67132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4" name="rect 564"/>
          <p:cNvSpPr/>
          <p:nvPr/>
        </p:nvSpPr>
        <p:spPr>
          <a:xfrm>
            <a:off x="7972044" y="5244848"/>
            <a:ext cx="1863090" cy="67132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6" name="path 566"/>
          <p:cNvSpPr/>
          <p:nvPr/>
        </p:nvSpPr>
        <p:spPr>
          <a:xfrm>
            <a:off x="6744327" y="5007359"/>
            <a:ext cx="2148097" cy="241038"/>
          </a:xfrm>
          <a:custGeom>
            <a:avLst/>
            <a:gdLst/>
            <a:ahLst/>
            <a:cxnLst/>
            <a:rect l="0" t="0" r="0" b="0"/>
            <a:pathLst>
              <a:path w="3382" h="379">
                <a:moveTo>
                  <a:pt x="1635" y="9"/>
                </a:moveTo>
                <a:lnTo>
                  <a:pt x="2" y="369"/>
                </a:lnTo>
                <a:moveTo>
                  <a:pt x="1635" y="9"/>
                </a:moveTo>
                <a:lnTo>
                  <a:pt x="3380" y="369"/>
                </a:lnTo>
              </a:path>
            </a:pathLst>
          </a:custGeom>
          <a:noFill/>
          <a:ln w="12700" cap="flat">
            <a:solidFill>
              <a:srgbClr val="4A7EB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8" name="textbox 568"/>
          <p:cNvSpPr/>
          <p:nvPr/>
        </p:nvSpPr>
        <p:spPr>
          <a:xfrm>
            <a:off x="5788405" y="4586223"/>
            <a:ext cx="4059554" cy="1130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62355" algn="l" rtl="0" eaLnBrk="0">
              <a:lnSpc>
                <a:spcPct val="72000"/>
              </a:lnSpc>
              <a:tabLst>
                <a:tab pos="1397000" algn="l"/>
              </a:tabLst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SparkSession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  </a:t>
            </a:r>
            <a:endParaRPr sz="1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50595" algn="l" rtl="0" eaLnBrk="0">
              <a:lnSpc>
                <a:spcPts val="795"/>
              </a:lnSpc>
              <a:spcBef>
                <a:spcPts val="400"/>
              </a:spcBef>
            </a:pPr>
            <a:r>
              <a:rPr sz="1300" kern="0" spc="-10" dirty="0">
                <a:solidFill>
                  <a:srgbClr val="4A7EB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300" kern="0" spc="10" dirty="0">
                <a:solidFill>
                  <a:srgbClr val="4A7EB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</a:t>
            </a:r>
            <a:r>
              <a:rPr sz="1300" kern="0" spc="0" dirty="0">
                <a:solidFill>
                  <a:srgbClr val="4A7EB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</a:t>
            </a:r>
            <a:r>
              <a:rPr sz="1300" kern="0" spc="-10" dirty="0">
                <a:solidFill>
                  <a:srgbClr val="4A7EB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532130" algn="l"/>
              </a:tabLst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RDD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编程</a:t>
            </a:r>
            <a:r>
              <a:rPr sz="1800" kern="0" spc="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SparkSQL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编程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70" name="picture 5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572" name="textbox 57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74" name="textbox 574"/>
          <p:cNvSpPr/>
          <p:nvPr/>
        </p:nvSpPr>
        <p:spPr>
          <a:xfrm>
            <a:off x="1549908" y="4341878"/>
            <a:ext cx="1863089" cy="67183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9405" algn="l" rtl="0" eaLnBrk="0">
              <a:lnSpc>
                <a:spcPct val="72000"/>
              </a:lnSpc>
              <a:spcBef>
                <a:spcPts val="5"/>
              </a:spcBef>
            </a:pP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SparkContext</a:t>
            </a:r>
            <a:endParaRPr sz="1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76" name="textbox 576"/>
          <p:cNvSpPr/>
          <p:nvPr/>
        </p:nvSpPr>
        <p:spPr>
          <a:xfrm>
            <a:off x="1549908" y="5244848"/>
            <a:ext cx="1863089" cy="67183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8795" algn="l" rtl="0" eaLnBrk="0">
              <a:lnSpc>
                <a:spcPct val="86000"/>
              </a:lnSpc>
              <a:spcBef>
                <a:spcPts val="5"/>
              </a:spcBef>
            </a:pP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RDD</a:t>
            </a:r>
            <a:r>
              <a:rPr sz="1800" kern="0" spc="-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编程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0" name="picture 5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582" name="textbox 58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84" name="path 584"/>
          <p:cNvSpPr/>
          <p:nvPr/>
        </p:nvSpPr>
        <p:spPr>
          <a:xfrm>
            <a:off x="4292345" y="4962905"/>
            <a:ext cx="1201673" cy="331469"/>
          </a:xfrm>
          <a:custGeom>
            <a:avLst/>
            <a:gdLst/>
            <a:ahLst/>
            <a:cxnLst/>
            <a:rect l="0" t="0" r="0" b="0"/>
            <a:pathLst>
              <a:path w="1892" h="521">
                <a:moveTo>
                  <a:pt x="0" y="130"/>
                </a:moveTo>
                <a:lnTo>
                  <a:pt x="1631" y="130"/>
                </a:lnTo>
                <a:lnTo>
                  <a:pt x="1631" y="0"/>
                </a:lnTo>
                <a:lnTo>
                  <a:pt x="1892" y="260"/>
                </a:lnTo>
                <a:lnTo>
                  <a:pt x="1631" y="521"/>
                </a:lnTo>
                <a:lnTo>
                  <a:pt x="1631" y="391"/>
                </a:lnTo>
                <a:lnTo>
                  <a:pt x="0" y="391"/>
                </a:lnTo>
                <a:lnTo>
                  <a:pt x="0" y="13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6" name="group 10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586" name="path 58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8" name="path 58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90" name="rect 59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2" name="rect 59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4" name="textbox 594"/>
          <p:cNvSpPr/>
          <p:nvPr/>
        </p:nvSpPr>
        <p:spPr>
          <a:xfrm>
            <a:off x="2418719" y="5136897"/>
            <a:ext cx="127000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00"/>
              </a:lnSpc>
            </a:pPr>
            <a:r>
              <a:rPr sz="900" kern="0" spc="190" dirty="0">
                <a:solidFill>
                  <a:srgbClr val="4A7EB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6" name="table 596"/>
          <p:cNvGraphicFramePr>
            <a:graphicFrameLocks noGrp="1"/>
          </p:cNvGraphicFramePr>
          <p:nvPr/>
        </p:nvGraphicFramePr>
        <p:xfrm>
          <a:off x="854900" y="2190686"/>
          <a:ext cx="5430520" cy="3326129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430520"/>
              </a:tblGrid>
              <a:tr h="3322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coding:ut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f8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885" indent="-635" algn="l" rtl="0" eaLnBrk="0">
                        <a:lnSpc>
                          <a:spcPct val="128000"/>
                        </a:lnSpc>
                        <a:spcBef>
                          <a:spcPts val="31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SparkSQL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中的入口对象是S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parkSession对象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pyspark.sql im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port SparkSession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235" algn="l" rtl="0" eaLnBrk="0">
                        <a:lnSpc>
                          <a:spcPts val="1295"/>
                        </a:lnSpc>
                        <a:spcBef>
                          <a:spcPts val="3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__name__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'__ma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in__':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65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构建SparkSession对象, 这个对象是 构建器模式 通过builder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方法来构建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09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10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SparkSession.builder.\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322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</a:t>
                      </a:r>
                      <a:r>
                        <a:rPr lang="en-US"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spark_app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").\</a:t>
                      </a:r>
                      <a:endParaRPr sz="10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3225" algn="l" rtl="0" eaLnBrk="0">
                        <a:lnSpc>
                          <a:spcPts val="1800"/>
                        </a:lnSpc>
                      </a:pPr>
                      <a:r>
                        <a:rPr lang="en-US" sz="1000" kern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master</a:t>
                      </a:r>
                      <a:r>
                        <a:rPr sz="1000" kern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("local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[*]").\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38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config("spark.sql.shuffle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.partitions",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"4").\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3860" algn="l" rtl="0" eaLnBrk="0">
                        <a:lnSpc>
                          <a:spcPct val="88000"/>
                        </a:lnSpc>
                        <a:spcBef>
                          <a:spcPts val="77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015" algn="l" rtl="0" eaLnBrk="0">
                        <a:lnSpc>
                          <a:spcPts val="1295"/>
                        </a:lnSpc>
                        <a:spcBef>
                          <a:spcPts val="48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appName 设置程序名称, config设置一些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常用属性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015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最后通过getOrCreate()方法 创建SparkSess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ion对象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598" name="textbox 598"/>
          <p:cNvSpPr/>
          <p:nvPr/>
        </p:nvSpPr>
        <p:spPr>
          <a:xfrm>
            <a:off x="871992" y="848739"/>
            <a:ext cx="4581525" cy="1216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 SparkSession对象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ct val="98000"/>
              </a:lnSpc>
              <a:spcBef>
                <a:spcPts val="1440"/>
              </a:spcBef>
            </a:pPr>
            <a:r>
              <a:rPr sz="1300" kern="0" spc="10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现在，来体验一下构建执行环境入口对象： </a:t>
            </a:r>
            <a:r>
              <a:rPr sz="1300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8105" algn="l" rtl="0" eaLnBrk="0">
              <a:lnSpc>
                <a:spcPts val="4030"/>
              </a:lnSpc>
            </a:pPr>
            <a:r>
              <a:rPr sz="1300" kern="0" spc="19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sz="1300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19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核心代码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0" name="picture 6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602" name="textbox 60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606" name="picture 6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608" name="textbox 60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08" name="group 10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610" name="path 61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2" name="path 61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14" name="rect 61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6" name="rect 61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8" name="table 618"/>
          <p:cNvGraphicFramePr>
            <a:graphicFrameLocks noGrp="1"/>
          </p:cNvGraphicFramePr>
          <p:nvPr/>
        </p:nvGraphicFramePr>
        <p:xfrm>
          <a:off x="5461952" y="2170874"/>
          <a:ext cx="5430519" cy="4133850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430519"/>
              </a:tblGrid>
              <a:tr h="4130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ts val="905"/>
                        </a:lnSpc>
                        <a:spcBef>
                          <a:spcPts val="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coding: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utf8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indent="-635" algn="l" rtl="0" eaLnBrk="0">
                        <a:lnSpc>
                          <a:spcPct val="128000"/>
                        </a:lnSpc>
                        <a:spcBef>
                          <a:spcPts val="3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SparkSQL 中的入口对象是SparkSes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sion对象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                                           from pyspark.sql import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SparkSession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905"/>
                        </a:lnSpc>
                        <a:spcBef>
                          <a:spcPts val="365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__name__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'__main__'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740" indent="-3175" algn="l" rtl="0" eaLnBrk="0">
                        <a:lnSpc>
                          <a:spcPct val="129000"/>
                        </a:lnSpc>
                        <a:spcBef>
                          <a:spcPts val="34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构建SparkSession对象, 这个对象是 构建器模式 通过builder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方法来构建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spark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SparkSe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ssion.builder.\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2420" algn="l" rtl="0" eaLnBrk="0">
                        <a:lnSpc>
                          <a:spcPts val="905"/>
                        </a:lnSpc>
                        <a:spcBef>
                          <a:spcPts val="3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appName("local[*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]").\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305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config("spark.sql.shuffle.p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artitions",</a:t>
                      </a: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"4").\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3055" algn="l" rtl="0" eaLnBrk="0">
                        <a:lnSpc>
                          <a:spcPct val="88000"/>
                        </a:lnSpc>
                        <a:spcBef>
                          <a:spcPts val="540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2565" algn="l" rtl="0" eaLnBrk="0">
                        <a:lnSpc>
                          <a:spcPts val="905"/>
                        </a:lnSpc>
                        <a:spcBef>
                          <a:spcPts val="33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appName 设置程序名称, config设置一些常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用属性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256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最后通过getOrCreate()方法 创建SparkSess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ion对象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21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spark.read.csv('../data/sql/stu_score.txt'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 sep=',', header=False)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105" algn="l" rtl="0" eaLnBrk="0">
                        <a:lnSpc>
                          <a:spcPts val="1260"/>
                        </a:lnSpc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df2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df.toDF('id',</a:t>
                      </a: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'name',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'score')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df2.printS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df2.show()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df2.createTempView(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"score")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2565" algn="l" rtl="0" eaLnBrk="0">
                        <a:lnSpc>
                          <a:spcPts val="905"/>
                        </a:lnSpc>
                        <a:spcBef>
                          <a:spcPts val="210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 风格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740" algn="l" rtl="0" eaLnBrk="0">
                        <a:lnSpc>
                          <a:spcPts val="1260"/>
                        </a:lnSpc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spark.sql("""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369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 *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score WHERE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name='语文'</a:t>
                      </a: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LIMIT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018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""").show(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2565" algn="l" rtl="0" eaLnBrk="0">
                        <a:lnSpc>
                          <a:spcPts val="905"/>
                        </a:lnSpc>
                        <a:spcBef>
                          <a:spcPts val="210"/>
                        </a:spcBef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DSL 风格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df2.where("name='语文'").li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mit(5).show()</a:t>
                      </a:r>
                      <a:endParaRPr sz="9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620" name="textbox 620"/>
          <p:cNvSpPr/>
          <p:nvPr/>
        </p:nvSpPr>
        <p:spPr>
          <a:xfrm>
            <a:off x="961717" y="4534751"/>
            <a:ext cx="3322954" cy="144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3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数据集文件：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</a:t>
            </a:r>
            <a:r>
              <a:rPr lang="en-US"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lang="en-US"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</a:t>
            </a:r>
            <a:r>
              <a:rPr sz="13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r>
              <a:rPr sz="13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txt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4300" indent="635" algn="l" rtl="0" eaLnBrk="0">
              <a:lnSpc>
                <a:spcPct val="127000"/>
              </a:lnSpc>
              <a:spcBef>
                <a:spcPts val="0"/>
              </a:spcBef>
            </a:pPr>
            <a:r>
              <a:rPr sz="1300" kern="0" spc="5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注意：右侧代码不需要练习，</a:t>
            </a:r>
            <a:r>
              <a:rPr sz="1300" kern="0" spc="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只是</a:t>
            </a:r>
            <a:r>
              <a:rPr sz="1300" kern="0" spc="1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先体验一下</a:t>
            </a:r>
            <a:r>
              <a:rPr sz="1300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的数据处理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2" name="textbox 622"/>
          <p:cNvSpPr/>
          <p:nvPr/>
        </p:nvSpPr>
        <p:spPr>
          <a:xfrm>
            <a:off x="5401310" y="1376045"/>
            <a:ext cx="5450840" cy="937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indent="635" algn="l" rtl="0" eaLnBrk="0">
              <a:lnSpc>
                <a:spcPct val="111000"/>
              </a:lnSpc>
            </a:pP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需求：读取文件，找出学科为“语文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”的数据，并限制输出5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ts val="1805"/>
              </a:lnSpc>
              <a:spcBef>
                <a:spcPts val="24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subject</a:t>
            </a:r>
            <a:r>
              <a:rPr sz="1300" kern="0" spc="2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sz="13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'语文'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limit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8000"/>
              </a:lnSpc>
              <a:spcBef>
                <a:spcPts val="305"/>
              </a:spcBef>
            </a:pPr>
            <a:r>
              <a:rPr sz="1300" kern="0" spc="-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代码如下：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4" name="picture 6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81634" y="1739646"/>
            <a:ext cx="1257299" cy="2412491"/>
          </a:xfrm>
          <a:prstGeom prst="rect">
            <a:avLst/>
          </a:prstGeom>
        </p:spPr>
      </p:pic>
      <p:pic>
        <p:nvPicPr>
          <p:cNvPr id="626" name="picture 6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628" name="textbox 62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32" name="textbox 632"/>
          <p:cNvSpPr/>
          <p:nvPr/>
        </p:nvSpPr>
        <p:spPr>
          <a:xfrm>
            <a:off x="871992" y="848739"/>
            <a:ext cx="344360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2.6 SparkSQL</a:t>
            </a:r>
            <a:r>
              <a:rPr sz="1800" b="1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lloWorld 演示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34" name="picture 6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636" name="textbox 636"/>
          <p:cNvSpPr/>
          <p:nvPr/>
        </p:nvSpPr>
        <p:spPr>
          <a:xfrm>
            <a:off x="861565" y="1376257"/>
            <a:ext cx="336677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05"/>
              </a:lnSpc>
            </a:pP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有如下数据集：列1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，列2学科，</a:t>
            </a:r>
            <a:r>
              <a:rPr sz="1300" kern="0" spc="-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列3分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8" name="textbox 63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10" name="group 11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640" name="path 64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2" name="path 64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44" name="rect 64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6" name="rect 64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box 648"/>
          <p:cNvSpPr/>
          <p:nvPr/>
        </p:nvSpPr>
        <p:spPr>
          <a:xfrm>
            <a:off x="5206743" y="1441853"/>
            <a:ext cx="5589270" cy="4688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5600" indent="-326390" algn="l" rtl="0" eaLnBrk="0">
              <a:lnSpc>
                <a:spcPct val="165000"/>
              </a:lnSpc>
            </a:pP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和</a:t>
            </a:r>
            <a:r>
              <a:rPr sz="13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同样，都是用于大规模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分布式计算的计算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架，均可以运行在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YARN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上，在企业中广泛被应用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0840" indent="-349885" algn="l" rtl="0" eaLnBrk="0">
              <a:lnSpc>
                <a:spcPct val="165000"/>
              </a:lnSpc>
              <a:spcBef>
                <a:spcPts val="400"/>
              </a:spcBef>
            </a:pP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的数据抽象为：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SchemaRDD</a:t>
            </a: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（废弃）、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R、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Scala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Scala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5600" indent="-332105" algn="l" rtl="0" eaLnBrk="0">
              <a:lnSpc>
                <a:spcPct val="181000"/>
              </a:lnSpc>
              <a:spcBef>
                <a:spcPts val="395"/>
              </a:spcBef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同样是分布式数据集，有分区可以并行计算，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同的是，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中存储的数据结构是以表格形式组织的，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方便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5600" indent="-342900" algn="l" rtl="0" eaLnBrk="0">
              <a:lnSpc>
                <a:spcPct val="165000"/>
              </a:lnSpc>
              <a:spcBef>
                <a:spcPts val="400"/>
              </a:spcBef>
            </a:pP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基本相同，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不同的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支持泛型特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性，可以让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Scala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语言更好的利用到。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4490" indent="-338455" algn="l" rtl="0" eaLnBrk="0">
              <a:lnSpc>
                <a:spcPct val="164000"/>
              </a:lnSpc>
              <a:spcBef>
                <a:spcPts val="0"/>
              </a:spcBef>
            </a:pP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是2.0后</a:t>
            </a:r>
            <a:r>
              <a:rPr lang="zh-CN"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出的新执行环境入口对象，可以用于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等编程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2" name="group 112"/>
          <p:cNvGrpSpPr/>
          <p:nvPr/>
        </p:nvGrpSpPr>
        <p:grpSpPr>
          <a:xfrm rot="21600000">
            <a:off x="710946" y="1928622"/>
            <a:ext cx="3594226" cy="3043300"/>
            <a:chOff x="0" y="0"/>
            <a:chExt cx="3594226" cy="3043300"/>
          </a:xfrm>
        </p:grpSpPr>
        <p:grpSp>
          <p:nvGrpSpPr>
            <p:cNvPr id="114" name="group 114"/>
            <p:cNvGrpSpPr/>
            <p:nvPr/>
          </p:nvGrpSpPr>
          <p:grpSpPr>
            <a:xfrm rot="21600000">
              <a:off x="0" y="0"/>
              <a:ext cx="3594226" cy="3043300"/>
              <a:chOff x="0" y="0"/>
              <a:chExt cx="3594226" cy="3043300"/>
            </a:xfrm>
          </p:grpSpPr>
          <p:sp>
            <p:nvSpPr>
              <p:cNvPr id="650" name="path 650"/>
              <p:cNvSpPr/>
              <p:nvPr/>
            </p:nvSpPr>
            <p:spPr>
              <a:xfrm>
                <a:off x="477900" y="2443098"/>
                <a:ext cx="600963" cy="600202"/>
              </a:xfrm>
              <a:custGeom>
                <a:avLst/>
                <a:gdLst/>
                <a:ahLst/>
                <a:cxnLst/>
                <a:rect l="0" t="0" r="0" b="0"/>
                <a:pathLst>
                  <a:path w="946" h="945">
                    <a:moveTo>
                      <a:pt x="10" y="472"/>
                    </a:moveTo>
                    <a:cubicBezTo>
                      <a:pt x="10" y="217"/>
                      <a:pt x="217" y="10"/>
                      <a:pt x="473" y="10"/>
                    </a:cubicBezTo>
                    <a:cubicBezTo>
                      <a:pt x="729" y="10"/>
                      <a:pt x="936" y="217"/>
                      <a:pt x="936" y="472"/>
                    </a:cubicBezTo>
                    <a:cubicBezTo>
                      <a:pt x="936" y="728"/>
                      <a:pt x="729" y="935"/>
                      <a:pt x="473" y="935"/>
                    </a:cubicBezTo>
                    <a:cubicBezTo>
                      <a:pt x="217" y="935"/>
                      <a:pt x="10" y="728"/>
                      <a:pt x="10" y="472"/>
                    </a:cubicBezTo>
                  </a:path>
                </a:pathLst>
              </a:custGeom>
              <a:noFill/>
              <a:ln w="12700" cap="flat">
                <a:solidFill>
                  <a:srgbClr val="BFBFB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2" name="path 652"/>
              <p:cNvSpPr/>
              <p:nvPr/>
            </p:nvSpPr>
            <p:spPr>
              <a:xfrm>
                <a:off x="2097785" y="1855469"/>
                <a:ext cx="926591" cy="927353"/>
              </a:xfrm>
              <a:custGeom>
                <a:avLst/>
                <a:gdLst/>
                <a:ahLst/>
                <a:cxnLst/>
                <a:rect l="0" t="0" r="0" b="0"/>
                <a:pathLst>
                  <a:path w="1459" h="1460">
                    <a:moveTo>
                      <a:pt x="0" y="730"/>
                    </a:moveTo>
                    <a:cubicBezTo>
                      <a:pt x="0" y="326"/>
                      <a:pt x="326" y="0"/>
                      <a:pt x="729" y="0"/>
                    </a:cubicBezTo>
                    <a:cubicBezTo>
                      <a:pt x="1132" y="0"/>
                      <a:pt x="1459" y="326"/>
                      <a:pt x="1459" y="730"/>
                    </a:cubicBezTo>
                    <a:cubicBezTo>
                      <a:pt x="1459" y="1133"/>
                      <a:pt x="1132" y="1460"/>
                      <a:pt x="729" y="1460"/>
                    </a:cubicBezTo>
                    <a:cubicBezTo>
                      <a:pt x="326" y="1460"/>
                      <a:pt x="0" y="1133"/>
                      <a:pt x="0" y="730"/>
                    </a:cubicBezTo>
                  </a:path>
                </a:pathLst>
              </a:custGeom>
              <a:solidFill>
                <a:srgbClr val="515151">
                  <a:alpha val="63137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4" name="path 654"/>
              <p:cNvSpPr/>
              <p:nvPr/>
            </p:nvSpPr>
            <p:spPr>
              <a:xfrm>
                <a:off x="1990470" y="443610"/>
                <a:ext cx="1603755" cy="1602993"/>
              </a:xfrm>
              <a:custGeom>
                <a:avLst/>
                <a:gdLst/>
                <a:ahLst/>
                <a:cxnLst/>
                <a:rect l="0" t="0" r="0" b="0"/>
                <a:pathLst>
                  <a:path w="2525" h="2524">
                    <a:moveTo>
                      <a:pt x="10" y="1262"/>
                    </a:moveTo>
                    <a:cubicBezTo>
                      <a:pt x="10" y="570"/>
                      <a:pt x="570" y="10"/>
                      <a:pt x="1262" y="10"/>
                    </a:cubicBezTo>
                    <a:cubicBezTo>
                      <a:pt x="1954" y="10"/>
                      <a:pt x="2515" y="570"/>
                      <a:pt x="2515" y="1262"/>
                    </a:cubicBezTo>
                    <a:cubicBezTo>
                      <a:pt x="2515" y="1953"/>
                      <a:pt x="1954" y="2514"/>
                      <a:pt x="1262" y="2514"/>
                    </a:cubicBezTo>
                    <a:cubicBezTo>
                      <a:pt x="570" y="2514"/>
                      <a:pt x="10" y="1953"/>
                      <a:pt x="10" y="1262"/>
                    </a:cubicBezTo>
                  </a:path>
                </a:pathLst>
              </a:custGeom>
              <a:noFill/>
              <a:ln w="12700" cap="flat">
                <a:solidFill>
                  <a:srgbClr val="515151"/>
                </a:solidFill>
                <a:prstDash val="dash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6" name="path 656"/>
              <p:cNvSpPr/>
              <p:nvPr/>
            </p:nvSpPr>
            <p:spPr>
              <a:xfrm>
                <a:off x="778001" y="624839"/>
                <a:ext cx="1924811" cy="1895856"/>
              </a:xfrm>
              <a:custGeom>
                <a:avLst/>
                <a:gdLst/>
                <a:ahLst/>
                <a:cxnLst/>
                <a:rect l="0" t="0" r="0" b="0"/>
                <a:pathLst>
                  <a:path w="3031" h="2985">
                    <a:moveTo>
                      <a:pt x="0" y="1492"/>
                    </a:moveTo>
                    <a:cubicBezTo>
                      <a:pt x="0" y="668"/>
                      <a:pt x="678" y="0"/>
                      <a:pt x="1515" y="0"/>
                    </a:cubicBezTo>
                    <a:cubicBezTo>
                      <a:pt x="2352" y="0"/>
                      <a:pt x="3031" y="668"/>
                      <a:pt x="3031" y="1492"/>
                    </a:cubicBezTo>
                    <a:cubicBezTo>
                      <a:pt x="3031" y="2317"/>
                      <a:pt x="2352" y="2985"/>
                      <a:pt x="1515" y="2985"/>
                    </a:cubicBezTo>
                    <a:cubicBezTo>
                      <a:pt x="678" y="2985"/>
                      <a:pt x="0" y="2317"/>
                      <a:pt x="0" y="1492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8" name="path 658"/>
              <p:cNvSpPr/>
              <p:nvPr/>
            </p:nvSpPr>
            <p:spPr>
              <a:xfrm>
                <a:off x="720851" y="567689"/>
                <a:ext cx="2039111" cy="2010156"/>
              </a:xfrm>
              <a:custGeom>
                <a:avLst/>
                <a:gdLst/>
                <a:ahLst/>
                <a:cxnLst/>
                <a:rect l="0" t="0" r="0" b="0"/>
                <a:pathLst>
                  <a:path w="3211" h="3165">
                    <a:moveTo>
                      <a:pt x="90" y="1582"/>
                    </a:moveTo>
                    <a:cubicBezTo>
                      <a:pt x="90" y="758"/>
                      <a:pt x="768" y="90"/>
                      <a:pt x="1605" y="90"/>
                    </a:cubicBezTo>
                    <a:cubicBezTo>
                      <a:pt x="2442" y="90"/>
                      <a:pt x="3121" y="758"/>
                      <a:pt x="3121" y="1582"/>
                    </a:cubicBezTo>
                    <a:cubicBezTo>
                      <a:pt x="3121" y="2407"/>
                      <a:pt x="2442" y="3075"/>
                      <a:pt x="1605" y="3075"/>
                    </a:cubicBezTo>
                    <a:cubicBezTo>
                      <a:pt x="768" y="3075"/>
                      <a:pt x="90" y="2407"/>
                      <a:pt x="90" y="1582"/>
                    </a:cubicBezTo>
                  </a:path>
                </a:pathLst>
              </a:custGeom>
              <a:noFill/>
              <a:ln w="114300" cap="flat">
                <a:solidFill>
                  <a:srgbClr val="AD2B2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0" name="path 660"/>
              <p:cNvSpPr/>
              <p:nvPr/>
            </p:nvSpPr>
            <p:spPr>
              <a:xfrm>
                <a:off x="0" y="0"/>
                <a:ext cx="803909" cy="804671"/>
              </a:xfrm>
              <a:custGeom>
                <a:avLst/>
                <a:gdLst/>
                <a:ahLst/>
                <a:cxnLst/>
                <a:rect l="0" t="0" r="0" b="0"/>
                <a:pathLst>
                  <a:path w="1265" h="1267">
                    <a:moveTo>
                      <a:pt x="0" y="633"/>
                    </a:moveTo>
                    <a:cubicBezTo>
                      <a:pt x="0" y="283"/>
                      <a:pt x="283" y="0"/>
                      <a:pt x="633" y="0"/>
                    </a:cubicBezTo>
                    <a:cubicBezTo>
                      <a:pt x="982" y="0"/>
                      <a:pt x="1265" y="283"/>
                      <a:pt x="1265" y="633"/>
                    </a:cubicBezTo>
                    <a:cubicBezTo>
                      <a:pt x="1265" y="983"/>
                      <a:pt x="982" y="1267"/>
                      <a:pt x="633" y="1267"/>
                    </a:cubicBezTo>
                    <a:cubicBezTo>
                      <a:pt x="283" y="1267"/>
                      <a:pt x="0" y="983"/>
                      <a:pt x="0" y="633"/>
                    </a:cubicBezTo>
                  </a:path>
                </a:pathLst>
              </a:custGeom>
              <a:solidFill>
                <a:srgbClr val="F2F2F2">
                  <a:alpha val="70196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2" name="path 662"/>
              <p:cNvSpPr/>
              <p:nvPr/>
            </p:nvSpPr>
            <p:spPr>
              <a:xfrm>
                <a:off x="2393441" y="106679"/>
                <a:ext cx="313943" cy="313944"/>
              </a:xfrm>
              <a:custGeom>
                <a:avLst/>
                <a:gdLst/>
                <a:ahLst/>
                <a:cxnLst/>
                <a:rect l="0" t="0" r="0" b="0"/>
                <a:pathLst>
                  <a:path w="494" h="494">
                    <a:moveTo>
                      <a:pt x="0" y="247"/>
                    </a:moveTo>
                    <a:cubicBezTo>
                      <a:pt x="0" y="110"/>
                      <a:pt x="110" y="0"/>
                      <a:pt x="247" y="0"/>
                    </a:cubicBezTo>
                    <a:cubicBezTo>
                      <a:pt x="383" y="0"/>
                      <a:pt x="494" y="110"/>
                      <a:pt x="494" y="247"/>
                    </a:cubicBezTo>
                    <a:cubicBezTo>
                      <a:pt x="494" y="383"/>
                      <a:pt x="383" y="494"/>
                      <a:pt x="247" y="494"/>
                    </a:cubicBezTo>
                    <a:cubicBezTo>
                      <a:pt x="110" y="494"/>
                      <a:pt x="0" y="383"/>
                      <a:pt x="0" y="247"/>
                    </a:cubicBezTo>
                  </a:path>
                </a:pathLst>
              </a:custGeom>
              <a:solidFill>
                <a:srgbClr val="49504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64" name="textbox 664"/>
            <p:cNvSpPr/>
            <p:nvPr/>
          </p:nvSpPr>
          <p:spPr>
            <a:xfrm>
              <a:off x="-12700" y="-12700"/>
              <a:ext cx="3620134" cy="3098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2220" algn="l" rtl="0" eaLnBrk="0">
                <a:lnSpc>
                  <a:spcPct val="87000"/>
                </a:lnSpc>
              </a:pPr>
              <a:r>
                <a:rPr sz="40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666" name="picture 6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668" name="textbox 66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672" name="picture 6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674" name="textbox 67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16" name="group 11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676" name="path 67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78" name="path 67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80" name="rect 68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2" name="rect 68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extbox 684"/>
          <p:cNvSpPr/>
          <p:nvPr/>
        </p:nvSpPr>
        <p:spPr>
          <a:xfrm>
            <a:off x="5360035" y="1863090"/>
            <a:ext cx="4945380" cy="4154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" algn="l" rtl="0" eaLnBrk="0">
              <a:lnSpc>
                <a:spcPct val="87000"/>
              </a:lnSpc>
            </a:pPr>
            <a:r>
              <a:rPr sz="31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31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入门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  <a:spcBef>
                <a:spcPts val="360"/>
              </a:spcBef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3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</a:t>
            </a:r>
            <a:r>
              <a:rPr sz="1400" kern="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DataFrame的组成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  <a:spcBef>
                <a:spcPts val="365"/>
              </a:spcBef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400" kern="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  <a:spcBef>
                <a:spcPts val="370"/>
              </a:spcBef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400" kern="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  <a:spcBef>
                <a:spcPts val="365"/>
              </a:spcBef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3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词频统计案例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  <a:spcBef>
                <a:spcPts val="365"/>
              </a:spcBef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4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电影数据分析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  <a:spcBef>
                <a:spcPts val="370"/>
              </a:spcBef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3.6</a:t>
            </a:r>
            <a:r>
              <a:rPr sz="1400" kern="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400" kern="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Shuffle 分区数目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  <a:spcBef>
                <a:spcPts val="365"/>
              </a:spcBef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3.7</a:t>
            </a:r>
            <a:r>
              <a:rPr sz="1400" kern="0" spc="1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 数据清洗API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  <a:spcBef>
                <a:spcPts val="365"/>
              </a:spcBef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3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3.8</a:t>
            </a:r>
            <a:r>
              <a:rPr sz="1400" kern="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DataFrame数据写出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3.9</a:t>
            </a:r>
            <a:r>
              <a:rPr sz="1400" kern="0" spc="1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 通过JDBC读写数据库（MySQL示例）</a:t>
            </a:r>
            <a:endParaRPr sz="1400" kern="0" spc="-20" dirty="0">
              <a:solidFill>
                <a:srgbClr val="59595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8" name="group 118"/>
          <p:cNvGrpSpPr/>
          <p:nvPr/>
        </p:nvGrpSpPr>
        <p:grpSpPr>
          <a:xfrm rot="21600000">
            <a:off x="3596640" y="2338578"/>
            <a:ext cx="1410458" cy="1318260"/>
            <a:chOff x="0" y="0"/>
            <a:chExt cx="1410458" cy="1318260"/>
          </a:xfrm>
        </p:grpSpPr>
        <p:grpSp>
          <p:nvGrpSpPr>
            <p:cNvPr id="120" name="group 120"/>
            <p:cNvGrpSpPr/>
            <p:nvPr/>
          </p:nvGrpSpPr>
          <p:grpSpPr>
            <a:xfrm rot="21600000">
              <a:off x="0" y="0"/>
              <a:ext cx="1410458" cy="1318260"/>
              <a:chOff x="0" y="0"/>
              <a:chExt cx="1410458" cy="1318260"/>
            </a:xfrm>
          </p:grpSpPr>
          <p:sp>
            <p:nvSpPr>
              <p:cNvPr id="686" name="path 686"/>
              <p:cNvSpPr/>
              <p:nvPr/>
            </p:nvSpPr>
            <p:spPr>
              <a:xfrm>
                <a:off x="274315" y="0"/>
                <a:ext cx="1136142" cy="1318260"/>
              </a:xfrm>
              <a:custGeom>
                <a:avLst/>
                <a:gdLst/>
                <a:ahLst/>
                <a:cxnLst/>
                <a:rect l="0" t="0" r="0" b="0"/>
                <a:pathLst>
                  <a:path w="1789" h="2076">
                    <a:moveTo>
                      <a:pt x="894" y="0"/>
                    </a:moveTo>
                    <a:lnTo>
                      <a:pt x="1789" y="447"/>
                    </a:lnTo>
                    <a:lnTo>
                      <a:pt x="1789" y="1628"/>
                    </a:lnTo>
                    <a:lnTo>
                      <a:pt x="894" y="2076"/>
                    </a:lnTo>
                    <a:lnTo>
                      <a:pt x="0" y="1628"/>
                    </a:lnTo>
                    <a:lnTo>
                      <a:pt x="0" y="44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rgbClr val="AD2B2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8" name="path 688"/>
              <p:cNvSpPr/>
              <p:nvPr/>
            </p:nvSpPr>
            <p:spPr>
              <a:xfrm>
                <a:off x="0" y="889253"/>
                <a:ext cx="370331" cy="429005"/>
              </a:xfrm>
              <a:custGeom>
                <a:avLst/>
                <a:gdLst/>
                <a:ahLst/>
                <a:cxnLst/>
                <a:rect l="0" t="0" r="0" b="0"/>
                <a:pathLst>
                  <a:path w="583" h="675">
                    <a:moveTo>
                      <a:pt x="291" y="0"/>
                    </a:moveTo>
                    <a:lnTo>
                      <a:pt x="583" y="145"/>
                    </a:lnTo>
                    <a:lnTo>
                      <a:pt x="583" y="529"/>
                    </a:lnTo>
                    <a:lnTo>
                      <a:pt x="291" y="675"/>
                    </a:lnTo>
                    <a:lnTo>
                      <a:pt x="0" y="529"/>
                    </a:lnTo>
                    <a:lnTo>
                      <a:pt x="0" y="145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90" name="textbox 690"/>
            <p:cNvSpPr/>
            <p:nvPr/>
          </p:nvSpPr>
          <p:spPr>
            <a:xfrm>
              <a:off x="-12700" y="-12700"/>
              <a:ext cx="1436369" cy="1344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7690" algn="l" rtl="0" eaLnBrk="0">
                <a:lnSpc>
                  <a:spcPts val="5280"/>
                </a:lnSpc>
                <a:spcBef>
                  <a:spcPts val="0"/>
                </a:spcBef>
              </a:pPr>
              <a:r>
                <a:rPr sz="4000" b="1" kern="0" spc="-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extbox 692"/>
          <p:cNvSpPr/>
          <p:nvPr/>
        </p:nvSpPr>
        <p:spPr>
          <a:xfrm>
            <a:off x="919356" y="1154175"/>
            <a:ext cx="5008245" cy="3709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的组成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6510" algn="l" rtl="0" eaLnBrk="0">
              <a:lnSpc>
                <a:spcPct val="93000"/>
              </a:lnSpc>
              <a:spcBef>
                <a:spcPts val="490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DataFrame是一个二维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表结构， 那么表格结构就有无法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绕开的三个点：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algn="l" rtl="0" eaLnBrk="0">
              <a:lnSpc>
                <a:spcPct val="81000"/>
              </a:lnSpc>
              <a:spcBef>
                <a:spcPts val="735"/>
              </a:spcBef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algn="l" rtl="0" eaLnBrk="0">
              <a:lnSpc>
                <a:spcPts val="2315"/>
              </a:lnSpc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algn="l" rtl="0" eaLnBrk="0">
              <a:lnSpc>
                <a:spcPct val="87000"/>
              </a:lnSpc>
              <a:spcBef>
                <a:spcPts val="735"/>
              </a:spcBef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表结构描述</a:t>
            </a:r>
            <a:endParaRPr sz="1600" kern="0" spc="-2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algn="l" rtl="0" eaLnBrk="0">
              <a:lnSpc>
                <a:spcPct val="87000"/>
              </a:lnSpc>
              <a:spcBef>
                <a:spcPts val="735"/>
              </a:spcBef>
            </a:pP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algn="l" rtl="0" eaLnBrk="0">
              <a:lnSpc>
                <a:spcPct val="93000"/>
              </a:lnSpc>
              <a:spcBef>
                <a:spcPts val="64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比如，在MySQL中的一张表：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algn="l" rtl="0" eaLnBrk="0">
              <a:lnSpc>
                <a:spcPct val="87000"/>
              </a:lnSpc>
              <a:spcBef>
                <a:spcPts val="515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由许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多行组成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algn="l" rtl="0" eaLnBrk="0">
              <a:lnSpc>
                <a:spcPct val="87000"/>
              </a:lnSpc>
              <a:spcBef>
                <a:spcPts val="63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数据也被分成多个列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4505" indent="-464185" algn="l" rtl="0" eaLnBrk="0">
              <a:lnSpc>
                <a:spcPct val="96000"/>
              </a:lnSpc>
              <a:spcBef>
                <a:spcPts val="5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表也有表结构信息（列、列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名、列类型、列约束等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4" name="textbox 694"/>
          <p:cNvSpPr/>
          <p:nvPr/>
        </p:nvSpPr>
        <p:spPr>
          <a:xfrm>
            <a:off x="6341037" y="2060244"/>
            <a:ext cx="4289425" cy="3553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600" kern="0" spc="-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基于这个前提，</a:t>
            </a:r>
            <a:r>
              <a:rPr sz="1600" kern="0" spc="-3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DataFrame的组成如下：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455"/>
              </a:spcBef>
            </a:pPr>
            <a:r>
              <a:rPr sz="1500" b="1" kern="0" spc="-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在结构层面：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93000"/>
              </a:lnSpc>
              <a:spcBef>
                <a:spcPts val="480"/>
              </a:spcBef>
            </a:pPr>
            <a:r>
              <a:rPr sz="16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StructType对象描述整个DataFrame的表结构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" algn="l" rtl="0" eaLnBrk="0">
              <a:lnSpc>
                <a:spcPct val="87000"/>
              </a:lnSpc>
              <a:spcBef>
                <a:spcPts val="1465"/>
              </a:spcBef>
            </a:pPr>
            <a:r>
              <a:rPr sz="16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StructField对象描述一个列的信息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480"/>
              </a:spcBef>
            </a:pPr>
            <a:r>
              <a:rPr sz="16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在数据层面</a:t>
            </a:r>
            <a:r>
              <a:rPr lang="zh-CN" sz="16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" algn="l" rtl="0" eaLnBrk="0">
              <a:lnSpc>
                <a:spcPct val="87000"/>
              </a:lnSpc>
              <a:spcBef>
                <a:spcPts val="1600"/>
              </a:spcBef>
            </a:pPr>
            <a:r>
              <a:rPr sz="1600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6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Row对象记录一行数据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87000"/>
              </a:lnSpc>
              <a:spcBef>
                <a:spcPts val="5"/>
              </a:spcBef>
            </a:pPr>
            <a:r>
              <a:rPr sz="16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Column对象记</a:t>
            </a:r>
            <a:r>
              <a:rPr sz="16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录一列数据并包含列的信息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6" name="picture 6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698" name="textbox 69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702" name="picture 7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704" name="textbox 70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22" name="group 12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706" name="path 70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08" name="path 70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10" name="rect 71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12" name="rect 71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picture 7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69976" y="1716786"/>
            <a:ext cx="5800331" cy="4866892"/>
          </a:xfrm>
          <a:prstGeom prst="rect">
            <a:avLst/>
          </a:prstGeom>
        </p:spPr>
      </p:pic>
      <p:sp>
        <p:nvSpPr>
          <p:cNvPr id="716" name="textbox 716"/>
          <p:cNvSpPr/>
          <p:nvPr/>
        </p:nvSpPr>
        <p:spPr>
          <a:xfrm>
            <a:off x="6439432" y="3357854"/>
            <a:ext cx="5391150" cy="2957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2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一个StructField记录：列名、</a:t>
            </a:r>
            <a:r>
              <a:rPr sz="12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列类型、列是否运行为空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605" algn="l" rtl="0" eaLnBrk="0">
              <a:lnSpc>
                <a:spcPts val="2585"/>
              </a:lnSpc>
            </a:pPr>
            <a:r>
              <a:rPr sz="12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多个StructF</a:t>
            </a:r>
            <a:r>
              <a:rPr sz="1200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ield组成一个StructType对象。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1125"/>
              </a:spcBef>
            </a:pPr>
            <a:r>
              <a:rPr sz="12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一个StructType对象可以描述一个Data</a:t>
            </a:r>
            <a:r>
              <a:rPr sz="12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Frame：有几个列、每个列的名字和类型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ts val="2025"/>
              </a:lnSpc>
            </a:pPr>
            <a:r>
              <a:rPr sz="12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、每个列是否为空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65"/>
              </a:spcBef>
            </a:pPr>
            <a:r>
              <a:rPr sz="12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同时，一行数据描述为Row对象，如Row(1, 张三,</a:t>
            </a:r>
            <a:r>
              <a:rPr sz="12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sz="12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120"/>
              </a:spcBef>
            </a:pPr>
            <a:r>
              <a:rPr sz="12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一列数据描述为Column对象，Column对象包含一列</a:t>
            </a:r>
            <a:r>
              <a:rPr sz="12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数据和列的信息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93000"/>
              </a:lnSpc>
              <a:spcBef>
                <a:spcPts val="5"/>
              </a:spcBef>
            </a:pPr>
            <a:r>
              <a:rPr sz="12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Row、Column、StructType、StructField的编程在后面编码阶段会接触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18" name="table 718"/>
          <p:cNvGraphicFramePr>
            <a:graphicFrameLocks noGrp="1"/>
          </p:cNvGraphicFramePr>
          <p:nvPr/>
        </p:nvGraphicFramePr>
        <p:xfrm>
          <a:off x="6360795" y="1804796"/>
          <a:ext cx="5746749" cy="1314450"/>
        </p:xfrm>
        <a:graphic>
          <a:graphicData uri="http://schemas.openxmlformats.org/drawingml/2006/table">
            <a:tbl>
              <a:tblPr/>
              <a:tblGrid>
                <a:gridCol w="5746749"/>
              </a:tblGrid>
              <a:tr h="1304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20" name="picture 7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70320" y="1814321"/>
            <a:ext cx="5727953" cy="1295399"/>
          </a:xfrm>
          <a:prstGeom prst="rect">
            <a:avLst/>
          </a:prstGeom>
        </p:spPr>
      </p:pic>
      <p:sp>
        <p:nvSpPr>
          <p:cNvPr id="722" name="textbox 722"/>
          <p:cNvSpPr/>
          <p:nvPr/>
        </p:nvSpPr>
        <p:spPr>
          <a:xfrm>
            <a:off x="934222" y="1154175"/>
            <a:ext cx="8776969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2700" b="1" kern="0" spc="0" baseline="10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</a:t>
            </a:r>
            <a:r>
              <a:rPr sz="1700" b="1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0" baseline="10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DataFrame的组成</a:t>
            </a:r>
            <a:r>
              <a:rPr sz="17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7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</a:t>
            </a:r>
            <a:r>
              <a:rPr sz="1800" kern="0" spc="-10" baseline="380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如图，</a:t>
            </a:r>
            <a:r>
              <a:rPr sz="11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baseline="380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在表结构层面，</a:t>
            </a:r>
            <a:r>
              <a:rPr sz="11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baseline="380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DataFrame的表结构由：</a:t>
            </a:r>
            <a:endParaRPr sz="1800" baseline="38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524500" algn="l" rtl="0" eaLnBrk="0">
              <a:lnSpc>
                <a:spcPct val="93000"/>
              </a:lnSpc>
              <a:spcBef>
                <a:spcPts val="250"/>
              </a:spcBef>
            </a:pPr>
            <a:r>
              <a:rPr sz="1200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StructType</a:t>
            </a:r>
            <a:r>
              <a:rPr sz="12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描述，如下图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24" name="picture 7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726" name="textbox 72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730" name="picture 7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732" name="textbox 73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24" name="group 12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734" name="path 73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6" name="path 73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38" name="rect 73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0" name="rect 74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picture 7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746" name="textbox 74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748" name="table 748"/>
          <p:cNvGraphicFramePr>
            <a:graphicFrameLocks noGrp="1"/>
          </p:cNvGraphicFramePr>
          <p:nvPr/>
        </p:nvGraphicFramePr>
        <p:xfrm>
          <a:off x="6685724" y="949769"/>
          <a:ext cx="5429884" cy="5633720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429884"/>
              </a:tblGrid>
              <a:tr h="56305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ts val="1295"/>
                        </a:lnSpc>
                        <a:spcBef>
                          <a:spcPts val="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coding:ut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f8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演示DataFrame创建的三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种方式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1600" indent="-5715" algn="l" rtl="0" eaLnBrk="0">
                        <a:lnSpc>
                          <a:spcPct val="128000"/>
                        </a:lnSpc>
                        <a:spcBef>
                          <a:spcPts val="51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pyspark.sql im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port SparkSession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__name__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'__ma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in__':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095" algn="l" rtl="0" eaLnBrk="0">
                        <a:lnSpc>
                          <a:spcPts val="1295"/>
                        </a:lnSpc>
                        <a:spcBef>
                          <a:spcPts val="52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10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SparkSession.builder.\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322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appName("create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83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master("lo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cal[*]").\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3860" algn="l" rtl="0" eaLnBrk="0">
                        <a:lnSpc>
                          <a:spcPts val="1795"/>
                        </a:lnSpc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2095" algn="l" rtl="0" eaLnBrk="0">
                        <a:lnSpc>
                          <a:spcPts val="1295"/>
                        </a:lnSpc>
                        <a:spcBef>
                          <a:spcPts val="3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spark.sparkContext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01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首先构建一个RDD  rdd[(nam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e, age),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()]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59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sc.textFile(".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./data/sql/people.txt").\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830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 x.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split(',')).\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83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[x[0],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int(x[1])])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# 需要做类型转换, 因为类型从RDD中探测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650" algn="l" rtl="0" eaLnBrk="0">
                        <a:lnSpc>
                          <a:spcPts val="1295"/>
                        </a:lnSpc>
                        <a:spcBef>
                          <a:spcPts val="3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构建DF方式1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14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spark.createDataFrame(rdd, schema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['name',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'age']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01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打印表结构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14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indent="-3810" algn="l" rtl="0" eaLnBrk="0">
                        <a:lnSpc>
                          <a:spcPct val="132000"/>
                        </a:lnSpc>
                        <a:spcBef>
                          <a:spcPts val="50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打印20行数据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                    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1460" algn="l" rtl="0" eaLnBrk="0">
                        <a:lnSpc>
                          <a:spcPts val="1295"/>
                        </a:lnSpc>
                        <a:spcBef>
                          <a:spcPts val="3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df.createTempVi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ew("ttt")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2095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spark.sql("select * from ttt where age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 30").show()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750" name="textbox 750"/>
          <p:cNvSpPr/>
          <p:nvPr/>
        </p:nvSpPr>
        <p:spPr>
          <a:xfrm>
            <a:off x="934222" y="1154175"/>
            <a:ext cx="4632325" cy="2122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2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基于RDD方式1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indent="14605" algn="l" rtl="0" eaLnBrk="0">
              <a:lnSpc>
                <a:spcPct val="126000"/>
              </a:lnSpc>
              <a:spcBef>
                <a:spcPts val="103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对象可以从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转换而来，</a:t>
            </a:r>
            <a:r>
              <a:rPr sz="13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都是分布式数据集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其实就是转换一下内部存储的结构，  转换为二维表结构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995" algn="l" rtl="0" eaLnBrk="0">
              <a:lnSpc>
                <a:spcPts val="1805"/>
              </a:lnSpc>
              <a:spcBef>
                <a:spcPts val="395"/>
              </a:spcBef>
            </a:pP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方式1：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" algn="l" rtl="0" eaLnBrk="0">
              <a:lnSpc>
                <a:spcPts val="2015"/>
              </a:lnSpc>
            </a:pPr>
            <a:r>
              <a:rPr sz="1300" kern="0" spc="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52" name="table 752"/>
          <p:cNvGraphicFramePr>
            <a:graphicFrameLocks noGrp="1"/>
          </p:cNvGraphicFramePr>
          <p:nvPr/>
        </p:nvGraphicFramePr>
        <p:xfrm>
          <a:off x="928052" y="3431984"/>
          <a:ext cx="5430519" cy="1478914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430519"/>
              </a:tblGrid>
              <a:tr h="1475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首先构建一个RDD  rdd[(nam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e, age),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()]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35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sc.textFile(".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./data/sql/people.txt").\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590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 x.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split(',')).\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59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[x[0],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int(x[1])])    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# 需要做类型转换, 因为类型从RDD中探测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构建DF方式1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spark.createDataFrame(rdd, schema</a:t>
                      </a:r>
                      <a:r>
                        <a:rPr sz="1000" kern="0" spc="1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000" kern="0" spc="10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['name',</a:t>
                      </a:r>
                      <a:r>
                        <a:rPr sz="1000" kern="0" spc="7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'age']</a:t>
                      </a:r>
                      <a:r>
                        <a:rPr sz="1000" kern="0" spc="-2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754" name="textbox 754"/>
          <p:cNvSpPr/>
          <p:nvPr/>
        </p:nvSpPr>
        <p:spPr>
          <a:xfrm>
            <a:off x="487282" y="5225182"/>
            <a:ext cx="6251575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300" kern="0" spc="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createDataFrame</a:t>
            </a:r>
            <a:r>
              <a:rPr sz="1300" kern="0" spc="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方法来将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4040"/>
              </a:lnSpc>
            </a:pP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这里只传入列名称，类型从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中进行推断，</a:t>
            </a:r>
            <a:r>
              <a:rPr sz="1300" kern="0" spc="-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是否允许为空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默认为允许（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6" name="textbox 75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26" name="group 12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760" name="path 76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2" name="path 76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64" name="rect 76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6" name="rect 76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" name="table 768"/>
          <p:cNvGraphicFramePr>
            <a:graphicFrameLocks noGrp="1"/>
          </p:cNvGraphicFramePr>
          <p:nvPr/>
        </p:nvGraphicFramePr>
        <p:xfrm>
          <a:off x="6685724" y="978344"/>
          <a:ext cx="5429884" cy="5495290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429884"/>
              </a:tblGrid>
              <a:tr h="5492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ts val="1160"/>
                        </a:lnSpc>
                        <a:spcBef>
                          <a:spcPts val="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coding: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utf8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indent="-635" algn="l" rtl="0" eaLnBrk="0">
                        <a:lnSpc>
                          <a:spcPct val="12800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需求: 基于StructType的方式构建Dat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aFrame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同样是RDD转DF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pyspark.sql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SparkSession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885" algn="l" rtl="0" eaLnBrk="0">
                        <a:lnSpc>
                          <a:spcPts val="1160"/>
                        </a:lnSpc>
                        <a:spcBef>
                          <a:spcPts val="47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pyspark.sql.types import Str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uctType, StringType,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0965" algn="l" rtl="0" eaLnBrk="0">
                        <a:lnSpc>
                          <a:spcPts val="1620"/>
                        </a:lnSpc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__name__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 '__main__':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2410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arkSession.builder.\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4490" algn="l" rtl="0" eaLnBrk="0">
                        <a:lnSpc>
                          <a:spcPts val="1620"/>
                        </a:lnSpc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appName("create_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df"). 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512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config("spark.sql.shuffle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.partitions",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"4"). 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5125" algn="l" rtl="0" eaLnBrk="0">
                        <a:lnSpc>
                          <a:spcPct val="88000"/>
                        </a:lnSpc>
                        <a:spcBef>
                          <a:spcPts val="695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1775" indent="-3810" algn="l" rtl="0" eaLnBrk="0">
                        <a:lnSpc>
                          <a:spcPct val="128000"/>
                        </a:lnSpc>
                        <a:spcBef>
                          <a:spcPts val="44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SparkSession对象也可以获取 Spar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kContext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spark.sparkContext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27965" algn="l" rtl="0" eaLnBrk="0">
                        <a:lnSpc>
                          <a:spcPts val="1160"/>
                        </a:lnSpc>
                        <a:spcBef>
                          <a:spcPts val="46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创建DF , 首先创建RDD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将RDD转DF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558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sc.textFile("../d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ata/sql/stu_score.txt").\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8935" algn="l" rtl="0" eaLnBrk="0">
                        <a:lnSpc>
                          <a:spcPts val="1620"/>
                        </a:lnSpc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x:x.s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plit(',')).\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893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x:(int(x[0]),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x[1], int(x[2])))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2796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StructType 类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1775" indent="-3810" algn="l" rtl="0" eaLnBrk="0">
                        <a:lnSpc>
                          <a:spcPct val="12800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这个类 可以定义整个DataFrame中的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StructType().\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4490" algn="l" rtl="0" eaLnBrk="0">
                        <a:lnSpc>
                          <a:spcPts val="1160"/>
                        </a:lnSpc>
                        <a:spcBef>
                          <a:spcPts val="47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add("id",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IntegerType(),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nullable=False).\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4490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add("name", StringType(), nulla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ble=True).\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4490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add("score",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e(), nullable=False)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2796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一个add方法 定义一个列的信息, 如果有3个列, 就写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三个add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1140" indent="-3175" algn="l" rtl="0" eaLnBrk="0">
                        <a:lnSpc>
                          <a:spcPct val="128000"/>
                        </a:lnSpc>
                        <a:spcBef>
                          <a:spcPts val="47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add方法: 参数1: 列名称, 参数2: 列类型, 参数3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 是否允许为空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spark.creat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eDataFrame(rdd, schema)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1775" algn="l" rtl="0" eaLnBrk="0">
                        <a:lnSpc>
                          <a:spcPts val="1160"/>
                        </a:lnSpc>
                        <a:spcBef>
                          <a:spcPts val="46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1775" algn="l" rtl="0" eaLnBrk="0">
                        <a:lnSpc>
                          <a:spcPts val="1160"/>
                        </a:lnSpc>
                        <a:spcBef>
                          <a:spcPts val="0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0" name="table 770"/>
          <p:cNvGraphicFramePr>
            <a:graphicFrameLocks noGrp="1"/>
          </p:cNvGraphicFramePr>
          <p:nvPr/>
        </p:nvGraphicFramePr>
        <p:xfrm>
          <a:off x="928052" y="2661602"/>
          <a:ext cx="5628640" cy="3556000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628640"/>
              </a:tblGrid>
              <a:tr h="3552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创建DF , 首先创建RDD 将R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DD转DF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35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sc.textFile("../d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ata/sql/stu_score.txt").\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590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x:x.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split(',')).\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59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x:(int(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x[0]), x[1],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int(x[2])))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3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StructTy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pe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695" indent="-4445" algn="l" rtl="0" eaLnBrk="0">
                        <a:lnSpc>
                          <a:spcPct val="128000"/>
                        </a:lnSpc>
                        <a:spcBef>
                          <a:spcPts val="51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这个类 可以定义整个DataFrame中的Sc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hema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1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StructType().\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algn="l" rtl="0" eaLnBrk="0">
                        <a:lnSpc>
                          <a:spcPts val="1295"/>
                        </a:lnSpc>
                        <a:spcBef>
                          <a:spcPts val="52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add("id",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IntegerType(),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nullable=False).\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add("name", StringType(), nullab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le=True).\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add("score",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e(), nullable=False)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一个add方法 定义一个列的信息, 如果有3个列, 就写三个add, 每一个add代表一个Struc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tField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add方法: 参数1: 列名称, 参数2: 列类型, 参数3: 是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否允许为空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spark.create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DataFrame(rdd, schema)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772" name="textbox 772"/>
          <p:cNvSpPr/>
          <p:nvPr/>
        </p:nvSpPr>
        <p:spPr>
          <a:xfrm>
            <a:off x="934222" y="1154175"/>
            <a:ext cx="4632325" cy="1283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2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基于RDD方式2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995" algn="l" rtl="0" eaLnBrk="0">
              <a:lnSpc>
                <a:spcPts val="1805"/>
              </a:lnSpc>
              <a:spcBef>
                <a:spcPts val="395"/>
              </a:spcBef>
            </a:pP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方式2：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140" indent="-15240" algn="l" rtl="0" eaLnBrk="0">
              <a:lnSpc>
                <a:spcPct val="97000"/>
              </a:lnSpc>
              <a:spcBef>
                <a:spcPts val="315"/>
              </a:spcBef>
            </a:pP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StructType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对象来定义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的“表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结构”转换</a:t>
            </a:r>
            <a:r>
              <a:rPr sz="1300" kern="0" spc="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74" name="picture 7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776" name="textbox 77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780" name="picture 7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782" name="textbox 78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28" name="group 12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784" name="path 78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86" name="path 78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88" name="rect 78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0" name="rect 79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ath 792"/>
          <p:cNvSpPr/>
          <p:nvPr/>
        </p:nvSpPr>
        <p:spPr>
          <a:xfrm>
            <a:off x="9612629" y="6582156"/>
            <a:ext cx="400812" cy="208788"/>
          </a:xfrm>
          <a:custGeom>
            <a:avLst/>
            <a:gdLst/>
            <a:ahLst/>
            <a:cxnLst/>
            <a:rect l="0" t="0" r="0" b="0"/>
            <a:pathLst>
              <a:path w="631" h="328">
                <a:moveTo>
                  <a:pt x="315" y="0"/>
                </a:moveTo>
                <a:lnTo>
                  <a:pt x="631" y="315"/>
                </a:lnTo>
                <a:lnTo>
                  <a:pt x="618" y="328"/>
                </a:lnTo>
                <a:lnTo>
                  <a:pt x="13" y="328"/>
                </a:lnTo>
                <a:lnTo>
                  <a:pt x="0" y="315"/>
                </a:lnTo>
                <a:lnTo>
                  <a:pt x="315" y="0"/>
                </a:lnTo>
                <a:close/>
              </a:path>
            </a:pathLst>
          </a:custGeom>
          <a:solidFill>
            <a:srgbClr val="68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4" name="rect 794"/>
          <p:cNvSpPr/>
          <p:nvPr/>
        </p:nvSpPr>
        <p:spPr>
          <a:xfrm>
            <a:off x="9813031" y="6582159"/>
            <a:ext cx="2378968" cy="275840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6" name="textbox 796"/>
          <p:cNvSpPr/>
          <p:nvPr/>
        </p:nvSpPr>
        <p:spPr>
          <a:xfrm>
            <a:off x="-12700" y="6602188"/>
            <a:ext cx="12217400" cy="270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85705" algn="l" rtl="0" eaLnBrk="0">
              <a:lnSpc>
                <a:spcPct val="78000"/>
              </a:lnSpc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798" name="picture 7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graphicFrame>
        <p:nvGraphicFramePr>
          <p:cNvPr id="800" name="table 800"/>
          <p:cNvGraphicFramePr>
            <a:graphicFrameLocks noGrp="1"/>
          </p:cNvGraphicFramePr>
          <p:nvPr/>
        </p:nvGraphicFramePr>
        <p:xfrm>
          <a:off x="6763448" y="864425"/>
          <a:ext cx="5427980" cy="5819140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427980"/>
              </a:tblGrid>
              <a:tr h="5815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980" algn="l" rtl="0" eaLnBrk="0">
                        <a:lnSpc>
                          <a:spcPts val="1030"/>
                        </a:lnSpc>
                        <a:spcBef>
                          <a:spcPts val="5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coding:utf8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indent="-635" algn="l" rtl="0" eaLnBrk="0">
                        <a:lnSpc>
                          <a:spcPct val="146000"/>
                        </a:lnSpc>
                        <a:spcBef>
                          <a:spcPts val="420"/>
                        </a:spcBef>
                      </a:pPr>
                      <a:r>
                        <a:rPr sz="8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需求: 使用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toDF</a:t>
                      </a:r>
                      <a:r>
                        <a:rPr sz="8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</a:t>
                      </a:r>
                      <a:r>
                        <a:rPr sz="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法将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转换为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                                                                                                                                   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pyspark.sql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mport SparkSession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algn="l" rtl="0" eaLnBrk="0">
                        <a:lnSpc>
                          <a:spcPts val="1030"/>
                        </a:lnSpc>
                        <a:spcBef>
                          <a:spcPts val="420"/>
                        </a:spcBef>
                      </a:pP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pyspark.sql.typ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</a:t>
                      </a:r>
                      <a:r>
                        <a:rPr sz="8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StructType, StringType,</a:t>
                      </a:r>
                      <a:r>
                        <a:rPr sz="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695" algn="l" rtl="0" eaLnBrk="0">
                        <a:lnSpc>
                          <a:spcPts val="1440"/>
                        </a:lnSpc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__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name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</a:t>
                      </a:r>
                      <a:r>
                        <a:rPr sz="8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 '__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main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__':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8440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8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SparkSession.builder.\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8455" algn="l" rtl="0" eaLnBrk="0">
                        <a:lnSpc>
                          <a:spcPts val="1440"/>
                        </a:lnSpc>
                      </a:pP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appName("cre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ate_df"). \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9090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config("spark.sql.shuffle.partitions",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4"). \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9090" algn="l" rtl="0" eaLnBrk="0">
                        <a:lnSpc>
                          <a:spcPct val="98000"/>
                        </a:lnSpc>
                        <a:spcBef>
                          <a:spcPts val="62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7805" indent="-3175" algn="l" rtl="0" eaLnBrk="0">
                        <a:lnSpc>
                          <a:spcPct val="147000"/>
                        </a:lnSpc>
                        <a:spcBef>
                          <a:spcPts val="405"/>
                        </a:spcBef>
                      </a:pP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SparkSession对象也可以获取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Context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                            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</a:t>
                      </a:r>
                      <a:r>
                        <a:rPr sz="8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spark.sparkContext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4630" algn="l" rtl="0" eaLnBrk="0">
                        <a:lnSpc>
                          <a:spcPts val="1030"/>
                        </a:lnSpc>
                        <a:spcBef>
                          <a:spcPts val="415"/>
                        </a:spcBef>
                      </a:pPr>
                      <a:r>
                        <a:rPr sz="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创建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, 首先创建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将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21615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8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sc.textFile("../data/sql/stu_scor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e.txt").\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42265" algn="l" rtl="0" eaLnBrk="0">
                        <a:lnSpc>
                          <a:spcPts val="1440"/>
                        </a:lnSpc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x:x.split('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,')).\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42265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lambda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:(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(x[0]), x[1],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</a:t>
                      </a: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(x[2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])))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4630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8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StructType 类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7805" indent="-3175" algn="l" rtl="0" eaLnBrk="0">
                        <a:lnSpc>
                          <a:spcPct val="146000"/>
                        </a:lnSpc>
                        <a:spcBef>
                          <a:spcPts val="420"/>
                        </a:spcBef>
                      </a:pPr>
                      <a:r>
                        <a:rPr sz="8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这个类 可以定</a:t>
                      </a:r>
                      <a:r>
                        <a:rPr sz="8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义整个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DataFrame</a:t>
                      </a:r>
                      <a:r>
                        <a:rPr sz="8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中的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                                                                                                                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8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StructType().\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8455" algn="l" rtl="0" eaLnBrk="0">
                        <a:lnSpc>
                          <a:spcPts val="1030"/>
                        </a:lnSpc>
                        <a:spcBef>
                          <a:spcPts val="42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add("id",</a:t>
                      </a:r>
                      <a:r>
                        <a:rPr sz="8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IntegerType(),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nullable=Fal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se).\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8455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add("name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", StringType(),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nullable=True).\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8455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add("score",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IntegerType(),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nullable=False)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4630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一个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 定义一个列的信息, 如果有3个列, 就写三个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4630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方法: 参数1: 列名称, 参数2: 列类型, 参数3: 是否允许为空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7170" indent="-2540" algn="l" rtl="0" eaLnBrk="0">
                        <a:lnSpc>
                          <a:spcPct val="146000"/>
                        </a:lnSpc>
                        <a:spcBef>
                          <a:spcPts val="420"/>
                        </a:spcBef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方式1: 只传列名, 类型靠推断, 是否允许为空是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true                                                                                                        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rdd.toDF(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['id', 'subject',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'score'])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7805" algn="l" rtl="0" eaLnBrk="0">
                        <a:lnSpc>
                          <a:spcPts val="1030"/>
                        </a:lnSpc>
                        <a:spcBef>
                          <a:spcPts val="42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df.printSchema()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7805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4630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方式2: 传入完整的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8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描述对象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StructType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7805" algn="l" rtl="0" eaLnBrk="0">
                        <a:lnSpc>
                          <a:spcPts val="1440"/>
                        </a:lnSpc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8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rdd.toDF(schema)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7805" algn="l" rtl="0" eaLnBrk="0">
                        <a:lnSpc>
                          <a:spcPts val="1030"/>
                        </a:lnSpc>
                        <a:spcBef>
                          <a:spcPts val="410"/>
                        </a:spcBef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df.printSchema()</a:t>
                      </a:r>
                      <a:endParaRPr sz="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7805" algn="l" rtl="0" eaLnBrk="0">
                        <a:lnSpc>
                          <a:spcPts val="1030"/>
                        </a:lnSpc>
                        <a:spcBef>
                          <a:spcPts val="5"/>
                        </a:spcBef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 show()</a:t>
                      </a:r>
                      <a:endParaRPr sz="800" kern="0" spc="3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802" name="rect 802"/>
          <p:cNvSpPr/>
          <p:nvPr/>
        </p:nvSpPr>
        <p:spPr>
          <a:xfrm>
            <a:off x="928052" y="2301938"/>
            <a:ext cx="5629020" cy="4249800"/>
          </a:xfrm>
          <a:prstGeom prst="rect">
            <a:avLst/>
          </a:prstGeom>
          <a:solidFill>
            <a:srgbClr val="FFFFE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04" name="table 804"/>
          <p:cNvGraphicFramePr>
            <a:graphicFrameLocks noGrp="1"/>
          </p:cNvGraphicFramePr>
          <p:nvPr/>
        </p:nvGraphicFramePr>
        <p:xfrm>
          <a:off x="928052" y="2301938"/>
          <a:ext cx="5628640" cy="4249420"/>
        </p:xfrm>
        <a:graphic>
          <a:graphicData uri="http://schemas.openxmlformats.org/drawingml/2006/table">
            <a:tbl>
              <a:tblPr/>
              <a:tblGrid>
                <a:gridCol w="5628640"/>
              </a:tblGrid>
              <a:tr h="42462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StructTy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pe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695" indent="-4445" algn="l" rtl="0" eaLnBrk="0">
                        <a:lnSpc>
                          <a:spcPct val="128000"/>
                        </a:lnSpc>
                        <a:spcBef>
                          <a:spcPts val="51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这个类 可以定义整个DataFrame中的Sc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hema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1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StructType().\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algn="l" rtl="0" eaLnBrk="0">
                        <a:lnSpc>
                          <a:spcPts val="1295"/>
                        </a:lnSpc>
                        <a:spcBef>
                          <a:spcPts val="52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add("id",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IntegerType(),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nullable=False).\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add("name", StringType(), nullab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le=True).\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add("score",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e(), nullable=False)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一个add方法 定义一个列的信息, 如果有3个列, 就写三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个add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add方法: 参数1: 列名称, 参数2: 列类型, 参数3: 是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否允许为空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ts val="1295"/>
                        </a:lnSpc>
                        <a:spcBef>
                          <a:spcPts val="3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方式1: 只传列名, 类型靠推断, 是否允许为空是t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rue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rdd.toDF(['id',</a:t>
                      </a:r>
                      <a:r>
                        <a:rPr sz="1000" kern="0" spc="8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'subject', 'score'])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ts val="1295"/>
                        </a:lnSpc>
                        <a:spcBef>
                          <a:spcPts val="3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方式2: 传入完整的Schema描述对象Struct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rdd.toDF(</a:t>
                      </a:r>
                      <a:r>
                        <a:rPr sz="1000" kern="0" spc="-2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6" name="textbox 80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808" name="textbox 808"/>
          <p:cNvSpPr/>
          <p:nvPr/>
        </p:nvSpPr>
        <p:spPr>
          <a:xfrm>
            <a:off x="934222" y="1154175"/>
            <a:ext cx="463232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2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基于RDD方式3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0" name="textbox 810"/>
          <p:cNvSpPr/>
          <p:nvPr/>
        </p:nvSpPr>
        <p:spPr>
          <a:xfrm>
            <a:off x="1009090" y="1759162"/>
            <a:ext cx="2649220" cy="506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905" algn="l" rtl="0" eaLnBrk="0">
              <a:lnSpc>
                <a:spcPct val="124000"/>
              </a:lnSpc>
            </a:pP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方式3：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toDF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方法转换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0" name="group 13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814" name="path 81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16" name="path 81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18" name="rect 81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0" name="rect 82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2" name="textbox 822"/>
          <p:cNvSpPr/>
          <p:nvPr/>
        </p:nvSpPr>
        <p:spPr>
          <a:xfrm>
            <a:off x="7069598" y="6564190"/>
            <a:ext cx="44450" cy="38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0"/>
              </a:lnSpc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4" name="table 824"/>
          <p:cNvGraphicFramePr>
            <a:graphicFrameLocks noGrp="1"/>
          </p:cNvGraphicFramePr>
          <p:nvPr/>
        </p:nvGraphicFramePr>
        <p:xfrm>
          <a:off x="6763448" y="1314386"/>
          <a:ext cx="5427980" cy="5172075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427980"/>
              </a:tblGrid>
              <a:tr h="5168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ts val="1295"/>
                        </a:lnSpc>
                        <a:spcBef>
                          <a:spcPts val="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coding:ut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f8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885" indent="-1270" algn="l" rtl="0" eaLnBrk="0">
                        <a:lnSpc>
                          <a:spcPct val="128000"/>
                        </a:lnSpc>
                        <a:spcBef>
                          <a:spcPts val="51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演示将Panda的DataFrame转换成Spark的D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ataFrame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pyspark.sql im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port SparkSession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1295"/>
                        </a:lnSpc>
                        <a:spcBef>
                          <a:spcPts val="52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导入StructTyp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e对象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88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10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pyspark.sql.types import Struc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tType, StringType,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160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pandas as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160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__name__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'__ma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in__':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09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10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SparkSession.builder.\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322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appName("create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83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master("lo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cal[*]").\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3860" algn="l" rtl="0" eaLnBrk="0">
                        <a:lnSpc>
                          <a:spcPts val="1795"/>
                        </a:lnSpc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095" algn="l" rtl="0" eaLnBrk="0">
                        <a:lnSpc>
                          <a:spcPts val="1295"/>
                        </a:lnSpc>
                        <a:spcBef>
                          <a:spcPts val="51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spark.sparkContext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01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构建Panda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s的DF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59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pdf</a:t>
                      </a:r>
                      <a:r>
                        <a:rPr sz="1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pd.DataFrame({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10845" algn="l" rtl="0" eaLnBrk="0">
                        <a:lnSpc>
                          <a:spcPts val="1800"/>
                        </a:lnSpc>
                      </a:pP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"id":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[1,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2,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3],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1084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"name":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["</a:t>
                      </a:r>
                      <a:r>
                        <a:rPr lang="zh-CN"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张飞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lang="zh-CN"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关羽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lang="zh-CN"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刘备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'],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1084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"age":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[11,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11,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11]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955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})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01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将Pandas的DF对象转换成Spa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rk的DF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1460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createDataFrame(pdf)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146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146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826" name="rect 826"/>
          <p:cNvSpPr/>
          <p:nvPr/>
        </p:nvSpPr>
        <p:spPr>
          <a:xfrm>
            <a:off x="928052" y="2301938"/>
            <a:ext cx="5629020" cy="1941702"/>
          </a:xfrm>
          <a:prstGeom prst="rect">
            <a:avLst/>
          </a:prstGeom>
          <a:solidFill>
            <a:srgbClr val="FFFFE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28" name="table 828"/>
          <p:cNvGraphicFramePr>
            <a:graphicFrameLocks noGrp="1"/>
          </p:cNvGraphicFramePr>
          <p:nvPr/>
        </p:nvGraphicFramePr>
        <p:xfrm>
          <a:off x="928052" y="2301938"/>
          <a:ext cx="5628640" cy="1941195"/>
        </p:xfrm>
        <a:graphic>
          <a:graphicData uri="http://schemas.openxmlformats.org/drawingml/2006/table">
            <a:tbl>
              <a:tblPr/>
              <a:tblGrid>
                <a:gridCol w="5628640"/>
              </a:tblGrid>
              <a:tr h="19380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构建Panda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s的DF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35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pdf</a:t>
                      </a:r>
                      <a:r>
                        <a:rPr sz="1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pd.DataFrame({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8445" algn="l" rtl="0" eaLnBrk="0">
                        <a:lnSpc>
                          <a:spcPts val="1800"/>
                        </a:lnSpc>
                      </a:pP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"id":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[1,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2,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3],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844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"name":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["</a:t>
                      </a:r>
                      <a:r>
                        <a:rPr lang="zh-CN"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张飞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lang="zh-CN"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关羽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',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lang="zh-CN"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刘备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'],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8445" algn="l" rtl="0" eaLnBrk="0">
                        <a:lnSpc>
                          <a:spcPts val="1800"/>
                        </a:lnSpc>
                      </a:pP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"age":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[11,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11,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11]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715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})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将Pandas的DF对象转换成Spa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rk的DF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createDataFrame(pdf)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30" name="textbox 830"/>
          <p:cNvSpPr/>
          <p:nvPr/>
        </p:nvSpPr>
        <p:spPr>
          <a:xfrm>
            <a:off x="934222" y="1154175"/>
            <a:ext cx="5814695" cy="1050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基于Pandas的DataFrame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995" algn="l" rtl="0" eaLnBrk="0">
              <a:lnSpc>
                <a:spcPct val="98000"/>
              </a:lnSpc>
              <a:spcBef>
                <a:spcPts val="400"/>
              </a:spcBef>
            </a:pPr>
            <a:r>
              <a:rPr sz="1300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Pandas</a:t>
            </a:r>
            <a:r>
              <a:rPr sz="1300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对象，转变为分布式的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140" algn="l" rtl="0" eaLnBrk="0">
              <a:lnSpc>
                <a:spcPct val="96000"/>
              </a:lnSpc>
              <a:spcBef>
                <a:spcPts val="1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32" name="picture 8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834" name="textbox 83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38" name="picture 8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840" name="textbox 84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32" name="group 13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842" name="path 84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4" name="path 84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46" name="rect 84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8" name="rect 84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" name="table 85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27735" y="2293620"/>
          <a:ext cx="8462645" cy="1910080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8462645"/>
              </a:tblGrid>
              <a:tr h="1910080">
                <a:tc>
                  <a:txBody>
                    <a:bodyPr/>
                    <a:lstStyle/>
                    <a:p>
                      <a:pPr indent="0" algn="l" rtl="0" eaLnBrk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sparksession.</a:t>
                      </a:r>
                      <a:r>
                        <a:rPr sz="16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read.format</a:t>
                      </a: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("text|csv|json|parquet|orc|avr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o|jdbc|......")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730" indent="0" algn="l" rtl="0" eaLnBrk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.option("K",</a:t>
                      </a:r>
                      <a:r>
                        <a:rPr sz="16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"V") # option可选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730" indent="0" algn="l" rtl="0" eaLnBrk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.schema(StructType</a:t>
                      </a:r>
                      <a:r>
                        <a:rPr sz="1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| String)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# STRING的语法如.schema("name STRING",</a:t>
                      </a:r>
                      <a:r>
                        <a:rPr sz="1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"age</a:t>
                      </a:r>
                      <a:r>
                        <a:rPr sz="1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INT")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l" rtl="0" eaLnBrk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en-US"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.load("被读取文件的路径, 支持本地文件系统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和HDFS")</a:t>
                      </a:r>
                      <a:endParaRPr sz="16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852" name="textbox 852"/>
          <p:cNvSpPr/>
          <p:nvPr/>
        </p:nvSpPr>
        <p:spPr>
          <a:xfrm>
            <a:off x="934085" y="1154430"/>
            <a:ext cx="8456930" cy="1017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读取外部数据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ct val="121000"/>
              </a:lnSpc>
              <a:spcBef>
                <a:spcPts val="5"/>
              </a:spcBef>
            </a:pPr>
            <a:r>
              <a:rPr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kern="0" spc="18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</a:t>
            </a:r>
            <a:r>
              <a:rPr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进行数据读取构建</a:t>
            </a:r>
            <a:r>
              <a:rPr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</a:t>
            </a:r>
            <a:r>
              <a:rPr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示例代码：</a:t>
            </a:r>
            <a:endParaRPr kern="0" spc="70" dirty="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54" name="picture 8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856" name="textbox 85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60" name="picture 8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862" name="textbox 86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34" name="group 13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864" name="path 86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6" name="path 86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68" name="rect 86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0" name="rect 87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textbox 872"/>
          <p:cNvSpPr/>
          <p:nvPr/>
        </p:nvSpPr>
        <p:spPr>
          <a:xfrm>
            <a:off x="934085" y="1154430"/>
            <a:ext cx="7476490" cy="1767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读取外部数据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ct val="88000"/>
              </a:lnSpc>
              <a:spcBef>
                <a:spcPts val="395"/>
              </a:spcBef>
            </a:pPr>
            <a:r>
              <a:rPr sz="16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sz="16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</a:t>
            </a:r>
            <a:r>
              <a:rPr sz="16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805"/>
              </a:lnSpc>
              <a:spcBef>
                <a:spcPts val="365"/>
              </a:spcBef>
            </a:pPr>
            <a:r>
              <a:rPr sz="16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16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format</a:t>
            </a:r>
            <a:r>
              <a:rPr sz="16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sz="16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6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</a:t>
            </a:r>
            <a:r>
              <a:rPr sz="16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”)读取文本数据读取到的</a:t>
            </a:r>
            <a:r>
              <a:rPr sz="16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600" kern="0" spc="1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只会有一个列</a:t>
            </a:r>
            <a:r>
              <a:rPr sz="16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kern="0" spc="-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列名默认称</a:t>
            </a:r>
            <a:r>
              <a:rPr sz="16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之为：</a:t>
            </a:r>
            <a:r>
              <a:rPr sz="1600" kern="0" spc="-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" algn="l" rtl="0" eaLnBrk="0">
              <a:lnSpc>
                <a:spcPct val="88000"/>
              </a:lnSpc>
              <a:spcBef>
                <a:spcPts val="5"/>
              </a:spcBef>
            </a:pPr>
            <a:r>
              <a:rPr sz="1600" kern="0" spc="-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示例代码：</a:t>
            </a:r>
            <a:endParaRPr sz="1600" kern="0" spc="-90" dirty="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74" name="table 87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27735" y="3042285"/>
          <a:ext cx="7482840" cy="1222375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7482840"/>
              </a:tblGrid>
              <a:tr h="1222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2095" algn="l" rtl="0" eaLnBrk="0">
                        <a:lnSpc>
                          <a:spcPts val="1295"/>
                        </a:lnSpc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1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StructType().add("data", St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ringType(), nullable=True)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1460" algn="l" rtl="0" eaLnBrk="0">
                        <a:lnSpc>
                          <a:spcPts val="1800"/>
                        </a:lnSpc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spark.r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ead.format("text")\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0513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.schema(s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chema)\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.load("../data/sql/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people.txt")</a:t>
                      </a:r>
                      <a:endParaRPr sz="16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pic>
        <p:nvPicPr>
          <p:cNvPr id="876" name="picture 8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878" name="textbox 87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82" name="picture 8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884" name="textbox 88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36" name="group 13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886" name="path 88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8" name="path 88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90" name="rect 89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92" name="rect 89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4" name="table 894"/>
          <p:cNvGraphicFramePr>
            <a:graphicFrameLocks noGrp="1"/>
          </p:cNvGraphicFramePr>
          <p:nvPr/>
        </p:nvGraphicFramePr>
        <p:xfrm>
          <a:off x="928052" y="3023552"/>
          <a:ext cx="5628640" cy="1247775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628640"/>
              </a:tblGrid>
              <a:tr h="1244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spark.rea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d.format("json").\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5905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load("../data/sql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/people.json")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8425" indent="-3175" algn="l" rtl="0" eaLnBrk="0">
                        <a:lnSpc>
                          <a:spcPct val="141000"/>
                        </a:lnSpc>
                        <a:spcBef>
                          <a:spcPts val="205"/>
                        </a:spcBef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JSON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类型 一般不用写.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10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json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自带,</a:t>
                      </a:r>
                      <a:r>
                        <a:rPr sz="10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json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带有列名和列类型(字符串和数字)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425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896" name="textbox 896"/>
          <p:cNvSpPr/>
          <p:nvPr/>
        </p:nvSpPr>
        <p:spPr>
          <a:xfrm>
            <a:off x="934222" y="1154175"/>
            <a:ext cx="4427854" cy="151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读取外部数据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ts val="1805"/>
              </a:lnSpc>
              <a:spcBef>
                <a:spcPts val="395"/>
              </a:spcBef>
            </a:pP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format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(“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”)读取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" algn="l" rtl="0" eaLnBrk="0">
              <a:lnSpc>
                <a:spcPct val="88000"/>
              </a:lnSpc>
              <a:spcBef>
                <a:spcPts val="5"/>
              </a:spcBef>
            </a:pPr>
            <a:r>
              <a:rPr sz="1300" kern="0" spc="-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示例代码：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98" name="picture 8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900" name="textbox 90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904" name="picture 9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906" name="textbox 90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38" name="group 13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908" name="path 90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0" name="path 91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12" name="rect 91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14" name="rect 91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6" name="table 916"/>
          <p:cNvGraphicFramePr>
            <a:graphicFrameLocks noGrp="1"/>
          </p:cNvGraphicFramePr>
          <p:nvPr/>
        </p:nvGraphicFramePr>
        <p:xfrm>
          <a:off x="928052" y="3023552"/>
          <a:ext cx="5628640" cy="1940560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628640"/>
              </a:tblGrid>
              <a:tr h="19373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spark.r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ead.format("csv")\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73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.option("sep",</a:t>
                      </a:r>
                      <a:r>
                        <a:rPr sz="10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";")\                       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# 列分隔符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73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.option("header",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False)\     # 是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否有CSV标头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73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.option("enco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ding",</a:t>
                      </a:r>
                      <a:r>
                        <a:rPr sz="10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"utf-8")\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编码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2730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.schema("name STRING, age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INT,</a:t>
                      </a:r>
                      <a:r>
                        <a:rPr sz="10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job STRING")\                # 指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定列名和类型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indent="153035" algn="l" rtl="0" eaLnBrk="0">
                        <a:lnSpc>
                          <a:spcPct val="129000"/>
                        </a:lnSpc>
                        <a:spcBef>
                          <a:spcPts val="49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.load("../data/sql/people.csv")    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# 路径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918" name="textbox 918"/>
          <p:cNvSpPr/>
          <p:nvPr/>
        </p:nvSpPr>
        <p:spPr>
          <a:xfrm>
            <a:off x="934222" y="1154175"/>
            <a:ext cx="4427854" cy="151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读取外部数据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ct val="88000"/>
              </a:lnSpc>
              <a:spcBef>
                <a:spcPts val="395"/>
              </a:spcBef>
            </a:pP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805"/>
              </a:lnSpc>
              <a:spcBef>
                <a:spcPts val="365"/>
              </a:spcBef>
            </a:pPr>
            <a:r>
              <a:rPr sz="13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format</a:t>
            </a:r>
            <a:r>
              <a:rPr sz="13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(“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</a:t>
            </a:r>
            <a:r>
              <a:rPr sz="13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”)读取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</a:t>
            </a:r>
            <a:r>
              <a:rPr sz="13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" algn="l" rtl="0" eaLnBrk="0">
              <a:lnSpc>
                <a:spcPct val="88000"/>
              </a:lnSpc>
              <a:spcBef>
                <a:spcPts val="5"/>
              </a:spcBef>
            </a:pPr>
            <a:r>
              <a:rPr sz="1300" kern="0" spc="-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示例代码：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20" name="picture 9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922" name="textbox 92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926" name="picture 9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928" name="textbox 92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40" name="group 14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930" name="path 93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2" name="path 93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34" name="rect 93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6" name="rect 93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textbox 938"/>
          <p:cNvSpPr/>
          <p:nvPr/>
        </p:nvSpPr>
        <p:spPr>
          <a:xfrm>
            <a:off x="7274688" y="1142562"/>
            <a:ext cx="4057650" cy="3419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98000"/>
              </a:lnSpc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parquet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是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中常用的一种列式存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储文件格式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205"/>
              </a:lnSpc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ORC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差不多, 他俩都是列存储格式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99000"/>
              </a:lnSpc>
              <a:spcBef>
                <a:spcPts val="40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parquet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对比普通的文本文件的区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别: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" algn="l" rtl="0" eaLnBrk="0">
              <a:lnSpc>
                <a:spcPts val="1805"/>
              </a:lnSpc>
              <a:spcBef>
                <a:spcPts val="1560"/>
              </a:spcBef>
            </a:pP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sz="1300" kern="0" spc="2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parquet</a:t>
            </a:r>
            <a:r>
              <a:rPr sz="1300" kern="0" spc="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(列名\ 列类型\ 是否为空)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" algn="l" rtl="0" eaLnBrk="0">
              <a:lnSpc>
                <a:spcPct val="89000"/>
              </a:lnSpc>
              <a:spcBef>
                <a:spcPts val="130"/>
              </a:spcBef>
            </a:pP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存储是以列作为存储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" algn="l" rtl="0" eaLnBrk="0">
              <a:lnSpc>
                <a:spcPts val="1805"/>
              </a:lnSpc>
              <a:spcBef>
                <a:spcPts val="35"/>
              </a:spcBef>
            </a:pP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存储是序列化存储在文件中的(有压缩属性体积小)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indent="13970" algn="l" rtl="0" eaLnBrk="0">
              <a:lnSpc>
                <a:spcPct val="103000"/>
              </a:lnSpc>
              <a:spcBef>
                <a:spcPts val="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Parquet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文件不能直接打开查看，</a:t>
            </a:r>
            <a:r>
              <a:rPr sz="13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如果想要查看内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PyCharm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中安装如下插件来查看：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40" name="table 940"/>
          <p:cNvGraphicFramePr>
            <a:graphicFrameLocks noGrp="1"/>
          </p:cNvGraphicFramePr>
          <p:nvPr/>
        </p:nvGraphicFramePr>
        <p:xfrm>
          <a:off x="928052" y="3023552"/>
          <a:ext cx="5628640" cy="1247775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628640"/>
              </a:tblGrid>
              <a:tr h="1244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ts val="1295"/>
                        </a:lnSpc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parquet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自带schema, 直接load啥也不需要了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spark.read.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format("parquet").\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590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load("../data/sql/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users.parquet")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800"/>
                        </a:lnSpc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df.printS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chema()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942" name="textbox 942"/>
          <p:cNvSpPr/>
          <p:nvPr/>
        </p:nvSpPr>
        <p:spPr>
          <a:xfrm>
            <a:off x="934222" y="1154175"/>
            <a:ext cx="4427854" cy="151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</a:t>
            </a:r>
            <a:r>
              <a:rPr sz="1800" b="1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DataFrame的代码构建</a:t>
            </a:r>
            <a:r>
              <a:rPr sz="18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读取外部数据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ct val="98000"/>
              </a:lnSpc>
              <a:spcBef>
                <a:spcPts val="390"/>
              </a:spcBef>
            </a:pP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parquet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805"/>
              </a:lnSpc>
              <a:spcBef>
                <a:spcPts val="215"/>
              </a:spcBef>
            </a:pP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format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(“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parquet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”)读取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parquet</a:t>
            </a:r>
            <a:r>
              <a:rPr sz="1300" kern="0" spc="1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3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" algn="l" rtl="0" eaLnBrk="0">
              <a:lnSpc>
                <a:spcPct val="88000"/>
              </a:lnSpc>
              <a:spcBef>
                <a:spcPts val="5"/>
              </a:spcBef>
            </a:pPr>
            <a:r>
              <a:rPr sz="1300" kern="0" spc="-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示例代码：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44" name="picture 9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298435" y="4693158"/>
            <a:ext cx="2881121" cy="1415033"/>
          </a:xfrm>
          <a:prstGeom prst="rect">
            <a:avLst/>
          </a:prstGeom>
        </p:spPr>
      </p:pic>
      <p:pic>
        <p:nvPicPr>
          <p:cNvPr id="946" name="picture 9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948" name="textbox 94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952" name="picture 9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954" name="textbox 95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42" name="group 14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956" name="path 95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8" name="path 95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60" name="rect 96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2" name="rect 96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textbox 964"/>
          <p:cNvSpPr/>
          <p:nvPr/>
        </p:nvSpPr>
        <p:spPr>
          <a:xfrm>
            <a:off x="934085" y="1154430"/>
            <a:ext cx="8219440" cy="3970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140" algn="l" rtl="0" eaLnBrk="0">
              <a:lnSpc>
                <a:spcPct val="89000"/>
              </a:lnSpc>
              <a:spcBef>
                <a:spcPts val="1425"/>
              </a:spcBef>
            </a:pP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4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支持两种风格进行编程，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分别是：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5885" algn="l" rtl="0" eaLnBrk="0">
              <a:lnSpc>
                <a:spcPct val="88000"/>
              </a:lnSpc>
              <a:spcBef>
                <a:spcPts val="640"/>
              </a:spcBef>
            </a:pPr>
            <a:r>
              <a:rPr sz="1400" kern="0" spc="3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4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5885" algn="l" rtl="0" eaLnBrk="0">
              <a:lnSpc>
                <a:spcPct val="88000"/>
              </a:lnSpc>
              <a:spcBef>
                <a:spcPts val="645"/>
              </a:spcBef>
            </a:pPr>
            <a:r>
              <a:rPr sz="1400" kern="0" spc="8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4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140" algn="l" rtl="0" eaLnBrk="0">
              <a:lnSpc>
                <a:spcPct val="87000"/>
              </a:lnSpc>
              <a:spcBef>
                <a:spcPts val="490"/>
              </a:spcBef>
            </a:pP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DSL语法风格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140" algn="l" rtl="0" eaLnBrk="0">
              <a:lnSpc>
                <a:spcPct val="89000"/>
              </a:lnSpc>
              <a:spcBef>
                <a:spcPts val="965"/>
              </a:spcBef>
            </a:pP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称之为：领域特定语言。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" algn="l" rtl="0" eaLnBrk="0">
              <a:lnSpc>
                <a:spcPct val="89000"/>
              </a:lnSpc>
              <a:spcBef>
                <a:spcPts val="625"/>
              </a:spcBef>
            </a:pPr>
            <a:r>
              <a:rPr sz="14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其实就是指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4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的特有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6520" indent="7620" algn="l" rtl="0" eaLnBrk="0">
              <a:lnSpc>
                <a:spcPct val="118000"/>
              </a:lnSpc>
              <a:spcBef>
                <a:spcPts val="605"/>
              </a:spcBef>
            </a:pP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4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风格意思就是以调用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sz="14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的方式来处理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比如：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</a:t>
            </a:r>
            <a:r>
              <a:rPr sz="14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sz="14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().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limit</a:t>
            </a:r>
            <a:r>
              <a:rPr sz="14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520" algn="l" rtl="0" eaLnBrk="0">
              <a:lnSpc>
                <a:spcPct val="87000"/>
              </a:lnSpc>
              <a:spcBef>
                <a:spcPts val="490"/>
              </a:spcBef>
            </a:pP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SQL语法风格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520" indent="1270" algn="l" rtl="0" eaLnBrk="0">
              <a:lnSpc>
                <a:spcPct val="114000"/>
              </a:lnSpc>
              <a:spcBef>
                <a:spcPts val="0"/>
              </a:spcBef>
            </a:pP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4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风格就是使用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4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语句处理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4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</a:t>
            </a:r>
            <a:r>
              <a:rPr sz="14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</a:t>
            </a:r>
            <a:r>
              <a:rPr sz="14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比如：</a:t>
            </a:r>
            <a:r>
              <a:rPr sz="14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4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4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400" kern="0" spc="-2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sz="14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*</a:t>
            </a:r>
            <a:r>
              <a:rPr sz="14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sz="14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</a:t>
            </a:r>
            <a:r>
              <a:rPr sz="14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400" kern="0" spc="110" dirty="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66" name="picture 9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968" name="textbox 96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972" name="picture 9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974" name="textbox 97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44" name="group 14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976" name="path 97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8" name="path 97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80" name="rect 98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2" name="rect 98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4" name="table 984"/>
          <p:cNvGraphicFramePr>
            <a:graphicFrameLocks noGrp="1"/>
          </p:cNvGraphicFramePr>
          <p:nvPr/>
        </p:nvGraphicFramePr>
        <p:xfrm>
          <a:off x="928052" y="2578544"/>
          <a:ext cx="5894069" cy="1017904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894069"/>
              </a:tblGrid>
              <a:tr h="1014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295"/>
                        </a:lnSpc>
                        <a:spcBef>
                          <a:spcPts val="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df.show(参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数1, 参数2)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2235" algn="l" rtl="0" eaLnBrk="0">
                        <a:lnSpc>
                          <a:spcPts val="1295"/>
                        </a:lnSpc>
                        <a:spcBef>
                          <a:spcPts val="50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参数1: 默认是20,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控制展示多少条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235" algn="l" rtl="0" eaLnBrk="0">
                        <a:lnSpc>
                          <a:spcPts val="1295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参数2: 是否阶段列, 默认只输出20个字符的长度, 过长不显示, 要显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示的话 请填入 truncate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True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pic>
        <p:nvPicPr>
          <p:cNvPr id="986" name="picture 9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179826" y="3593211"/>
            <a:ext cx="2044445" cy="2654045"/>
          </a:xfrm>
          <a:prstGeom prst="rect">
            <a:avLst/>
          </a:prstGeom>
        </p:spPr>
      </p:pic>
      <p:sp>
        <p:nvSpPr>
          <p:cNvPr id="988" name="textbox 988"/>
          <p:cNvSpPr/>
          <p:nvPr/>
        </p:nvSpPr>
        <p:spPr>
          <a:xfrm>
            <a:off x="934222" y="1154175"/>
            <a:ext cx="3820795" cy="143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140" algn="l" rtl="0" eaLnBrk="0">
              <a:lnSpc>
                <a:spcPts val="2115"/>
              </a:lnSpc>
              <a:spcBef>
                <a:spcPts val="1520"/>
              </a:spcBef>
            </a:pPr>
            <a:r>
              <a:rPr sz="16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600" b="1" kern="0" spc="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600" b="1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show 方法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1805"/>
              </a:lnSpc>
              <a:spcBef>
                <a:spcPts val="1440"/>
              </a:spcBef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功能：展示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中的数据, 默认展示20条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" algn="l" rtl="0" eaLnBrk="0">
              <a:lnSpc>
                <a:spcPct val="95000"/>
              </a:lnSpc>
              <a:spcBef>
                <a:spcPts val="0"/>
              </a:spcBef>
            </a:pPr>
            <a:r>
              <a:rPr sz="12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90" name="picture 9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992" name="textbox 99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996" name="picture 9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998" name="textbox 998"/>
          <p:cNvSpPr/>
          <p:nvPr/>
        </p:nvSpPr>
        <p:spPr>
          <a:xfrm>
            <a:off x="918613" y="4178512"/>
            <a:ext cx="1738629" cy="506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indent="-7620" algn="l" rtl="0" eaLnBrk="0">
              <a:lnSpc>
                <a:spcPct val="124000"/>
              </a:lnSpc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如图，某个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show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的展示结果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0" name="textbox 100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46" name="group 14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002" name="path 100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4" name="path 100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06" name="rect 100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8" name="rect 100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picture 10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639" y="3897629"/>
            <a:ext cx="4338065" cy="1457693"/>
          </a:xfrm>
          <a:prstGeom prst="rect">
            <a:avLst/>
          </a:prstGeom>
        </p:spPr>
      </p:pic>
      <p:sp>
        <p:nvSpPr>
          <p:cNvPr id="1012" name="textbox 1012"/>
          <p:cNvSpPr/>
          <p:nvPr/>
        </p:nvSpPr>
        <p:spPr>
          <a:xfrm>
            <a:off x="934222" y="1154175"/>
            <a:ext cx="2820035" cy="143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140" algn="l" rtl="0" eaLnBrk="0">
              <a:lnSpc>
                <a:spcPct val="93000"/>
              </a:lnSpc>
              <a:spcBef>
                <a:spcPts val="485"/>
              </a:spcBef>
            </a:pP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600" b="1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600" b="1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printSch</a:t>
            </a:r>
            <a:r>
              <a:rPr sz="16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ema方法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805"/>
              </a:lnSpc>
              <a:spcBef>
                <a:spcPts val="1435"/>
              </a:spcBef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功能：</a:t>
            </a:r>
            <a:r>
              <a:rPr sz="1300" kern="0" spc="-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打印输出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535" algn="l" rtl="0" eaLnBrk="0">
              <a:lnSpc>
                <a:spcPct val="95000"/>
              </a:lnSpc>
              <a:spcBef>
                <a:spcPts val="0"/>
              </a:spcBef>
            </a:pPr>
            <a:r>
              <a:rPr sz="12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14" name="table 1014"/>
          <p:cNvGraphicFramePr>
            <a:graphicFrameLocks noGrp="1"/>
          </p:cNvGraphicFramePr>
          <p:nvPr/>
        </p:nvGraphicFramePr>
        <p:xfrm>
          <a:off x="928052" y="2844482"/>
          <a:ext cx="5894069" cy="556259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5894069"/>
              </a:tblGrid>
              <a:tr h="5530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" algn="l" rtl="0" eaLnBrk="0">
                        <a:lnSpc>
                          <a:spcPts val="2580"/>
                        </a:lnSpc>
                        <a:spcBef>
                          <a:spcPts val="5"/>
                        </a:spcBef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1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printSchema</a:t>
                      </a:r>
                      <a:r>
                        <a:rPr sz="1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()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pic>
        <p:nvPicPr>
          <p:cNvPr id="1016" name="picture 10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018" name="textbox 101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022" name="picture 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024" name="textbox 102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48" name="group 14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026" name="path 102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8" name="path 102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30" name="rect 103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32" name="rect 103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312914" y="4133088"/>
            <a:ext cx="4559044" cy="2285999"/>
          </a:xfrm>
          <a:prstGeom prst="rect">
            <a:avLst/>
          </a:prstGeom>
        </p:spPr>
      </p:pic>
      <p:pic>
        <p:nvPicPr>
          <p:cNvPr id="1036" name="picture 10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1841" y="2648712"/>
            <a:ext cx="4635233" cy="1219199"/>
          </a:xfrm>
          <a:prstGeom prst="rect">
            <a:avLst/>
          </a:prstGeom>
        </p:spPr>
      </p:pic>
      <p:sp>
        <p:nvSpPr>
          <p:cNvPr id="1038" name="textbox 1038"/>
          <p:cNvSpPr/>
          <p:nvPr/>
        </p:nvSpPr>
        <p:spPr>
          <a:xfrm>
            <a:off x="1011753" y="4181351"/>
            <a:ext cx="5900420" cy="932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300" kern="0" spc="-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可传递：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5910" indent="-277495" algn="l" rtl="0" eaLnBrk="0">
              <a:lnSpc>
                <a:spcPct val="111000"/>
              </a:lnSpc>
              <a:spcBef>
                <a:spcPts val="370"/>
              </a:spcBef>
            </a:pP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可变参数的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cols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对象，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cols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对象可以是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Column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对象来指定列或者字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符串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列名来指定列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1000"/>
              </a:lnSpc>
              <a:spcBef>
                <a:spcPts val="5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List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Column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]对象或者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List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]对象，</a:t>
            </a:r>
            <a:r>
              <a:rPr sz="1300" kern="0" spc="3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用来选择多个列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0" name="picture 10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042" name="textbox 1042"/>
          <p:cNvSpPr/>
          <p:nvPr/>
        </p:nvSpPr>
        <p:spPr>
          <a:xfrm>
            <a:off x="934222" y="1154175"/>
            <a:ext cx="2820035" cy="788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140" algn="l" rtl="0" eaLnBrk="0">
              <a:lnSpc>
                <a:spcPts val="2115"/>
              </a:lnSpc>
              <a:spcBef>
                <a:spcPts val="5"/>
              </a:spcBef>
            </a:pPr>
            <a:r>
              <a:rPr sz="16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6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600" b="1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4" name="textbox 1044"/>
          <p:cNvSpPr/>
          <p:nvPr/>
        </p:nvSpPr>
        <p:spPr>
          <a:xfrm>
            <a:off x="1010688" y="2132115"/>
            <a:ext cx="4829809" cy="456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功能：选择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中的指定列（通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过传入参数进行指定）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2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6" name="textbox 104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050" name="picture 10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052" name="textbox 105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50" name="group 15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054" name="path 105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56" name="path 105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58" name="rect 105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0" name="rect 106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10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396733" y="4114800"/>
            <a:ext cx="4190999" cy="2171699"/>
          </a:xfrm>
          <a:prstGeom prst="rect">
            <a:avLst/>
          </a:prstGeom>
        </p:spPr>
      </p:pic>
      <p:pic>
        <p:nvPicPr>
          <p:cNvPr id="1064" name="picture 10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1268" y="3493008"/>
            <a:ext cx="4102607" cy="1664207"/>
          </a:xfrm>
          <a:prstGeom prst="rect">
            <a:avLst/>
          </a:prstGeom>
        </p:spPr>
      </p:pic>
      <p:sp>
        <p:nvSpPr>
          <p:cNvPr id="1066" name="textbox 1066"/>
          <p:cNvSpPr/>
          <p:nvPr/>
        </p:nvSpPr>
        <p:spPr>
          <a:xfrm>
            <a:off x="1010510" y="2132115"/>
            <a:ext cx="5077459" cy="1247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功能：过滤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内的数据，返回一个过滤后的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95000"/>
              </a:lnSpc>
              <a:spcBef>
                <a:spcPts val="630"/>
              </a:spcBef>
            </a:pPr>
            <a:r>
              <a:rPr sz="12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" algn="l" rtl="0" eaLnBrk="0">
              <a:lnSpc>
                <a:spcPts val="1805"/>
              </a:lnSpc>
              <a:spcBef>
                <a:spcPts val="38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filter</a:t>
            </a:r>
            <a:r>
              <a:rPr sz="1300" kern="0" spc="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filter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功能上是等价的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68" name="picture 10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070" name="textbox 1070"/>
          <p:cNvSpPr/>
          <p:nvPr/>
        </p:nvSpPr>
        <p:spPr>
          <a:xfrm>
            <a:off x="934222" y="1154175"/>
            <a:ext cx="2820035" cy="788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140" algn="l" rtl="0" eaLnBrk="0">
              <a:lnSpc>
                <a:spcPts val="2115"/>
              </a:lnSpc>
              <a:spcBef>
                <a:spcPts val="5"/>
              </a:spcBef>
            </a:pP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600" b="1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filter和where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2" name="textbox 107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076" name="picture 10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078" name="textbox 107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52" name="group 15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080" name="path 108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82" name="path 108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84" name="rect 108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6" name="rect 108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picture 10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14984" y="2983991"/>
            <a:ext cx="4635232" cy="1194053"/>
          </a:xfrm>
          <a:prstGeom prst="rect">
            <a:avLst/>
          </a:prstGeom>
        </p:spPr>
      </p:pic>
      <p:sp>
        <p:nvSpPr>
          <p:cNvPr id="1090" name="textbox 1090"/>
          <p:cNvSpPr/>
          <p:nvPr/>
        </p:nvSpPr>
        <p:spPr>
          <a:xfrm>
            <a:off x="1010688" y="2132115"/>
            <a:ext cx="5310504" cy="735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功能：按照指定的列进行数据的分组，</a:t>
            </a:r>
            <a:r>
              <a:rPr sz="13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值是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GroupedData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480"/>
              </a:spcBef>
            </a:pPr>
            <a:r>
              <a:rPr sz="12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" algn="l" rtl="0" eaLnBrk="0">
              <a:lnSpc>
                <a:spcPts val="1805"/>
              </a:lnSpc>
              <a:spcBef>
                <a:spcPts val="385"/>
              </a:spcBef>
            </a:pP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df.groupBy()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92" name="picture 10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81266" y="4673345"/>
            <a:ext cx="4280153" cy="787907"/>
          </a:xfrm>
          <a:prstGeom prst="rect">
            <a:avLst/>
          </a:prstGeom>
        </p:spPr>
      </p:pic>
      <p:pic>
        <p:nvPicPr>
          <p:cNvPr id="1094" name="picture 10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096" name="textbox 1096"/>
          <p:cNvSpPr/>
          <p:nvPr/>
        </p:nvSpPr>
        <p:spPr>
          <a:xfrm>
            <a:off x="1010687" y="4404349"/>
            <a:ext cx="5588634" cy="506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传入参数和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一样，</a:t>
            </a:r>
            <a:r>
              <a:rPr sz="1300" kern="0" spc="-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支持多种形式，不管怎么传意思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就是告诉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按照哪个列分组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8" name="textbox 1098"/>
          <p:cNvSpPr/>
          <p:nvPr/>
        </p:nvSpPr>
        <p:spPr>
          <a:xfrm>
            <a:off x="934222" y="1154175"/>
            <a:ext cx="2820035" cy="789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140" algn="l" rtl="0" eaLnBrk="0">
              <a:lnSpc>
                <a:spcPct val="93000"/>
              </a:lnSpc>
              <a:spcBef>
                <a:spcPts val="5"/>
              </a:spcBef>
            </a:pP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600" b="1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groupBy 分组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0" name="textbox 110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104" name="picture 1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106" name="textbox 110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54" name="group 15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108" name="path 110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10" name="path 111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12" name="rect 111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14" name="rect 111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textbox 1116"/>
          <p:cNvSpPr/>
          <p:nvPr/>
        </p:nvSpPr>
        <p:spPr>
          <a:xfrm>
            <a:off x="934222" y="1154175"/>
            <a:ext cx="6819900" cy="2716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615" algn="l" rtl="0" eaLnBrk="0">
              <a:lnSpc>
                <a:spcPct val="93000"/>
              </a:lnSpc>
              <a:spcBef>
                <a:spcPts val="485"/>
              </a:spcBef>
            </a:pPr>
            <a:r>
              <a:rPr sz="16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GroupedData对象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5250" algn="l" rtl="0" eaLnBrk="0">
              <a:lnSpc>
                <a:spcPct val="99000"/>
              </a:lnSpc>
              <a:spcBef>
                <a:spcPts val="39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GroupedData</a:t>
            </a:r>
            <a:r>
              <a:rPr sz="1300" kern="0" spc="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对象是一个特殊的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805"/>
              </a:lnSpc>
              <a:spcBef>
                <a:spcPts val="215"/>
              </a:spcBef>
            </a:pP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其类全名：</a:t>
            </a:r>
            <a:r>
              <a:rPr sz="1300" kern="0" spc="3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</a:t>
            </a:r>
            <a:r>
              <a:rPr sz="1300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pyspark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GroupedData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'&gt;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ct val="99000"/>
              </a:lnSpc>
              <a:spcBef>
                <a:spcPts val="470"/>
              </a:spcBef>
            </a:pP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这个对象是经过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groupBy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后得到的返回值，</a:t>
            </a:r>
            <a:r>
              <a:rPr sz="1300" kern="0" spc="2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内部记录了 以分组形式存储的数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7155" indent="-1905" algn="l" rtl="0" eaLnBrk="0">
              <a:lnSpc>
                <a:spcPct val="114000"/>
              </a:lnSpc>
              <a:spcBef>
                <a:spcPts val="39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GroupedData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对象其实也有很多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300" kern="0" spc="-2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比如前面的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方法就是这个对象的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内置方法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除此之外，像：</a:t>
            </a:r>
            <a:r>
              <a:rPr sz="1300" kern="0" spc="3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00" kern="0" spc="-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00" kern="0" spc="-2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avg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00" kern="0" spc="-2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、等等许多方法都存在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" algn="l" rtl="0" eaLnBrk="0">
              <a:lnSpc>
                <a:spcPct val="89000"/>
              </a:lnSpc>
              <a:spcBef>
                <a:spcPts val="0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后续会再次使用它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18" name="picture 1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120" name="textbox 112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124" name="picture 1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126" name="textbox 112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56" name="group 15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128" name="path 112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30" name="path 113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32" name="rect 113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34" name="rect 113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textbox 1136"/>
          <p:cNvSpPr/>
          <p:nvPr/>
        </p:nvSpPr>
        <p:spPr>
          <a:xfrm>
            <a:off x="934222" y="1154175"/>
            <a:ext cx="7603490" cy="164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520" algn="l" rtl="0" eaLnBrk="0">
              <a:lnSpc>
                <a:spcPct val="87000"/>
              </a:lnSpc>
              <a:spcBef>
                <a:spcPts val="480"/>
              </a:spcBef>
            </a:pPr>
            <a:r>
              <a:rPr sz="16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SQL风格语法 - 注册Da</a:t>
            </a:r>
            <a:r>
              <a:rPr sz="16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taFrame成为表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indent="14605" algn="l" rtl="0" eaLnBrk="0">
              <a:lnSpc>
                <a:spcPct val="103000"/>
              </a:lnSpc>
              <a:spcBef>
                <a:spcPts val="39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的一个强大之处就是我们可以将它看作是一个关系型数据表，然后可以通过在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程序中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 来执行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语句查询，结果返回一个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ct val="89000"/>
              </a:lnSpc>
              <a:spcBef>
                <a:spcPts val="5"/>
              </a:spcBef>
            </a:pP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如果想使用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风格的语法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，需要将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注册成表,采用如下的方式：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38" name="picture 1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11936" y="4021835"/>
            <a:ext cx="8484107" cy="1447787"/>
          </a:xfrm>
          <a:prstGeom prst="rect">
            <a:avLst/>
          </a:prstGeom>
        </p:spPr>
      </p:pic>
      <p:pic>
        <p:nvPicPr>
          <p:cNvPr id="1140" name="picture 1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11936" y="2967228"/>
            <a:ext cx="6947153" cy="736853"/>
          </a:xfrm>
          <a:prstGeom prst="rect">
            <a:avLst/>
          </a:prstGeom>
        </p:spPr>
      </p:pic>
      <p:pic>
        <p:nvPicPr>
          <p:cNvPr id="1142" name="picture 1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144" name="textbox 114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148" name="picture 11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150" name="textbox 115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58" name="group 15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152" name="path 115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54" name="path 115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56" name="rect 115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58" name="rect 115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picture 1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639" y="1972055"/>
            <a:ext cx="6998206" cy="4381499"/>
          </a:xfrm>
          <a:prstGeom prst="rect">
            <a:avLst/>
          </a:prstGeom>
        </p:spPr>
      </p:pic>
      <p:pic>
        <p:nvPicPr>
          <p:cNvPr id="1162" name="picture 1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164" name="textbox 1164"/>
          <p:cNvSpPr/>
          <p:nvPr/>
        </p:nvSpPr>
        <p:spPr>
          <a:xfrm>
            <a:off x="934222" y="1154175"/>
            <a:ext cx="2820035" cy="774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520" algn="l" rtl="0" eaLnBrk="0">
              <a:lnSpc>
                <a:spcPct val="87000"/>
              </a:lnSpc>
              <a:spcBef>
                <a:spcPts val="0"/>
              </a:spcBef>
            </a:pPr>
            <a:r>
              <a:rPr sz="16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SQL风格语法 -</a:t>
            </a:r>
            <a:r>
              <a:rPr sz="16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使用SQL查询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6" name="textbox 116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170" name="picture 1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172" name="textbox 117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60" name="group 16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174" name="path 117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76" name="path 117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78" name="rect 117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0" name="rect 118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1182"/>
          <p:cNvSpPr/>
          <p:nvPr/>
        </p:nvSpPr>
        <p:spPr>
          <a:xfrm>
            <a:off x="934222" y="1154175"/>
            <a:ext cx="4845684" cy="4630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</a:t>
            </a:r>
            <a:r>
              <a:rPr sz="1800" b="1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DataFrame的入门操作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0965" algn="l" rtl="0" eaLnBrk="0">
              <a:lnSpc>
                <a:spcPts val="2115"/>
              </a:lnSpc>
              <a:spcBef>
                <a:spcPts val="1520"/>
              </a:spcBef>
            </a:pPr>
            <a:r>
              <a:rPr sz="16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pyspark.sql.fun</a:t>
            </a:r>
            <a:r>
              <a:rPr sz="16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ctions 包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3830" algn="l" rtl="0" eaLnBrk="0">
              <a:lnSpc>
                <a:spcPct val="87000"/>
              </a:lnSpc>
              <a:spcBef>
                <a:spcPts val="490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PySpark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提供了一个包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  <a:r>
              <a:rPr sz="1600" kern="0" spc="1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pyspark.sql.functions</a:t>
            </a:r>
            <a:endParaRPr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490"/>
              </a:spcBef>
            </a:pP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这个包里面提供了</a:t>
            </a:r>
            <a:r>
              <a:rPr sz="1600" kern="0" spc="-36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一系列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的计算函数供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SparkSQL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305" algn="l" rtl="0" eaLnBrk="0">
              <a:lnSpc>
                <a:spcPct val="85000"/>
              </a:lnSpc>
              <a:spcBef>
                <a:spcPts val="480"/>
              </a:spcBef>
            </a:pPr>
            <a:r>
              <a:rPr sz="1600" kern="0" spc="-9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如何用呢？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8115" algn="l" rtl="0" eaLnBrk="0">
              <a:lnSpc>
                <a:spcPct val="99000"/>
              </a:lnSpc>
              <a:spcBef>
                <a:spcPts val="20"/>
              </a:spcBef>
            </a:pP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导包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0495" algn="l" rtl="0" eaLnBrk="0">
              <a:lnSpc>
                <a:spcPct val="72000"/>
              </a:lnSpc>
              <a:spcBef>
                <a:spcPts val="550"/>
              </a:spcBef>
            </a:pPr>
            <a:r>
              <a:rPr sz="1600" kern="0" spc="-10" dirty="0">
                <a:solidFill>
                  <a:srgbClr val="C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from</a:t>
            </a:r>
            <a:r>
              <a:rPr sz="1600" kern="0" spc="120" dirty="0">
                <a:solidFill>
                  <a:srgbClr val="C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600" kern="0" spc="-10" dirty="0">
                <a:solidFill>
                  <a:srgbClr val="C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pyspark.sql</a:t>
            </a:r>
            <a:r>
              <a:rPr sz="1600" kern="0" spc="90" dirty="0">
                <a:solidFill>
                  <a:srgbClr val="C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600" kern="0" spc="-10" dirty="0">
                <a:solidFill>
                  <a:srgbClr val="C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import functions as</a:t>
            </a:r>
            <a:r>
              <a:rPr sz="1600" kern="0" spc="130" dirty="0">
                <a:solidFill>
                  <a:srgbClr val="C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600" kern="0" spc="-20" dirty="0">
                <a:solidFill>
                  <a:srgbClr val="C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</a:t>
            </a:r>
            <a:endParaRPr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3035" algn="l" rtl="0" eaLnBrk="0">
              <a:lnSpc>
                <a:spcPct val="86000"/>
              </a:lnSpc>
              <a:spcBef>
                <a:spcPts val="480"/>
              </a:spcBef>
            </a:pP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然后就可以用</a:t>
            </a: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</a:t>
            </a: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对象调用函数</a:t>
            </a:r>
            <a:r>
              <a:rPr sz="1600" kern="0" spc="-4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计算了。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6845" algn="l" rtl="0" eaLnBrk="0">
              <a:lnSpc>
                <a:spcPct val="86000"/>
              </a:lnSpc>
              <a:spcBef>
                <a:spcPts val="270"/>
              </a:spcBef>
            </a:pP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这些功能函数</a:t>
            </a: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 </a:t>
            </a:r>
            <a:r>
              <a:rPr sz="1600" kern="0" spc="0" dirty="0">
                <a:solidFill>
                  <a:srgbClr val="C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返回值</a:t>
            </a: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多数都是</a:t>
            </a:r>
            <a:r>
              <a:rPr sz="1600" kern="0" spc="0" dirty="0">
                <a:solidFill>
                  <a:srgbClr val="C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Column</a:t>
            </a: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对象</a:t>
            </a: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305" algn="l" rtl="0" eaLnBrk="0">
              <a:lnSpc>
                <a:spcPct val="86000"/>
              </a:lnSpc>
              <a:spcBef>
                <a:spcPts val="0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详细的函数在后续开发中学习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184" name="picture 11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76416" y="4418838"/>
            <a:ext cx="2245600" cy="2084069"/>
          </a:xfrm>
          <a:prstGeom prst="rect">
            <a:avLst/>
          </a:prstGeom>
        </p:spPr>
      </p:pic>
      <p:pic>
        <p:nvPicPr>
          <p:cNvPr id="1186" name="picture 11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48394" y="4418838"/>
            <a:ext cx="1649729" cy="2043683"/>
          </a:xfrm>
          <a:prstGeom prst="rect">
            <a:avLst/>
          </a:prstGeom>
        </p:spPr>
      </p:pic>
      <p:pic>
        <p:nvPicPr>
          <p:cNvPr id="1188" name="picture 1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190" name="textbox 119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194" name="picture 11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196" name="textbox 119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62" name="group 16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198" name="path 119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00" name="path 120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02" name="rect 120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4" name="textbox 1204"/>
          <p:cNvSpPr/>
          <p:nvPr/>
        </p:nvSpPr>
        <p:spPr>
          <a:xfrm>
            <a:off x="6458258" y="3856318"/>
            <a:ext cx="429894" cy="23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6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6" name="rect 120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table 1208"/>
          <p:cNvGraphicFramePr>
            <a:graphicFrameLocks noGrp="1"/>
          </p:cNvGraphicFramePr>
          <p:nvPr/>
        </p:nvGraphicFramePr>
        <p:xfrm>
          <a:off x="947102" y="2474912"/>
          <a:ext cx="4756784" cy="3971925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4756784"/>
              </a:tblGrid>
              <a:tr h="396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coding: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utf8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演示sparksql word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count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ts val="905"/>
                        </a:lnSpc>
                        <a:spcBef>
                          <a:spcPts val="21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pyspark.sql import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SparkSession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导入StructType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对象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pyspark.sql.types import StructType, Stri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ngType,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060" algn="l" rtl="0" eaLnBrk="0">
                        <a:lnSpc>
                          <a:spcPts val="1260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pandas as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525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pyspark.sql import </a:t>
                      </a:r>
                      <a:r>
                        <a:rPr sz="7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functions</a:t>
                      </a:r>
                      <a:r>
                        <a:rPr sz="700" kern="0" spc="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</a:t>
                      </a:r>
                      <a:r>
                        <a:rPr sz="700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905"/>
                        </a:lnSpc>
                        <a:spcBef>
                          <a:spcPts val="210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__name__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'__main__'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74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SparkSe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ssion.builder.\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242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appName("create d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623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master("loca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l[*]").\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3055" algn="l" rtl="0" eaLnBrk="0">
                        <a:lnSpc>
                          <a:spcPct val="88000"/>
                        </a:lnSpc>
                        <a:spcBef>
                          <a:spcPts val="540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740" algn="l" rtl="0" eaLnBrk="0">
                        <a:lnSpc>
                          <a:spcPts val="905"/>
                        </a:lnSpc>
                        <a:spcBef>
                          <a:spcPts val="33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spark.sparkContext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2565" algn="l" rtl="0" eaLnBrk="0">
                        <a:lnSpc>
                          <a:spcPts val="905"/>
                        </a:lnSpc>
                        <a:spcBef>
                          <a:spcPts val="21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TODO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1: SQL风格处理,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以RDD为基础做数据加载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828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sc.textFile("hdfs://node1:802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0/input/words.txt").\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0515" algn="l" rtl="0" eaLnBrk="0">
                        <a:lnSpc>
                          <a:spcPts val="1260"/>
                        </a:lnSpc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flatMap(lambda x: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x.split("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")).\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623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map(lambda x: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[x])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256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转换RDD到df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0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rdd.toDF(["word"])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0" name="table 1210"/>
          <p:cNvGraphicFramePr>
            <a:graphicFrameLocks noGrp="1"/>
          </p:cNvGraphicFramePr>
          <p:nvPr/>
        </p:nvGraphicFramePr>
        <p:xfrm>
          <a:off x="6473888" y="2474912"/>
          <a:ext cx="4756785" cy="2840354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4756785"/>
              </a:tblGrid>
              <a:tr h="28371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980" algn="l" rtl="0" eaLnBrk="0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注册df为表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df.createTempView("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words")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193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使用sql语句处理df注册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的表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447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spark.sql("""SELECT word, COUNT(*) AS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cnt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words GROUP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 word ORDER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cnt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DESC""").show()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930" algn="l" rtl="0" eaLnBrk="0">
                        <a:lnSpc>
                          <a:spcPts val="905"/>
                        </a:lnSpc>
                        <a:spcBef>
                          <a:spcPts val="21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TODO 2: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DSL风格处理, 纯sparks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ql api做数据加载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193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df当前只有一个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列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叫做value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spark.read.format("text").load("hdfs://node1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:8020/input/words.txt")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193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df.select(</a:t>
                      </a:r>
                      <a:r>
                        <a:rPr sz="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F.explode(F.spli</a:t>
                      </a:r>
                      <a:r>
                        <a:rPr sz="7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t(df['value'],</a:t>
                      </a:r>
                      <a:r>
                        <a:rPr sz="700" kern="0" spc="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sz="700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"))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).show()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193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通过withColumn方法 对一个列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进行操作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4470" indent="-2540" algn="l" rtl="0" eaLnBrk="0">
                        <a:lnSpc>
                          <a:spcPct val="129000"/>
                        </a:lnSpc>
                        <a:spcBef>
                          <a:spcPts val="34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方法功能: 对老列执行操作, 返回一个全新列, 如果列名一样就替换, 不一样就拓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展一个列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df2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df.</a:t>
                      </a:r>
                      <a:r>
                        <a:rPr sz="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withColumn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("val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ue", F.explode(F.split(df['value'],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")))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105" algn="l" rtl="0" eaLnBrk="0">
                        <a:lnSpc>
                          <a:spcPts val="905"/>
                        </a:lnSpc>
                        <a:spcBef>
                          <a:spcPts val="36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df2.groupBy("va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lue").\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2420" algn="l" rtl="0" eaLnBrk="0">
                        <a:lnSpc>
                          <a:spcPts val="1260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count().\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09245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withColumnRenamed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("co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unt",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"cnt").\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12420" algn="l" rtl="0" eaLnBrk="0">
                        <a:lnSpc>
                          <a:spcPts val="905"/>
                        </a:lnSpc>
                        <a:spcBef>
                          <a:spcPts val="355"/>
                        </a:spcBef>
                      </a:pPr>
                      <a:r>
                        <a:rPr sz="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orderBy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('cnt', ascending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=False).\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3055" algn="l" rtl="0" eaLnBrk="0">
                        <a:lnSpc>
                          <a:spcPts val="905"/>
                        </a:lnSpc>
                        <a:spcBef>
                          <a:spcPts val="0"/>
                        </a:spcBef>
                      </a:pP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show()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1212" name="textbox 1212"/>
          <p:cNvSpPr/>
          <p:nvPr/>
        </p:nvSpPr>
        <p:spPr>
          <a:xfrm>
            <a:off x="918435" y="1154175"/>
            <a:ext cx="6268720" cy="1104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词频统计案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例练习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  <a:spcBef>
                <a:spcPts val="710"/>
              </a:spcBef>
            </a:pP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完成一个单词计数需求，使用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两种风格来实现。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0"/>
              </a:spcBef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在实现的过程中，会出现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新的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，边写边学习新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sz="1300" kern="0" spc="-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3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代码中红色部分即新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14" name="picture 12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216" name="textbox 121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220" name="picture 1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222" name="textbox 122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64" name="group 16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224" name="path 122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6" name="path 122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28" name="rect 122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30" name="rect 123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textbox 1232"/>
          <p:cNvSpPr/>
          <p:nvPr/>
        </p:nvSpPr>
        <p:spPr>
          <a:xfrm>
            <a:off x="934222" y="1154175"/>
            <a:ext cx="2710179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电影评分数据分析案例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34" name="picture 12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pic>
        <p:nvPicPr>
          <p:cNvPr id="1236" name="picture 12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pic>
        <p:nvPicPr>
          <p:cNvPr id="1238" name="picture 1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1832" y="1438655"/>
            <a:ext cx="7559800" cy="5419344"/>
          </a:xfrm>
          <a:prstGeom prst="rect">
            <a:avLst/>
          </a:prstGeom>
        </p:spPr>
      </p:pic>
      <p:pic>
        <p:nvPicPr>
          <p:cNvPr id="1240" name="picture 12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59245" y="4570476"/>
            <a:ext cx="5804152" cy="1981199"/>
          </a:xfrm>
          <a:prstGeom prst="rect">
            <a:avLst/>
          </a:prstGeom>
        </p:spPr>
      </p:pic>
      <p:sp>
        <p:nvSpPr>
          <p:cNvPr id="1242" name="textbox 124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246" name="textbox 124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66" name="group 16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248" name="path 124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50" name="path 125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52" name="rect 125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54" name="rect 125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path 1256"/>
          <p:cNvSpPr/>
          <p:nvPr/>
        </p:nvSpPr>
        <p:spPr>
          <a:xfrm>
            <a:off x="947102" y="1582610"/>
            <a:ext cx="11179428" cy="4942458"/>
          </a:xfrm>
          <a:custGeom>
            <a:avLst/>
            <a:gdLst/>
            <a:ahLst/>
            <a:cxnLst/>
            <a:rect l="0" t="0" r="0" b="0"/>
            <a:pathLst>
              <a:path w="17605" h="7783">
                <a:moveTo>
                  <a:pt x="2" y="2"/>
                </a:moveTo>
                <a:moveTo>
                  <a:pt x="2" y="2"/>
                </a:moveTo>
                <a:lnTo>
                  <a:pt x="6027" y="2"/>
                </a:lnTo>
                <a:lnTo>
                  <a:pt x="6027" y="7780"/>
                </a:lnTo>
                <a:lnTo>
                  <a:pt x="2" y="7780"/>
                </a:lnTo>
                <a:lnTo>
                  <a:pt x="2" y="2"/>
                </a:lnTo>
                <a:close/>
              </a:path>
              <a:path w="17605" h="7783">
                <a:moveTo>
                  <a:pt x="6027" y="2"/>
                </a:moveTo>
                <a:moveTo>
                  <a:pt x="6027" y="2"/>
                </a:moveTo>
                <a:lnTo>
                  <a:pt x="11904" y="2"/>
                </a:lnTo>
                <a:lnTo>
                  <a:pt x="11904" y="7561"/>
                </a:lnTo>
                <a:lnTo>
                  <a:pt x="6027" y="7561"/>
                </a:lnTo>
                <a:lnTo>
                  <a:pt x="6027" y="2"/>
                </a:lnTo>
                <a:close/>
              </a:path>
              <a:path w="17605" h="7783">
                <a:moveTo>
                  <a:pt x="11920" y="2"/>
                </a:moveTo>
                <a:moveTo>
                  <a:pt x="11920" y="2"/>
                </a:moveTo>
                <a:lnTo>
                  <a:pt x="17602" y="2"/>
                </a:lnTo>
                <a:lnTo>
                  <a:pt x="17602" y="7671"/>
                </a:lnTo>
                <a:lnTo>
                  <a:pt x="11920" y="7671"/>
                </a:lnTo>
                <a:lnTo>
                  <a:pt x="11920" y="2"/>
                </a:lnTo>
                <a:close/>
              </a:path>
            </a:pathLst>
          </a:custGeom>
          <a:solidFill>
            <a:srgbClr val="FFFFE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58" name="table 1258"/>
          <p:cNvGraphicFramePr>
            <a:graphicFrameLocks noGrp="1"/>
          </p:cNvGraphicFramePr>
          <p:nvPr/>
        </p:nvGraphicFramePr>
        <p:xfrm>
          <a:off x="947102" y="1582610"/>
          <a:ext cx="11179175" cy="4942204"/>
        </p:xfrm>
        <a:graphic>
          <a:graphicData uri="http://schemas.openxmlformats.org/drawingml/2006/table">
            <a:tbl>
              <a:tblPr/>
              <a:tblGrid>
                <a:gridCol w="3830954"/>
                <a:gridCol w="3735070"/>
                <a:gridCol w="3613150"/>
              </a:tblGrid>
              <a:tr h="4801234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980" algn="l" rtl="0" eaLnBrk="0">
                        <a:lnSpc>
                          <a:spcPts val="640"/>
                        </a:lnSpc>
                        <a:spcBef>
                          <a:spcPts val="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coding:utf8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7155" indent="-3175" algn="l" rtl="0" eaLnBrk="0">
                        <a:lnSpc>
                          <a:spcPct val="160000"/>
                        </a:lnSpc>
                        <a:spcBef>
                          <a:spcPts val="260"/>
                        </a:spcBef>
                      </a:pP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演示sparksql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电影评分数据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                                                                                                        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time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640"/>
                        </a:lnSpc>
                        <a:spcBef>
                          <a:spcPts val="1160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pyspark.sql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S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parkSession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398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导入StructType对象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pyspark.sql.types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StructTyp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e,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StringType,</a:t>
                      </a: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7155" algn="l" rtl="0" eaLnBrk="0">
                        <a:lnSpc>
                          <a:spcPts val="900"/>
                        </a:lnSpc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</a:t>
                      </a:r>
                      <a:r>
                        <a:rPr sz="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pandas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.sql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functions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</a:t>
                      </a:r>
                      <a:endParaRPr sz="600" kern="0" spc="4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endParaRPr sz="1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7155" algn="l" rtl="0" eaLnBrk="0">
                        <a:lnSpc>
                          <a:spcPts val="640"/>
                        </a:lnSpc>
                        <a:spcBef>
                          <a:spcPts val="12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__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name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</a:t>
                      </a:r>
                      <a:r>
                        <a:rPr sz="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'__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main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___':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272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SparkS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ession.builder.\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900"/>
                        </a:lnSpc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appName("create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df").\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master("local[*]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"). 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config("spark.sql.shuffle.partitions",</a:t>
                      </a:r>
                      <a:r>
                        <a:rPr sz="6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"2").\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510"/>
                        </a:lnSpc>
                        <a:spcBef>
                          <a:spcPts val="390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2720" algn="l" rtl="0" eaLnBrk="0">
                        <a:lnSpc>
                          <a:spcPts val="640"/>
                        </a:lnSpc>
                        <a:spcBef>
                          <a:spcPts val="260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</a:t>
                      </a:r>
                      <a:r>
                        <a:rPr sz="6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spark.sparkContext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5260" algn="l" rtl="0" eaLnBrk="0">
                        <a:lnSpc>
                          <a:spcPct val="71000"/>
                        </a:lnSpc>
                        <a:spcBef>
                          <a:spcPts val="1295"/>
                        </a:spcBef>
                      </a:pP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"""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0180" algn="l" rtl="0" eaLnBrk="0">
                        <a:lnSpc>
                          <a:spcPts val="480"/>
                        </a:lnSpc>
                        <a:spcBef>
                          <a:spcPts val="515"/>
                        </a:spcBef>
                      </a:pP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需求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5260" algn="l" rtl="0" eaLnBrk="0">
                        <a:lnSpc>
                          <a:spcPts val="640"/>
                        </a:lnSpc>
                        <a:spcBef>
                          <a:spcPts val="320"/>
                        </a:spcBef>
                      </a:pP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1.查询用户平均分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272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2.查询电影平均分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335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3.查询大于平均分的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电影的数量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6954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4.查询高分电影中(&gt;3)打分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次数最多的用户, 并求出此人打的平均分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39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5.查询每个用户的平均打分, 最低打分, 最高打分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272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6.查询被评分超过100次的电影, 的平均分 排名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5260" algn="l" rtl="0" eaLnBrk="0">
                        <a:lnSpc>
                          <a:spcPct val="71000"/>
                        </a:lnSpc>
                        <a:spcBef>
                          <a:spcPts val="395"/>
                        </a:spcBef>
                      </a:pP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"""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0180" algn="l" rtl="0" eaLnBrk="0">
                        <a:lnSpc>
                          <a:spcPts val="640"/>
                        </a:lnSpc>
                        <a:spcBef>
                          <a:spcPts val="420"/>
                        </a:spcBef>
                      </a:pP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 读取数据集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208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StructType().add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("user_id",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StringType(),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nullable=True).\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650" algn="l" rtl="0" eaLnBrk="0">
                        <a:lnSpc>
                          <a:spcPts val="900"/>
                        </a:lnSpc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add("movie_id",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egerType(),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nullable=True).\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65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add("rank",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tegerType(),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nullable=True).\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765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add("ts",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StringType(),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nullable=True)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2085" algn="l" rtl="0" eaLnBrk="0">
                        <a:lnSpc>
                          <a:spcPts val="900"/>
                        </a:lnSpc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spark.read.format("csv").\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option("sep",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"\t"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option("header",</a:t>
                      </a: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False).\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option("encoding",</a:t>
                      </a:r>
                      <a:r>
                        <a:rPr sz="6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"utf-8").\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schema(schema).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load("../data/sql/u.data")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0180" algn="l" rtl="0" eaLnBrk="0">
                        <a:lnSpc>
                          <a:spcPts val="640"/>
                        </a:lnSpc>
                        <a:spcBef>
                          <a:spcPts val="1155"/>
                        </a:spcBef>
                      </a:pP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2. 注册成一个临时表,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方便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0" algn="l" rtl="0" eaLnBrk="0">
                        <a:lnSpc>
                          <a:spcPts val="900"/>
                        </a:lnSpc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df.createTempView("movie"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600" kern="0" spc="4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070" algn="l" rtl="0" eaLnBrk="0">
                        <a:lnSpc>
                          <a:spcPts val="775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需求1: 用户平均分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097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df.groupBy("us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er_id").\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9240" algn="l" rtl="0" eaLnBrk="0">
                        <a:lnSpc>
                          <a:spcPts val="1080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avg("rank").\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670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withColumnRenamed("avg(rank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)",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"avg_rank").\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670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withColumn("avg_rank",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F.rou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nd("avg_rank",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2)).\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987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orderBy("avg_rank", ascend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ing=False).\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987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show()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070" algn="l" rtl="0" eaLnBrk="0">
                        <a:lnSpc>
                          <a:spcPts val="775"/>
                        </a:lnSpc>
                        <a:spcBef>
                          <a:spcPts val="18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需求2: 查询电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影平均分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1610" algn="l" rtl="0" eaLnBrk="0">
                        <a:lnSpc>
                          <a:spcPts val="1080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spark.sql("""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051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movie_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id,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ROUND(AVG(rank),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2) AS avg_rank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movie GROUP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movie_id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144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 avg_rank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5420" algn="l" rtl="0" eaLnBrk="0">
                        <a:lnSpc>
                          <a:spcPts val="1080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""").show()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070" algn="l" rtl="0" eaLnBrk="0">
                        <a:lnSpc>
                          <a:spcPts val="775"/>
                        </a:lnSpc>
                        <a:spcBef>
                          <a:spcPts val="18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需求3: 查询大于平均分的电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影的数量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indent="-5080" algn="l" rtl="0" eaLnBrk="0">
                        <a:lnSpc>
                          <a:spcPct val="128000"/>
                        </a:lnSpc>
                        <a:spcBef>
                          <a:spcPts val="31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print(df.select(F.avg(df['rank'])).first()['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avg(rank)'])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print("大于平均分的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电影数量: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", df.where(df['rank']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&gt;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1440" algn="l" rtl="0" eaLnBrk="0">
                        <a:lnSpc>
                          <a:spcPts val="775"/>
                        </a:lnSpc>
                        <a:spcBef>
                          <a:spcPts val="31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df.select(F.avg(df['rank'])).first()['avg(rank)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']).count())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070" algn="l" rtl="0" eaLnBrk="0">
                        <a:lnSpc>
                          <a:spcPts val="775"/>
                        </a:lnSpc>
                        <a:spcBef>
                          <a:spcPts val="18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需求4: 查询高分电影中(&gt;3)打分次数最多的用户, 并求出此人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打的平均分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907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先找出这个人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351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user_id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df.where("rank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&gt;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3").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9875" algn="l" rtl="0" eaLnBrk="0">
                        <a:lnSpc>
                          <a:spcPts val="1080"/>
                        </a:lnSpc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groupBy("user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_id").\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987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count().\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670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withColumnRenamed("co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unt",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"cnt").\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987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orderBy("cnt", ascendi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ng=False).\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241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limit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(1).\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797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first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()['use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r_id']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907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计算这个人大的平均分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097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df.filter(df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['user_id']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user_id).\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987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select(F.round(F.avg('r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ank'),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2)).show()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070" algn="l" rtl="0" eaLnBrk="0">
                        <a:lnSpc>
                          <a:spcPts val="775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rount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(avg(rank),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 from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biao where userid=450;</a:t>
                      </a:r>
                      <a:endParaRPr sz="7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9870" algn="l" rtl="0" eaLnBrk="0">
                        <a:lnSpc>
                          <a:spcPts val="1160"/>
                        </a:lnSpc>
                        <a:spcBef>
                          <a:spcPts val="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需求5: 查询每个用户的平均打分, 最低打分,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最高打分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4140" indent="125095" algn="l" rtl="0" eaLnBrk="0">
                        <a:lnSpc>
                          <a:spcPct val="12800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user_id, mi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n(rank) as avg_rank,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max(rank)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max_rank, avg(rank)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table group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 user_id;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3680" algn="l" rtl="0" eaLnBrk="0">
                        <a:lnSpc>
                          <a:spcPts val="1160"/>
                        </a:lnSpc>
                        <a:spcBef>
                          <a:spcPts val="47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df.groupBy("use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r_id").\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6395" algn="l" rtl="0" eaLnBrk="0">
                        <a:lnSpc>
                          <a:spcPts val="1620"/>
                        </a:lnSpc>
                      </a:pPr>
                      <a:r>
                        <a:rPr sz="900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50609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F.round(F.avg('rank'), 2).</a:t>
                      </a:r>
                      <a:r>
                        <a:rPr sz="9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alias("avg_rank"),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506095" algn="l" rtl="0" eaLnBrk="0">
                        <a:lnSpc>
                          <a:spcPts val="1620"/>
                        </a:lnSpc>
                      </a:pPr>
                      <a:r>
                        <a:rPr sz="9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F.min('rank').</a:t>
                      </a:r>
                      <a:r>
                        <a:rPr sz="9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alias("min_rank"),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50609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F.max('rank').</a:t>
                      </a:r>
                      <a:r>
                        <a:rPr sz="9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alias("max_rank")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258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).show()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9870" algn="l" rtl="0" eaLnBrk="0">
                        <a:lnSpc>
                          <a:spcPts val="1160"/>
                        </a:lnSpc>
                        <a:spcBef>
                          <a:spcPts val="28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需求6: 查询被评分超过100次的电影, 的平均分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排名 TOP10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9695" indent="130175" algn="l" rtl="0" eaLnBrk="0">
                        <a:lnSpc>
                          <a:spcPct val="12800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movie_id, count(movie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_id) as cnt, avg(rank)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avg_rank from table group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movie_id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hav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ing cnt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&gt;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33045" indent="-3175" algn="l" rtl="0" eaLnBrk="0">
                        <a:lnSpc>
                          <a:spcPct val="128000"/>
                        </a:lnSpc>
                        <a:spcBef>
                          <a:spcPts val="475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order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 avg_rank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desc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lim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it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10;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df.groupBy("movie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_id").\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6395" algn="l" rtl="0" eaLnBrk="0">
                        <a:lnSpc>
                          <a:spcPts val="1160"/>
                        </a:lnSpc>
                        <a:spcBef>
                          <a:spcPts val="470"/>
                        </a:spcBef>
                      </a:pPr>
                      <a:r>
                        <a:rPr sz="900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50609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F.count("movie_id")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.alias("cnt"),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506095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F.round(F.avg("rank"), 2)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.alias("avg_rank")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2585" algn="l" rtl="0" eaLnBrk="0">
                        <a:lnSpc>
                          <a:spcPts val="1620"/>
                        </a:lnSpc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).where("cnt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&gt;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00").\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7030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orderBy("avg_rank", ascendi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ng=False).\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70840" algn="l" rtl="0" eaLnBrk="0">
                        <a:lnSpc>
                          <a:spcPts val="1160"/>
                        </a:lnSpc>
                        <a:spcBef>
                          <a:spcPts val="460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limit(10).show()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0505" algn="l" rtl="0" eaLnBrk="0">
                        <a:lnSpc>
                          <a:spcPts val="1160"/>
                        </a:lnSpc>
                        <a:spcBef>
                          <a:spcPts val="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time.sleep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(600)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ts val="106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1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260" name="picture 12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262" name="textbox 126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266" name="picture 12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268" name="textbox 1268"/>
          <p:cNvSpPr/>
          <p:nvPr/>
        </p:nvSpPr>
        <p:spPr>
          <a:xfrm>
            <a:off x="934222" y="1154175"/>
            <a:ext cx="2710179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电影评分数据分析案例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0" name="textbox 127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68" name="group 16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272" name="path 127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74" name="path 127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76" name="rect 127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78" name="rect 127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picture 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83920" y="1479804"/>
            <a:ext cx="10424159" cy="1981961"/>
          </a:xfrm>
          <a:prstGeom prst="rect">
            <a:avLst/>
          </a:prstGeom>
        </p:spPr>
      </p:pic>
      <p:pic>
        <p:nvPicPr>
          <p:cNvPr id="1282" name="picture 1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3919" y="3461766"/>
            <a:ext cx="7633715" cy="2616707"/>
          </a:xfrm>
          <a:prstGeom prst="rect">
            <a:avLst/>
          </a:prstGeom>
        </p:spPr>
      </p:pic>
      <p:pic>
        <p:nvPicPr>
          <p:cNvPr id="1284" name="picture 12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286" name="textbox 128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290" name="textbox 1290"/>
          <p:cNvSpPr/>
          <p:nvPr/>
        </p:nvSpPr>
        <p:spPr>
          <a:xfrm>
            <a:off x="934222" y="1154175"/>
            <a:ext cx="339915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3.6 SparkSQL Shuffle 分区数目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92" name="picture 12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294" name="textbox 129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70" name="group 17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296" name="path 129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98" name="path 129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00" name="rect 130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2" name="rect 130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4" name="picture 13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6592" y="2366009"/>
            <a:ext cx="8318753" cy="3187445"/>
          </a:xfrm>
          <a:prstGeom prst="rect">
            <a:avLst/>
          </a:prstGeom>
        </p:spPr>
      </p:pic>
      <p:pic>
        <p:nvPicPr>
          <p:cNvPr id="1306" name="picture 1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6592" y="1464564"/>
            <a:ext cx="10837163" cy="605027"/>
          </a:xfrm>
          <a:prstGeom prst="rect">
            <a:avLst/>
          </a:prstGeom>
        </p:spPr>
      </p:pic>
      <p:pic>
        <p:nvPicPr>
          <p:cNvPr id="1308" name="picture 13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310" name="textbox 131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14" name="textbox 1314"/>
          <p:cNvSpPr/>
          <p:nvPr/>
        </p:nvSpPr>
        <p:spPr>
          <a:xfrm>
            <a:off x="934222" y="1154175"/>
            <a:ext cx="290957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3.7 SparkSQL 数据清洗API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16" name="picture 1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318" name="textbox 131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72" name="group 17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320" name="path 132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22" name="path 132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24" name="rect 132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6" name="rect 132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picture 13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47928" y="1791462"/>
            <a:ext cx="10296143" cy="3867911"/>
          </a:xfrm>
          <a:prstGeom prst="rect">
            <a:avLst/>
          </a:prstGeom>
        </p:spPr>
      </p:pic>
      <p:pic>
        <p:nvPicPr>
          <p:cNvPr id="1330" name="picture 13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332" name="textbox 133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36" name="textbox 1336"/>
          <p:cNvSpPr/>
          <p:nvPr/>
        </p:nvSpPr>
        <p:spPr>
          <a:xfrm>
            <a:off x="934222" y="1154175"/>
            <a:ext cx="290957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3.7 SparkSQL 数据清洗API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38" name="picture 13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340" name="textbox 134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74" name="group 17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342" name="path 134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44" name="path 134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46" name="rect 134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8" name="rect 134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0" name="picture 13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43355" y="1889759"/>
            <a:ext cx="10538459" cy="3343655"/>
          </a:xfrm>
          <a:prstGeom prst="rect">
            <a:avLst/>
          </a:prstGeom>
        </p:spPr>
      </p:pic>
      <p:pic>
        <p:nvPicPr>
          <p:cNvPr id="1352" name="picture 1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354" name="textbox 135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58" name="textbox 1358"/>
          <p:cNvSpPr/>
          <p:nvPr/>
        </p:nvSpPr>
        <p:spPr>
          <a:xfrm>
            <a:off x="934222" y="1154175"/>
            <a:ext cx="290957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3.7 SparkSQL 数据清洗API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60" name="picture 13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362" name="textbox 136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76" name="group 17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364" name="path 136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6" name="path 136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68" name="rect 136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70" name="rect 137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picture 13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716786"/>
            <a:ext cx="9958565" cy="3424427"/>
          </a:xfrm>
          <a:prstGeom prst="rect">
            <a:avLst/>
          </a:prstGeom>
        </p:spPr>
      </p:pic>
      <p:pic>
        <p:nvPicPr>
          <p:cNvPr id="1374" name="picture 13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376" name="textbox 137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380" name="picture 13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382" name="textbox 1382"/>
          <p:cNvSpPr/>
          <p:nvPr/>
        </p:nvSpPr>
        <p:spPr>
          <a:xfrm>
            <a:off x="934222" y="1154175"/>
            <a:ext cx="259143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3.8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DataFrame数据写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4" name="textbox 138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78" name="group 17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386" name="path 138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8" name="path 138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90" name="rect 139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92" name="rect 139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picture 13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00683" y="1584198"/>
            <a:ext cx="7797545" cy="4582667"/>
          </a:xfrm>
          <a:prstGeom prst="rect">
            <a:avLst/>
          </a:prstGeom>
        </p:spPr>
      </p:pic>
      <p:pic>
        <p:nvPicPr>
          <p:cNvPr id="1396" name="picture 13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398" name="textbox 139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402" name="picture 14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404" name="textbox 1404"/>
          <p:cNvSpPr/>
          <p:nvPr/>
        </p:nvSpPr>
        <p:spPr>
          <a:xfrm>
            <a:off x="934222" y="1154175"/>
            <a:ext cx="259143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3.8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DataFrame数据写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6" name="textbox 140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80" name="group 18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408" name="path 140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10" name="path 141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12" name="rect 141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4" name="rect 141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6" name="picture 14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68502" y="1584197"/>
            <a:ext cx="8255507" cy="5169407"/>
          </a:xfrm>
          <a:prstGeom prst="rect">
            <a:avLst/>
          </a:prstGeom>
        </p:spPr>
      </p:pic>
      <p:pic>
        <p:nvPicPr>
          <p:cNvPr id="1418" name="picture 1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420" name="textbox 142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422" name="textbox 1422"/>
          <p:cNvSpPr/>
          <p:nvPr/>
        </p:nvSpPr>
        <p:spPr>
          <a:xfrm>
            <a:off x="934222" y="1154175"/>
            <a:ext cx="564197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3.9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 通过JDBC读</a:t>
            </a:r>
            <a:r>
              <a:rPr sz="18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写数据库（MySQL示例）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26" name="picture 14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428" name="textbox 142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82" name="group 18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430" name="path 143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32" name="path 143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34" name="rect 143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36" name="rect 143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70395" y="2577465"/>
            <a:ext cx="467550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机房环境，将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mysql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驱动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jar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包上传至：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0000"/>
                </a:solidFill>
              </a:rPr>
              <a:t>/export/server/anaconda3/lib/python3.9/site-packages/pyspark/jars</a:t>
            </a:r>
            <a:endParaRPr lang="en-US" altLang="zh-CN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14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584198"/>
            <a:ext cx="9614915" cy="4529327"/>
          </a:xfrm>
          <a:prstGeom prst="rect">
            <a:avLst/>
          </a:prstGeom>
        </p:spPr>
      </p:pic>
      <p:pic>
        <p:nvPicPr>
          <p:cNvPr id="1440" name="picture 1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442" name="textbox 144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444" name="textbox 1444"/>
          <p:cNvSpPr/>
          <p:nvPr/>
        </p:nvSpPr>
        <p:spPr>
          <a:xfrm>
            <a:off x="934222" y="1154175"/>
            <a:ext cx="564197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3.9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 通过JDBC读</a:t>
            </a:r>
            <a:r>
              <a:rPr sz="18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写数据库（MySQL示例）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48" name="picture 14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450" name="textbox 145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84" name="group 18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452" name="path 145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54" name="path 145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56" name="rect 145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8" name="rect 145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89605" y="4280535"/>
            <a:ext cx="50990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注意：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MySQL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中必须存在需要的数据库！！！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96815" y="2955925"/>
            <a:ext cx="354330" cy="30924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596890" y="2611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数据库名</a:t>
            </a:r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0" name="picture 14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584197"/>
            <a:ext cx="11071847" cy="4517135"/>
          </a:xfrm>
          <a:prstGeom prst="rect">
            <a:avLst/>
          </a:prstGeom>
        </p:spPr>
      </p:pic>
      <p:pic>
        <p:nvPicPr>
          <p:cNvPr id="1462" name="picture 1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464" name="textbox 146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466" name="textbox 1466"/>
          <p:cNvSpPr/>
          <p:nvPr/>
        </p:nvSpPr>
        <p:spPr>
          <a:xfrm>
            <a:off x="934222" y="1154175"/>
            <a:ext cx="564197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3.9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 通过JDBC读</a:t>
            </a:r>
            <a:r>
              <a:rPr sz="1800" b="1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写数据库（MySQL示例）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70" name="picture 14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472" name="textbox 147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86" name="group 18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474" name="path 147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76" name="path 147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78" name="rect 147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0" name="rect 148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89605" y="4280535"/>
            <a:ext cx="50990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注意：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MySQL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中必须存在需要的数据库！！！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textbox 1482"/>
          <p:cNvSpPr/>
          <p:nvPr/>
        </p:nvSpPr>
        <p:spPr>
          <a:xfrm>
            <a:off x="4948555" y="1207135"/>
            <a:ext cx="6278880" cy="5161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210" algn="l" rtl="0" eaLnBrk="0">
              <a:lnSpc>
                <a:spcPts val="1805"/>
              </a:lnSpc>
            </a:pP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 在结构层面上由StructField组成列描述，由StructType构造表描述。在数据层面上，Column对象记录列数据 , Row对象记录行数据</a:t>
            </a:r>
            <a:endParaRPr sz="1400" kern="0" spc="9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9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5600" indent="-334645" algn="l" rtl="0" eaLnBrk="0">
              <a:lnSpc>
                <a:spcPct val="164000"/>
              </a:lnSpc>
              <a:spcBef>
                <a:spcPts val="390"/>
              </a:spcBef>
            </a:pP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可以从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转换、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Pandas</a:t>
            </a:r>
            <a:r>
              <a:rPr sz="14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转换、读取文件、读取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JDBC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等方法构建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9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3855" indent="-340360" algn="l" rtl="0" eaLnBrk="0">
              <a:lnSpc>
                <a:spcPct val="164000"/>
              </a:lnSpc>
              <a:spcBef>
                <a:spcPts val="390"/>
              </a:spcBef>
            </a:pP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format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()和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format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 是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和写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的统一化标准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9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5600" indent="-343535" algn="l" rtl="0" eaLnBrk="0">
              <a:lnSpc>
                <a:spcPct val="164000"/>
              </a:lnSpc>
              <a:spcBef>
                <a:spcPts val="390"/>
              </a:spcBef>
            </a:pP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默认在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Shuffle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阶段200个分区，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可以修改参数获得最好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9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6235" indent="-330200" algn="l" rtl="0" eaLnBrk="0">
              <a:lnSpc>
                <a:spcPct val="164000"/>
              </a:lnSpc>
              <a:spcBef>
                <a:spcPts val="390"/>
              </a:spcBef>
            </a:pP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dropDuplicates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可以去重、</a:t>
            </a:r>
            <a:r>
              <a:rPr sz="14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dropna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可以删除缺失值、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fillna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可以填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充缺失值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ts val="1805"/>
              </a:lnSpc>
              <a:spcBef>
                <a:spcPts val="0"/>
              </a:spcBef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JDBC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读写，可用标准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对数据库进行读写操作</a:t>
            </a:r>
            <a:endParaRPr sz="1400" kern="0" spc="12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8" name="group 188"/>
          <p:cNvGrpSpPr/>
          <p:nvPr/>
        </p:nvGrpSpPr>
        <p:grpSpPr>
          <a:xfrm rot="21600000">
            <a:off x="710946" y="1928622"/>
            <a:ext cx="3594226" cy="3043300"/>
            <a:chOff x="0" y="0"/>
            <a:chExt cx="3594226" cy="3043300"/>
          </a:xfrm>
        </p:grpSpPr>
        <p:grpSp>
          <p:nvGrpSpPr>
            <p:cNvPr id="190" name="group 190"/>
            <p:cNvGrpSpPr/>
            <p:nvPr/>
          </p:nvGrpSpPr>
          <p:grpSpPr>
            <a:xfrm rot="21600000">
              <a:off x="0" y="0"/>
              <a:ext cx="3594226" cy="3043300"/>
              <a:chOff x="0" y="0"/>
              <a:chExt cx="3594226" cy="3043300"/>
            </a:xfrm>
          </p:grpSpPr>
          <p:sp>
            <p:nvSpPr>
              <p:cNvPr id="1484" name="path 1484"/>
              <p:cNvSpPr/>
              <p:nvPr/>
            </p:nvSpPr>
            <p:spPr>
              <a:xfrm>
                <a:off x="477900" y="2443098"/>
                <a:ext cx="600963" cy="600202"/>
              </a:xfrm>
              <a:custGeom>
                <a:avLst/>
                <a:gdLst/>
                <a:ahLst/>
                <a:cxnLst/>
                <a:rect l="0" t="0" r="0" b="0"/>
                <a:pathLst>
                  <a:path w="946" h="945">
                    <a:moveTo>
                      <a:pt x="10" y="472"/>
                    </a:moveTo>
                    <a:cubicBezTo>
                      <a:pt x="10" y="217"/>
                      <a:pt x="217" y="10"/>
                      <a:pt x="473" y="10"/>
                    </a:cubicBezTo>
                    <a:cubicBezTo>
                      <a:pt x="729" y="10"/>
                      <a:pt x="936" y="217"/>
                      <a:pt x="936" y="472"/>
                    </a:cubicBezTo>
                    <a:cubicBezTo>
                      <a:pt x="936" y="728"/>
                      <a:pt x="729" y="935"/>
                      <a:pt x="473" y="935"/>
                    </a:cubicBezTo>
                    <a:cubicBezTo>
                      <a:pt x="217" y="935"/>
                      <a:pt x="10" y="728"/>
                      <a:pt x="10" y="472"/>
                    </a:cubicBezTo>
                  </a:path>
                </a:pathLst>
              </a:custGeom>
              <a:noFill/>
              <a:ln w="12700" cap="flat">
                <a:solidFill>
                  <a:srgbClr val="BFBFB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6" name="path 1486"/>
              <p:cNvSpPr/>
              <p:nvPr/>
            </p:nvSpPr>
            <p:spPr>
              <a:xfrm>
                <a:off x="2097785" y="1855469"/>
                <a:ext cx="926591" cy="927353"/>
              </a:xfrm>
              <a:custGeom>
                <a:avLst/>
                <a:gdLst/>
                <a:ahLst/>
                <a:cxnLst/>
                <a:rect l="0" t="0" r="0" b="0"/>
                <a:pathLst>
                  <a:path w="1459" h="1460">
                    <a:moveTo>
                      <a:pt x="0" y="730"/>
                    </a:moveTo>
                    <a:cubicBezTo>
                      <a:pt x="0" y="326"/>
                      <a:pt x="326" y="0"/>
                      <a:pt x="729" y="0"/>
                    </a:cubicBezTo>
                    <a:cubicBezTo>
                      <a:pt x="1132" y="0"/>
                      <a:pt x="1459" y="326"/>
                      <a:pt x="1459" y="730"/>
                    </a:cubicBezTo>
                    <a:cubicBezTo>
                      <a:pt x="1459" y="1133"/>
                      <a:pt x="1132" y="1460"/>
                      <a:pt x="729" y="1460"/>
                    </a:cubicBezTo>
                    <a:cubicBezTo>
                      <a:pt x="326" y="1460"/>
                      <a:pt x="0" y="1133"/>
                      <a:pt x="0" y="730"/>
                    </a:cubicBezTo>
                  </a:path>
                </a:pathLst>
              </a:custGeom>
              <a:solidFill>
                <a:srgbClr val="515151">
                  <a:alpha val="63137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8" name="path 1488"/>
              <p:cNvSpPr/>
              <p:nvPr/>
            </p:nvSpPr>
            <p:spPr>
              <a:xfrm>
                <a:off x="1990470" y="443610"/>
                <a:ext cx="1603755" cy="1602993"/>
              </a:xfrm>
              <a:custGeom>
                <a:avLst/>
                <a:gdLst/>
                <a:ahLst/>
                <a:cxnLst/>
                <a:rect l="0" t="0" r="0" b="0"/>
                <a:pathLst>
                  <a:path w="2525" h="2524">
                    <a:moveTo>
                      <a:pt x="10" y="1262"/>
                    </a:moveTo>
                    <a:cubicBezTo>
                      <a:pt x="10" y="570"/>
                      <a:pt x="570" y="10"/>
                      <a:pt x="1262" y="10"/>
                    </a:cubicBezTo>
                    <a:cubicBezTo>
                      <a:pt x="1954" y="10"/>
                      <a:pt x="2515" y="570"/>
                      <a:pt x="2515" y="1262"/>
                    </a:cubicBezTo>
                    <a:cubicBezTo>
                      <a:pt x="2515" y="1953"/>
                      <a:pt x="1954" y="2514"/>
                      <a:pt x="1262" y="2514"/>
                    </a:cubicBezTo>
                    <a:cubicBezTo>
                      <a:pt x="570" y="2514"/>
                      <a:pt x="10" y="1953"/>
                      <a:pt x="10" y="1262"/>
                    </a:cubicBezTo>
                  </a:path>
                </a:pathLst>
              </a:custGeom>
              <a:noFill/>
              <a:ln w="12700" cap="flat">
                <a:solidFill>
                  <a:srgbClr val="515151"/>
                </a:solidFill>
                <a:prstDash val="dash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0" name="path 1490"/>
              <p:cNvSpPr/>
              <p:nvPr/>
            </p:nvSpPr>
            <p:spPr>
              <a:xfrm>
                <a:off x="778001" y="624839"/>
                <a:ext cx="1924811" cy="1895856"/>
              </a:xfrm>
              <a:custGeom>
                <a:avLst/>
                <a:gdLst/>
                <a:ahLst/>
                <a:cxnLst/>
                <a:rect l="0" t="0" r="0" b="0"/>
                <a:pathLst>
                  <a:path w="3031" h="2985">
                    <a:moveTo>
                      <a:pt x="0" y="1492"/>
                    </a:moveTo>
                    <a:cubicBezTo>
                      <a:pt x="0" y="668"/>
                      <a:pt x="678" y="0"/>
                      <a:pt x="1515" y="0"/>
                    </a:cubicBezTo>
                    <a:cubicBezTo>
                      <a:pt x="2352" y="0"/>
                      <a:pt x="3031" y="668"/>
                      <a:pt x="3031" y="1492"/>
                    </a:cubicBezTo>
                    <a:cubicBezTo>
                      <a:pt x="3031" y="2317"/>
                      <a:pt x="2352" y="2985"/>
                      <a:pt x="1515" y="2985"/>
                    </a:cubicBezTo>
                    <a:cubicBezTo>
                      <a:pt x="678" y="2985"/>
                      <a:pt x="0" y="2317"/>
                      <a:pt x="0" y="1492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2" name="path 1492"/>
              <p:cNvSpPr/>
              <p:nvPr/>
            </p:nvSpPr>
            <p:spPr>
              <a:xfrm>
                <a:off x="720851" y="567689"/>
                <a:ext cx="2039111" cy="2010156"/>
              </a:xfrm>
              <a:custGeom>
                <a:avLst/>
                <a:gdLst/>
                <a:ahLst/>
                <a:cxnLst/>
                <a:rect l="0" t="0" r="0" b="0"/>
                <a:pathLst>
                  <a:path w="3211" h="3165">
                    <a:moveTo>
                      <a:pt x="90" y="1582"/>
                    </a:moveTo>
                    <a:cubicBezTo>
                      <a:pt x="90" y="758"/>
                      <a:pt x="768" y="90"/>
                      <a:pt x="1605" y="90"/>
                    </a:cubicBezTo>
                    <a:cubicBezTo>
                      <a:pt x="2442" y="90"/>
                      <a:pt x="3121" y="758"/>
                      <a:pt x="3121" y="1582"/>
                    </a:cubicBezTo>
                    <a:cubicBezTo>
                      <a:pt x="3121" y="2407"/>
                      <a:pt x="2442" y="3075"/>
                      <a:pt x="1605" y="3075"/>
                    </a:cubicBezTo>
                    <a:cubicBezTo>
                      <a:pt x="768" y="3075"/>
                      <a:pt x="90" y="2407"/>
                      <a:pt x="90" y="1582"/>
                    </a:cubicBezTo>
                  </a:path>
                </a:pathLst>
              </a:custGeom>
              <a:noFill/>
              <a:ln w="114300" cap="flat">
                <a:solidFill>
                  <a:srgbClr val="AD2B2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4" name="path 1494"/>
              <p:cNvSpPr/>
              <p:nvPr/>
            </p:nvSpPr>
            <p:spPr>
              <a:xfrm>
                <a:off x="0" y="0"/>
                <a:ext cx="803909" cy="804671"/>
              </a:xfrm>
              <a:custGeom>
                <a:avLst/>
                <a:gdLst/>
                <a:ahLst/>
                <a:cxnLst/>
                <a:rect l="0" t="0" r="0" b="0"/>
                <a:pathLst>
                  <a:path w="1265" h="1267">
                    <a:moveTo>
                      <a:pt x="0" y="633"/>
                    </a:moveTo>
                    <a:cubicBezTo>
                      <a:pt x="0" y="283"/>
                      <a:pt x="283" y="0"/>
                      <a:pt x="633" y="0"/>
                    </a:cubicBezTo>
                    <a:cubicBezTo>
                      <a:pt x="982" y="0"/>
                      <a:pt x="1265" y="283"/>
                      <a:pt x="1265" y="633"/>
                    </a:cubicBezTo>
                    <a:cubicBezTo>
                      <a:pt x="1265" y="983"/>
                      <a:pt x="982" y="1267"/>
                      <a:pt x="633" y="1267"/>
                    </a:cubicBezTo>
                    <a:cubicBezTo>
                      <a:pt x="283" y="1267"/>
                      <a:pt x="0" y="983"/>
                      <a:pt x="0" y="633"/>
                    </a:cubicBezTo>
                  </a:path>
                </a:pathLst>
              </a:custGeom>
              <a:solidFill>
                <a:srgbClr val="F2F2F2">
                  <a:alpha val="70196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6" name="path 1496"/>
              <p:cNvSpPr/>
              <p:nvPr/>
            </p:nvSpPr>
            <p:spPr>
              <a:xfrm>
                <a:off x="2393441" y="106679"/>
                <a:ext cx="313943" cy="313944"/>
              </a:xfrm>
              <a:custGeom>
                <a:avLst/>
                <a:gdLst/>
                <a:ahLst/>
                <a:cxnLst/>
                <a:rect l="0" t="0" r="0" b="0"/>
                <a:pathLst>
                  <a:path w="494" h="494">
                    <a:moveTo>
                      <a:pt x="0" y="247"/>
                    </a:moveTo>
                    <a:cubicBezTo>
                      <a:pt x="0" y="110"/>
                      <a:pt x="110" y="0"/>
                      <a:pt x="247" y="0"/>
                    </a:cubicBezTo>
                    <a:cubicBezTo>
                      <a:pt x="383" y="0"/>
                      <a:pt x="494" y="110"/>
                      <a:pt x="494" y="247"/>
                    </a:cubicBezTo>
                    <a:cubicBezTo>
                      <a:pt x="494" y="383"/>
                      <a:pt x="383" y="494"/>
                      <a:pt x="247" y="494"/>
                    </a:cubicBezTo>
                    <a:cubicBezTo>
                      <a:pt x="110" y="494"/>
                      <a:pt x="0" y="383"/>
                      <a:pt x="0" y="247"/>
                    </a:cubicBezTo>
                  </a:path>
                </a:pathLst>
              </a:custGeom>
              <a:solidFill>
                <a:srgbClr val="49504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98" name="textbox 1498"/>
            <p:cNvSpPr/>
            <p:nvPr/>
          </p:nvSpPr>
          <p:spPr>
            <a:xfrm>
              <a:off x="-12700" y="-12700"/>
              <a:ext cx="3620134" cy="3098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2220" algn="l" rtl="0" eaLnBrk="0">
                <a:lnSpc>
                  <a:spcPct val="87000"/>
                </a:lnSpc>
              </a:pPr>
              <a:r>
                <a:rPr sz="40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500" name="picture 15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502" name="textbox 150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506" name="picture 15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508" name="textbox 150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92" name="group 19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510" name="path 151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12" name="path 151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14" name="rect 151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6" name="rect 151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textbox 1518"/>
          <p:cNvSpPr/>
          <p:nvPr/>
        </p:nvSpPr>
        <p:spPr>
          <a:xfrm>
            <a:off x="5362562" y="2428825"/>
            <a:ext cx="3502659" cy="1518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95000"/>
              </a:lnSpc>
            </a:pPr>
            <a:r>
              <a:rPr sz="31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3100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函数定义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5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20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 定义UDF函数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0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2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SparkSQL 使用窗口函数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94" name="group 194"/>
          <p:cNvGrpSpPr/>
          <p:nvPr/>
        </p:nvGrpSpPr>
        <p:grpSpPr>
          <a:xfrm rot="21600000">
            <a:off x="3596640" y="2338578"/>
            <a:ext cx="1410458" cy="1318260"/>
            <a:chOff x="0" y="0"/>
            <a:chExt cx="1410458" cy="1318260"/>
          </a:xfrm>
        </p:grpSpPr>
        <p:grpSp>
          <p:nvGrpSpPr>
            <p:cNvPr id="196" name="group 196"/>
            <p:cNvGrpSpPr/>
            <p:nvPr/>
          </p:nvGrpSpPr>
          <p:grpSpPr>
            <a:xfrm rot="21600000">
              <a:off x="0" y="0"/>
              <a:ext cx="1410458" cy="1318260"/>
              <a:chOff x="0" y="0"/>
              <a:chExt cx="1410458" cy="1318260"/>
            </a:xfrm>
          </p:grpSpPr>
          <p:sp>
            <p:nvSpPr>
              <p:cNvPr id="1520" name="path 1520"/>
              <p:cNvSpPr/>
              <p:nvPr/>
            </p:nvSpPr>
            <p:spPr>
              <a:xfrm>
                <a:off x="274315" y="0"/>
                <a:ext cx="1136142" cy="1318260"/>
              </a:xfrm>
              <a:custGeom>
                <a:avLst/>
                <a:gdLst/>
                <a:ahLst/>
                <a:cxnLst/>
                <a:rect l="0" t="0" r="0" b="0"/>
                <a:pathLst>
                  <a:path w="1789" h="2076">
                    <a:moveTo>
                      <a:pt x="894" y="0"/>
                    </a:moveTo>
                    <a:lnTo>
                      <a:pt x="1789" y="447"/>
                    </a:lnTo>
                    <a:lnTo>
                      <a:pt x="1789" y="1628"/>
                    </a:lnTo>
                    <a:lnTo>
                      <a:pt x="894" y="2076"/>
                    </a:lnTo>
                    <a:lnTo>
                      <a:pt x="0" y="1628"/>
                    </a:lnTo>
                    <a:lnTo>
                      <a:pt x="0" y="44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rgbClr val="AD2B2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2" name="path 1522"/>
              <p:cNvSpPr/>
              <p:nvPr/>
            </p:nvSpPr>
            <p:spPr>
              <a:xfrm>
                <a:off x="0" y="889253"/>
                <a:ext cx="370331" cy="429005"/>
              </a:xfrm>
              <a:custGeom>
                <a:avLst/>
                <a:gdLst/>
                <a:ahLst/>
                <a:cxnLst/>
                <a:rect l="0" t="0" r="0" b="0"/>
                <a:pathLst>
                  <a:path w="583" h="675">
                    <a:moveTo>
                      <a:pt x="291" y="0"/>
                    </a:moveTo>
                    <a:lnTo>
                      <a:pt x="583" y="145"/>
                    </a:lnTo>
                    <a:lnTo>
                      <a:pt x="583" y="529"/>
                    </a:lnTo>
                    <a:lnTo>
                      <a:pt x="291" y="675"/>
                    </a:lnTo>
                    <a:lnTo>
                      <a:pt x="0" y="529"/>
                    </a:lnTo>
                    <a:lnTo>
                      <a:pt x="0" y="145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24" name="textbox 1524"/>
            <p:cNvSpPr/>
            <p:nvPr/>
          </p:nvSpPr>
          <p:spPr>
            <a:xfrm>
              <a:off x="-12700" y="-12700"/>
              <a:ext cx="1436369" cy="1344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7690" algn="l" rtl="0" eaLnBrk="0">
                <a:lnSpc>
                  <a:spcPts val="5280"/>
                </a:lnSpc>
                <a:spcBef>
                  <a:spcPts val="0"/>
                </a:spcBef>
              </a:pPr>
              <a:r>
                <a:rPr sz="4000" b="1" kern="0" spc="-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picture 15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584197"/>
            <a:ext cx="11160238" cy="3681221"/>
          </a:xfrm>
          <a:prstGeom prst="rect">
            <a:avLst/>
          </a:prstGeom>
        </p:spPr>
      </p:pic>
      <p:pic>
        <p:nvPicPr>
          <p:cNvPr id="1528" name="picture 15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530" name="textbox 153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534" name="textbox 1534"/>
          <p:cNvSpPr/>
          <p:nvPr/>
        </p:nvSpPr>
        <p:spPr>
          <a:xfrm>
            <a:off x="920277" y="1154175"/>
            <a:ext cx="300990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定义UDF函数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36" name="picture 1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538" name="textbox 153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98" name="group 19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540" name="path 154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2" name="path 154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44" name="rect 154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6" name="rect 154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picture 15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72858" y="1600200"/>
            <a:ext cx="10846293" cy="3657599"/>
          </a:xfrm>
          <a:prstGeom prst="rect">
            <a:avLst/>
          </a:prstGeom>
        </p:spPr>
      </p:pic>
      <p:pic>
        <p:nvPicPr>
          <p:cNvPr id="1550" name="picture 1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552" name="textbox 155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556" name="textbox 1556"/>
          <p:cNvSpPr/>
          <p:nvPr/>
        </p:nvSpPr>
        <p:spPr>
          <a:xfrm>
            <a:off x="920277" y="1154175"/>
            <a:ext cx="300990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定义UDF函数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58" name="picture 15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560" name="textbox 156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00" name="group 20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562" name="path 156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4" name="path 156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66" name="rect 156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8" name="rect 156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textbox 1570"/>
          <p:cNvSpPr/>
          <p:nvPr/>
        </p:nvSpPr>
        <p:spPr>
          <a:xfrm>
            <a:off x="920277" y="1154175"/>
            <a:ext cx="10222230" cy="5509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定义UDF函数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09870" algn="l" rtl="0" eaLnBrk="0">
              <a:lnSpc>
                <a:spcPts val="1805"/>
              </a:lnSpc>
              <a:spcBef>
                <a:spcPts val="395"/>
              </a:spcBef>
            </a:pPr>
            <a:r>
              <a:rPr sz="1300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方式1语法：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09235" indent="11430" algn="l" rtl="0" eaLnBrk="0">
              <a:lnSpc>
                <a:spcPct val="126000"/>
              </a:lnSpc>
              <a:spcBef>
                <a:spcPts val="22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sz="1300" kern="0" spc="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(参数1，参数2，参数3）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参数1：</a:t>
            </a:r>
            <a:r>
              <a:rPr sz="1300" kern="0" spc="-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名称，可用于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09870" algn="l" rtl="0" eaLnBrk="0">
              <a:lnSpc>
                <a:spcPts val="1805"/>
              </a:lnSpc>
              <a:spcBef>
                <a:spcPts val="90"/>
              </a:spcBef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参数2：被注册成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的方法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0987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参数3：声明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的返回值类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2130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对象：</a:t>
            </a:r>
            <a:r>
              <a:rPr sz="1300" kern="0" spc="3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返回值对象，是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对象，可用于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09870" algn="l" rtl="0" eaLnBrk="0">
              <a:lnSpc>
                <a:spcPts val="1805"/>
              </a:lnSpc>
              <a:spcBef>
                <a:spcPts val="390"/>
              </a:spcBef>
            </a:pPr>
            <a:r>
              <a:rPr sz="1300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方式2语法：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2130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sz="1300" kern="0" spc="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F.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(参数1</a:t>
            </a:r>
            <a:r>
              <a:rPr sz="1300" kern="0" spc="-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参数2)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0987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参数1</a:t>
            </a:r>
            <a:r>
              <a:rPr sz="1300" kern="0" spc="-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：被注册成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方法名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0987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参数2</a:t>
            </a:r>
            <a:r>
              <a:rPr sz="1300" kern="0" spc="-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：声明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的返回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值类型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21300" algn="l" rtl="0" eaLnBrk="0">
              <a:lnSpc>
                <a:spcPts val="1805"/>
              </a:lnSpc>
              <a:spcBef>
                <a:spcPts val="21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对象：</a:t>
            </a:r>
            <a:r>
              <a:rPr sz="1300" kern="0" spc="3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返回值对象，是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对象，可用于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11140" algn="l" rtl="0" eaLnBrk="0">
              <a:lnSpc>
                <a:spcPct val="88000"/>
              </a:lnSpc>
              <a:spcBef>
                <a:spcPts val="395"/>
              </a:spcBef>
            </a:pPr>
            <a:r>
              <a:rPr sz="1300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其中F是：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13045" algn="l" rtl="0" eaLnBrk="0">
              <a:lnSpc>
                <a:spcPts val="1805"/>
              </a:lnSpc>
              <a:spcBef>
                <a:spcPts val="375"/>
              </a:spcBef>
            </a:pP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sz="1300" kern="0" spc="1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pyspark.sql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 functions as</a:t>
            </a:r>
            <a:r>
              <a:rPr sz="1300" kern="0" spc="1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16855" indent="-5715" algn="l" rtl="0" eaLnBrk="0">
              <a:lnSpc>
                <a:spcPct val="114000"/>
              </a:lnSpc>
              <a:spcBef>
                <a:spcPts val="455"/>
              </a:spcBef>
            </a:pP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其中，被注册成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的方法名是指具体的计算方法，如：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(x,</a:t>
            </a:r>
            <a:r>
              <a:rPr sz="1300" kern="0" spc="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y): x</a:t>
            </a:r>
            <a:r>
              <a:rPr sz="1300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300" kern="0" spc="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16220" algn="l" rtl="0" eaLnBrk="0">
              <a:lnSpc>
                <a:spcPts val="1805"/>
              </a:lnSpc>
              <a:spcBef>
                <a:spcPts val="230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就是将要被注册成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的方法名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72" name="picture 15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498854"/>
            <a:ext cx="4813553" cy="2324099"/>
          </a:xfrm>
          <a:prstGeom prst="rect">
            <a:avLst/>
          </a:prstGeom>
        </p:spPr>
      </p:pic>
      <p:pic>
        <p:nvPicPr>
          <p:cNvPr id="1574" name="picture 15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576" name="textbox 157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580" name="picture 15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582" name="textbox 158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02" name="group 20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584" name="path 158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6" name="path 158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88" name="rect 158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0" name="rect 159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2" name="picture 15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pic>
        <p:nvPicPr>
          <p:cNvPr id="1594" name="picture 15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596" name="textbox 159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598" name="picture 15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6874" y="2101596"/>
            <a:ext cx="10307560" cy="4529327"/>
          </a:xfrm>
          <a:prstGeom prst="rect">
            <a:avLst/>
          </a:prstGeom>
        </p:spPr>
      </p:pic>
      <p:sp>
        <p:nvSpPr>
          <p:cNvPr id="1600" name="textbox 1600"/>
          <p:cNvSpPr/>
          <p:nvPr/>
        </p:nvSpPr>
        <p:spPr>
          <a:xfrm>
            <a:off x="920277" y="1154175"/>
            <a:ext cx="3960495" cy="885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定义UDF函数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895"/>
              </a:lnSpc>
              <a:spcBef>
                <a:spcPts val="0"/>
              </a:spcBef>
            </a:pPr>
            <a:r>
              <a:rPr sz="1600" kern="0" spc="-130" dirty="0">
                <a:solidFill>
                  <a:srgbClr val="6A6A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演示如0下</a:t>
            </a:r>
            <a:r>
              <a:rPr sz="1600" kern="0" spc="-120" dirty="0">
                <a:solidFill>
                  <a:srgbClr val="6A6A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,构建一个</a:t>
            </a:r>
            <a:r>
              <a:rPr sz="1600" kern="0" spc="-130" dirty="0">
                <a:solidFill>
                  <a:srgbClr val="6A6A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</a:t>
            </a:r>
            <a:r>
              <a:rPr sz="1600" kern="0" spc="-280" dirty="0">
                <a:solidFill>
                  <a:srgbClr val="6A6A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130" dirty="0">
                <a:solidFill>
                  <a:srgbClr val="6A6A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ger返回值类型的5UD</a:t>
            </a:r>
            <a:r>
              <a:rPr sz="1600" kern="0" spc="-80" dirty="0">
                <a:solidFill>
                  <a:srgbClr val="6A6A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2" name="textbox 160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04" name="group 20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606" name="path 160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8" name="path 160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10" name="rect 161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12" name="rect 161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picture 16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719071"/>
            <a:ext cx="10845533" cy="4559045"/>
          </a:xfrm>
          <a:prstGeom prst="rect">
            <a:avLst/>
          </a:prstGeom>
        </p:spPr>
      </p:pic>
      <p:pic>
        <p:nvPicPr>
          <p:cNvPr id="1616" name="picture 16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618" name="textbox 161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22" name="textbox 1622"/>
          <p:cNvSpPr/>
          <p:nvPr/>
        </p:nvSpPr>
        <p:spPr>
          <a:xfrm>
            <a:off x="920277" y="1154175"/>
            <a:ext cx="300990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定义UDF函数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24" name="picture 16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626" name="textbox 162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06" name="group 20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628" name="path 162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30" name="path 163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32" name="rect 163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4" name="rect 163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6" name="picture 16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584197"/>
            <a:ext cx="9220199" cy="4910327"/>
          </a:xfrm>
          <a:prstGeom prst="rect">
            <a:avLst/>
          </a:prstGeom>
        </p:spPr>
      </p:pic>
      <p:pic>
        <p:nvPicPr>
          <p:cNvPr id="1638" name="picture 16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640" name="textbox 164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44" name="textbox 1644"/>
          <p:cNvSpPr/>
          <p:nvPr/>
        </p:nvSpPr>
        <p:spPr>
          <a:xfrm>
            <a:off x="920277" y="1154175"/>
            <a:ext cx="300990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定义UDF函数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46" name="picture 16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648" name="textbox 164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08" name="group 20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650" name="path 165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52" name="path 165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54" name="rect 165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56" name="rect 165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" name="picture 16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518666"/>
            <a:ext cx="8359901" cy="3816083"/>
          </a:xfrm>
          <a:prstGeom prst="rect">
            <a:avLst/>
          </a:prstGeom>
        </p:spPr>
      </p:pic>
      <p:sp>
        <p:nvSpPr>
          <p:cNvPr id="1660" name="textbox 1660"/>
          <p:cNvSpPr/>
          <p:nvPr/>
        </p:nvSpPr>
        <p:spPr>
          <a:xfrm>
            <a:off x="917790" y="5379542"/>
            <a:ext cx="2673985" cy="1297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注意: 字典类型返回值, 可以用StructType</a:t>
            </a:r>
            <a:r>
              <a:rPr sz="9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来进行描述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415" algn="l" rtl="0" eaLnBrk="0">
              <a:lnSpc>
                <a:spcPts val="2590"/>
              </a:lnSpc>
            </a:pPr>
            <a:r>
              <a:rPr sz="900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StructType是一个普通的Spar</a:t>
            </a:r>
            <a:r>
              <a:rPr sz="9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k支持的结构化类型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</a:pPr>
            <a:r>
              <a:rPr sz="9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只是可以用在: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87000"/>
              </a:lnSpc>
              <a:spcBef>
                <a:spcPts val="275"/>
              </a:spcBef>
            </a:pPr>
            <a:r>
              <a:rPr sz="900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sz="900" kern="0" spc="1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DF中用于描述Schema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9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0" algn="l" rtl="0" eaLnBrk="0">
              <a:lnSpc>
                <a:spcPct val="87000"/>
              </a:lnSpc>
              <a:spcBef>
                <a:spcPts val="0"/>
              </a:spcBef>
            </a:pPr>
            <a:r>
              <a:rPr sz="9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中用于描述返回值是字典的数据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62" name="picture 16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664" name="textbox 166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68" name="textbox 1668"/>
          <p:cNvSpPr/>
          <p:nvPr/>
        </p:nvSpPr>
        <p:spPr>
          <a:xfrm>
            <a:off x="920277" y="1154175"/>
            <a:ext cx="300990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定义UDF函数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70" name="picture 16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672" name="textbox 167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10" name="group 21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674" name="path 167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76" name="path 167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78" name="rect 167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0" name="rect 168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2" name="textbox 1682"/>
          <p:cNvSpPr/>
          <p:nvPr/>
        </p:nvSpPr>
        <p:spPr>
          <a:xfrm>
            <a:off x="927163" y="6543116"/>
            <a:ext cx="356234" cy="13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900" kern="0" spc="-5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sz="900" kern="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5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4" name="picture 16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3543" y="1584197"/>
            <a:ext cx="4207001" cy="5138927"/>
          </a:xfrm>
          <a:prstGeom prst="rect">
            <a:avLst/>
          </a:prstGeom>
        </p:spPr>
      </p:pic>
      <p:pic>
        <p:nvPicPr>
          <p:cNvPr id="1686" name="picture 16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688" name="textbox 168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92" name="textbox 1692"/>
          <p:cNvSpPr/>
          <p:nvPr/>
        </p:nvSpPr>
        <p:spPr>
          <a:xfrm>
            <a:off x="920277" y="1154175"/>
            <a:ext cx="300990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定义UDF函数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94" name="picture 16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696" name="textbox 169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12" name="group 21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698" name="path 169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0" name="path 170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02" name="rect 170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4" name="rect 170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6" name="picture 17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2029206"/>
            <a:ext cx="9573766" cy="4335017"/>
          </a:xfrm>
          <a:prstGeom prst="rect">
            <a:avLst/>
          </a:prstGeom>
        </p:spPr>
      </p:pic>
      <p:pic>
        <p:nvPicPr>
          <p:cNvPr id="1708" name="picture 17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710" name="textbox 1710"/>
          <p:cNvSpPr/>
          <p:nvPr/>
        </p:nvSpPr>
        <p:spPr>
          <a:xfrm>
            <a:off x="824738" y="1154175"/>
            <a:ext cx="3077210" cy="855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使用窗口函数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000"/>
              </a:lnSpc>
              <a:spcBef>
                <a:spcPts val="5"/>
              </a:spcBef>
            </a:pPr>
            <a:r>
              <a:rPr sz="2400" kern="0" spc="-140" dirty="0">
                <a:solidFill>
                  <a:srgbClr val="515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开窗函数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2" name="textbox 171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716" name="picture 17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718" name="textbox 171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14" name="group 21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720" name="path 172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22" name="path 172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24" name="rect 172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26" name="rect 172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28" name="textbox 1728"/>
          <p:cNvSpPr/>
          <p:nvPr/>
        </p:nvSpPr>
        <p:spPr>
          <a:xfrm>
            <a:off x="860933" y="6138392"/>
            <a:ext cx="14097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50"/>
              </a:lnSpc>
            </a:pPr>
            <a:r>
              <a:rPr sz="1200" kern="0" spc="-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" name="picture 17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889759"/>
            <a:ext cx="10865357" cy="3241547"/>
          </a:xfrm>
          <a:prstGeom prst="rect">
            <a:avLst/>
          </a:prstGeom>
        </p:spPr>
      </p:pic>
      <p:pic>
        <p:nvPicPr>
          <p:cNvPr id="1732" name="picture 17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734" name="textbox 173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738" name="textbox 1738"/>
          <p:cNvSpPr/>
          <p:nvPr/>
        </p:nvSpPr>
        <p:spPr>
          <a:xfrm>
            <a:off x="920277" y="1154175"/>
            <a:ext cx="29819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使用窗口函数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40" name="picture 17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742" name="textbox 174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16" name="group 21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744" name="path 174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6" name="path 174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48" name="rect 174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50" name="rect 175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2" name="picture 17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pic>
        <p:nvPicPr>
          <p:cNvPr id="1754" name="picture 17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756" name="textbox 175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1758" name="table 1758"/>
          <p:cNvGraphicFramePr>
            <a:graphicFrameLocks noGrp="1"/>
          </p:cNvGraphicFramePr>
          <p:nvPr/>
        </p:nvGraphicFramePr>
        <p:xfrm>
          <a:off x="6406832" y="1582610"/>
          <a:ext cx="3829049" cy="5080634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3829049"/>
              </a:tblGrid>
              <a:tr h="5077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7155" algn="l" rtl="0" eaLnBrk="0">
                        <a:lnSpc>
                          <a:spcPts val="775"/>
                        </a:lnSpc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StructType().a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dd("name",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StringType()).\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4320" algn="l" rtl="0" eaLnBrk="0">
                        <a:lnSpc>
                          <a:spcPts val="1080"/>
                        </a:lnSpc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add("class",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tringType()).\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432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add("score"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IntegerType())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6055" algn="l" rtl="0" eaLnBrk="0">
                        <a:lnSpc>
                          <a:spcPts val="1080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rdd.toDF(schem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055" indent="-1905" algn="l" rtl="0" eaLnBrk="0">
                        <a:lnSpc>
                          <a:spcPct val="128000"/>
                        </a:lnSpc>
                        <a:spcBef>
                          <a:spcPts val="190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窗口函数只用于SQL风格, 所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以注册表先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           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df.createTempVie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w("stu")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690" indent="-2540" algn="l" rtl="0" eaLnBrk="0">
                        <a:lnSpc>
                          <a:spcPct val="128000"/>
                        </a:lnSpc>
                        <a:spcBef>
                          <a:spcPts val="185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TODO 聚合窗口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                                              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spark.sql("""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5590" algn="l" rtl="0" eaLnBrk="0">
                        <a:lnSpc>
                          <a:spcPts val="775"/>
                        </a:lnSpc>
                        <a:spcBef>
                          <a:spcPts val="310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 *, AVG(score) OVER(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 AS avg_score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stu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0500" algn="l" rtl="0" eaLnBrk="0">
                        <a:lnSpc>
                          <a:spcPts val="1080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""").show()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 *, AVG(score) OVER()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AS avg_score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stu 等同于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*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tu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 AVG(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score)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stu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两个SQL的结果集进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行整合而来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690" algn="l" rtl="0" eaLnBrk="0">
                        <a:lnSpc>
                          <a:spcPts val="775"/>
                        </a:lnSpc>
                        <a:spcBef>
                          <a:spcPts val="185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spark.sql("""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5125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 *, AVG(score) OVER(PARTITIO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 class) AS avg_score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stu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8765" algn="l" rtl="0" eaLnBrk="0">
                        <a:lnSpc>
                          <a:spcPts val="1080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""").show()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 *, AVG(score) OVER(PARTITI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 class) AS avg_score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stu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等同于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*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tu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SELECT AVG(s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core)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stu GROUP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两个SQL的结果集进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行整合而来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690" indent="-2540" algn="l" rtl="0" eaLnBrk="0">
                        <a:lnSpc>
                          <a:spcPct val="128000"/>
                        </a:lnSpc>
                        <a:spcBef>
                          <a:spcPts val="190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TODO 排序窗口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                                              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spark.sql("""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5590" algn="l" rtl="0" eaLnBrk="0">
                        <a:lnSpc>
                          <a:spcPts val="775"/>
                        </a:lnSpc>
                        <a:spcBef>
                          <a:spcPts val="310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 *,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ROW_NUMBER() OVER(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 BY score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DESC) AS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row_number_rank,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00355" algn="l" rtl="0" eaLnBrk="0">
                        <a:lnSpc>
                          <a:spcPct val="144000"/>
                        </a:lnSpc>
                        <a:spcBef>
                          <a:spcPts val="12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DENSE_RANK() OVER(PARTITION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class ORDER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 score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DESC) AS dense_rank,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RANK() OV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ER(ORDER BY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score) AS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rank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00355" algn="l" rtl="0" eaLnBrk="0">
                        <a:lnSpc>
                          <a:spcPts val="470"/>
                        </a:lnSpc>
                        <a:spcBef>
                          <a:spcPts val="425"/>
                        </a:spcBef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stu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0500" algn="l" rtl="0" eaLnBrk="0">
                        <a:lnSpc>
                          <a:spcPts val="1225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""").show()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TODO</a:t>
                      </a:r>
                      <a:r>
                        <a:rPr sz="6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NTILE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6690" algn="l" rtl="0" eaLnBrk="0">
                        <a:lnSpc>
                          <a:spcPts val="1080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spark.sql("""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5590" algn="l" rtl="0" eaLnBrk="0">
                        <a:lnSpc>
                          <a:spcPts val="775"/>
                        </a:lnSpc>
                        <a:spcBef>
                          <a:spcPts val="30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 *,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NTIL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E(6) OVER(ORDER BY score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DESC)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stu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0500" algn="l" rtl="0" eaLnBrk="0">
                        <a:lnSpc>
                          <a:spcPts val="1080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""").show()</a:t>
                      </a:r>
                      <a:endParaRPr sz="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0" name="table 1760"/>
          <p:cNvGraphicFramePr>
            <a:graphicFrameLocks noGrp="1"/>
          </p:cNvGraphicFramePr>
          <p:nvPr/>
        </p:nvGraphicFramePr>
        <p:xfrm>
          <a:off x="947102" y="1582610"/>
          <a:ext cx="3829050" cy="4826000"/>
        </p:xfrm>
        <a:graphic>
          <a:graphicData uri="http://schemas.openxmlformats.org/drawingml/2006/table">
            <a:tbl>
              <a:tblPr>
                <a:solidFill>
                  <a:srgbClr val="FFFFE4"/>
                </a:solidFill>
              </a:tblPr>
              <a:tblGrid>
                <a:gridCol w="3829050"/>
              </a:tblGrid>
              <a:tr h="4822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980" algn="l" rtl="0" eaLnBrk="0">
                        <a:lnSpc>
                          <a:spcPts val="640"/>
                        </a:lnSpc>
                        <a:spcBef>
                          <a:spcPts val="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coding:utf8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7155" indent="-3175" algn="l" rtl="0" eaLnBrk="0">
                        <a:lnSpc>
                          <a:spcPct val="160000"/>
                        </a:lnSpc>
                        <a:spcBef>
                          <a:spcPts val="260"/>
                        </a:spcBef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演示sparksql 窗口函数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(开窗函数)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                                                                                               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640"/>
                        </a:lnSpc>
                        <a:spcBef>
                          <a:spcPts val="116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pyspark.sql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parkSession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398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 导入StructType对象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pyspark.sql.types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ArrayType,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gType,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StructType,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IntegerType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7155" algn="l" rtl="0" eaLnBrk="0">
                        <a:lnSpc>
                          <a:spcPts val="9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pandas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461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 pyspark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.sql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import functions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7155" algn="l" rtl="0" eaLnBrk="0">
                        <a:lnSpc>
                          <a:spcPts val="640"/>
                        </a:lnSpc>
                        <a:spcBef>
                          <a:spcPts val="115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__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name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==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'__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main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___':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272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SparkS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ession.builder.\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900"/>
                        </a:lnSpc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appName("create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82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master("local[*]"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config("spark.sql.shuffle.partitions",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"2").\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8285" algn="l" rtl="0" eaLnBrk="0">
                        <a:lnSpc>
                          <a:spcPts val="510"/>
                        </a:lnSpc>
                        <a:spcBef>
                          <a:spcPts val="39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getOrCreate()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2720" algn="l" rtl="0" eaLnBrk="0">
                        <a:lnSpc>
                          <a:spcPts val="640"/>
                        </a:lnSpc>
                        <a:spcBef>
                          <a:spcPts val="26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</a:t>
                      </a:r>
                      <a:r>
                        <a:rPr sz="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spark.sparkContext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4625" algn="l" rtl="0" eaLnBrk="0">
                        <a:lnSpc>
                          <a:spcPts val="640"/>
                        </a:lnSpc>
                        <a:spcBef>
                          <a:spcPts val="11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rdd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sc.paral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lelize([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9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('张三',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1',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99),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900"/>
                        </a:lnSpc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('王五',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_2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',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9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('王三',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_3',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9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('王久',</a:t>
                      </a:r>
                      <a:r>
                        <a:rPr sz="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_4',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900"/>
                        </a:lnSpc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('王丽',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_5'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99),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('王娟',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1',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90),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('王军',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_2'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('王俊',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_3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',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('王君',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_4',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('王珺',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_5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('郑颖',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1',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('郑辉',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_2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',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('张丽',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_3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',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('张张',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_4'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('黄凯',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_5'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90),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('黄开',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1',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90),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('黄恺',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_2'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90),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('王凯',</a:t>
                      </a:r>
                      <a:r>
                        <a:rPr sz="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_3',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('王凯杰',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1',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('王开杰',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_2',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),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0190" algn="l" rtl="0" eaLnBrk="0">
                        <a:lnSpc>
                          <a:spcPts val="640"/>
                        </a:lnSpc>
                        <a:spcBef>
                          <a:spcPts val="2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('王景亮',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'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class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_3',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99)</a:t>
                      </a:r>
                      <a:endParaRPr sz="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0815" algn="l" rtl="0" eaLnBrk="0">
                        <a:lnSpc>
                          <a:spcPts val="640"/>
                        </a:lnSpc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])</a:t>
                      </a:r>
                      <a:endParaRPr sz="700" kern="0" spc="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1762" name="textbox 176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766" name="textbox 1766"/>
          <p:cNvSpPr/>
          <p:nvPr/>
        </p:nvSpPr>
        <p:spPr>
          <a:xfrm>
            <a:off x="920277" y="1154175"/>
            <a:ext cx="29819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SparkSQL</a:t>
            </a: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使用窗口函数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18" name="group 21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768" name="path 176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70" name="path 177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72" name="rect 177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74" name="rect 177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textbox 1776"/>
          <p:cNvSpPr/>
          <p:nvPr/>
        </p:nvSpPr>
        <p:spPr>
          <a:xfrm>
            <a:off x="5215621" y="2337965"/>
            <a:ext cx="5477509" cy="2917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ts val="1805"/>
              </a:lnSpc>
            </a:pP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UDAF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定义，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但在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中，暂时只能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0680" algn="l" rtl="0" eaLnBrk="0">
              <a:lnSpc>
                <a:spcPct val="78000"/>
              </a:lnSpc>
              <a:spcBef>
                <a:spcPts val="395"/>
              </a:spcBef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05"/>
              </a:lnSpc>
              <a:spcBef>
                <a:spcPts val="400"/>
              </a:spcBef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定义支持2种方式,</a:t>
            </a:r>
            <a:r>
              <a:rPr sz="13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1:使用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SparkSession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对象构建.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2: 使用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7345" indent="2540" algn="l" rtl="0" eaLnBrk="0">
              <a:lnSpc>
                <a:spcPct val="170000"/>
              </a:lnSpc>
              <a:spcBef>
                <a:spcPts val="1545"/>
              </a:spcBef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functions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包中提供的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UDF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构建. 要注意, 方式1可用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风格, 方式2 仅可用于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DSL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7345" indent="-332740" algn="l" rtl="0" eaLnBrk="0">
              <a:lnSpc>
                <a:spcPct val="170000"/>
              </a:lnSpc>
              <a:spcBef>
                <a:spcPts val="0"/>
              </a:spcBef>
            </a:pP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支持窗口函数使用, 常用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中的窗口函数均支持, 如聚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合窗口\排序窗口\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NTILE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分组窗口等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0" name="group 220"/>
          <p:cNvGrpSpPr/>
          <p:nvPr/>
        </p:nvGrpSpPr>
        <p:grpSpPr>
          <a:xfrm rot="21600000">
            <a:off x="710946" y="1928622"/>
            <a:ext cx="3594226" cy="3043300"/>
            <a:chOff x="0" y="0"/>
            <a:chExt cx="3594226" cy="3043300"/>
          </a:xfrm>
        </p:grpSpPr>
        <p:grpSp>
          <p:nvGrpSpPr>
            <p:cNvPr id="222" name="group 222"/>
            <p:cNvGrpSpPr/>
            <p:nvPr/>
          </p:nvGrpSpPr>
          <p:grpSpPr>
            <a:xfrm rot="21600000">
              <a:off x="0" y="0"/>
              <a:ext cx="3594226" cy="3043300"/>
              <a:chOff x="0" y="0"/>
              <a:chExt cx="3594226" cy="3043300"/>
            </a:xfrm>
          </p:grpSpPr>
          <p:sp>
            <p:nvSpPr>
              <p:cNvPr id="1778" name="path 1778"/>
              <p:cNvSpPr/>
              <p:nvPr/>
            </p:nvSpPr>
            <p:spPr>
              <a:xfrm>
                <a:off x="477900" y="2443098"/>
                <a:ext cx="600963" cy="600202"/>
              </a:xfrm>
              <a:custGeom>
                <a:avLst/>
                <a:gdLst/>
                <a:ahLst/>
                <a:cxnLst/>
                <a:rect l="0" t="0" r="0" b="0"/>
                <a:pathLst>
                  <a:path w="946" h="945">
                    <a:moveTo>
                      <a:pt x="10" y="472"/>
                    </a:moveTo>
                    <a:cubicBezTo>
                      <a:pt x="10" y="217"/>
                      <a:pt x="217" y="10"/>
                      <a:pt x="473" y="10"/>
                    </a:cubicBezTo>
                    <a:cubicBezTo>
                      <a:pt x="729" y="10"/>
                      <a:pt x="936" y="217"/>
                      <a:pt x="936" y="472"/>
                    </a:cubicBezTo>
                    <a:cubicBezTo>
                      <a:pt x="936" y="728"/>
                      <a:pt x="729" y="935"/>
                      <a:pt x="473" y="935"/>
                    </a:cubicBezTo>
                    <a:cubicBezTo>
                      <a:pt x="217" y="935"/>
                      <a:pt x="10" y="728"/>
                      <a:pt x="10" y="472"/>
                    </a:cubicBezTo>
                  </a:path>
                </a:pathLst>
              </a:custGeom>
              <a:noFill/>
              <a:ln w="12700" cap="flat">
                <a:solidFill>
                  <a:srgbClr val="BFBFB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0" name="path 1780"/>
              <p:cNvSpPr/>
              <p:nvPr/>
            </p:nvSpPr>
            <p:spPr>
              <a:xfrm>
                <a:off x="2097785" y="1855469"/>
                <a:ext cx="926591" cy="927353"/>
              </a:xfrm>
              <a:custGeom>
                <a:avLst/>
                <a:gdLst/>
                <a:ahLst/>
                <a:cxnLst/>
                <a:rect l="0" t="0" r="0" b="0"/>
                <a:pathLst>
                  <a:path w="1459" h="1460">
                    <a:moveTo>
                      <a:pt x="0" y="730"/>
                    </a:moveTo>
                    <a:cubicBezTo>
                      <a:pt x="0" y="326"/>
                      <a:pt x="326" y="0"/>
                      <a:pt x="729" y="0"/>
                    </a:cubicBezTo>
                    <a:cubicBezTo>
                      <a:pt x="1132" y="0"/>
                      <a:pt x="1459" y="326"/>
                      <a:pt x="1459" y="730"/>
                    </a:cubicBezTo>
                    <a:cubicBezTo>
                      <a:pt x="1459" y="1133"/>
                      <a:pt x="1132" y="1460"/>
                      <a:pt x="729" y="1460"/>
                    </a:cubicBezTo>
                    <a:cubicBezTo>
                      <a:pt x="326" y="1460"/>
                      <a:pt x="0" y="1133"/>
                      <a:pt x="0" y="730"/>
                    </a:cubicBezTo>
                  </a:path>
                </a:pathLst>
              </a:custGeom>
              <a:solidFill>
                <a:srgbClr val="515151">
                  <a:alpha val="63137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2" name="path 1782"/>
              <p:cNvSpPr/>
              <p:nvPr/>
            </p:nvSpPr>
            <p:spPr>
              <a:xfrm>
                <a:off x="1990470" y="443610"/>
                <a:ext cx="1603755" cy="1602993"/>
              </a:xfrm>
              <a:custGeom>
                <a:avLst/>
                <a:gdLst/>
                <a:ahLst/>
                <a:cxnLst/>
                <a:rect l="0" t="0" r="0" b="0"/>
                <a:pathLst>
                  <a:path w="2525" h="2524">
                    <a:moveTo>
                      <a:pt x="10" y="1262"/>
                    </a:moveTo>
                    <a:cubicBezTo>
                      <a:pt x="10" y="570"/>
                      <a:pt x="570" y="10"/>
                      <a:pt x="1262" y="10"/>
                    </a:cubicBezTo>
                    <a:cubicBezTo>
                      <a:pt x="1954" y="10"/>
                      <a:pt x="2515" y="570"/>
                      <a:pt x="2515" y="1262"/>
                    </a:cubicBezTo>
                    <a:cubicBezTo>
                      <a:pt x="2515" y="1953"/>
                      <a:pt x="1954" y="2514"/>
                      <a:pt x="1262" y="2514"/>
                    </a:cubicBezTo>
                    <a:cubicBezTo>
                      <a:pt x="570" y="2514"/>
                      <a:pt x="10" y="1953"/>
                      <a:pt x="10" y="1262"/>
                    </a:cubicBezTo>
                  </a:path>
                </a:pathLst>
              </a:custGeom>
              <a:noFill/>
              <a:ln w="12700" cap="flat">
                <a:solidFill>
                  <a:srgbClr val="515151"/>
                </a:solidFill>
                <a:prstDash val="dash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4" name="path 1784"/>
              <p:cNvSpPr/>
              <p:nvPr/>
            </p:nvSpPr>
            <p:spPr>
              <a:xfrm>
                <a:off x="778001" y="624839"/>
                <a:ext cx="1924811" cy="1895856"/>
              </a:xfrm>
              <a:custGeom>
                <a:avLst/>
                <a:gdLst/>
                <a:ahLst/>
                <a:cxnLst/>
                <a:rect l="0" t="0" r="0" b="0"/>
                <a:pathLst>
                  <a:path w="3031" h="2985">
                    <a:moveTo>
                      <a:pt x="0" y="1492"/>
                    </a:moveTo>
                    <a:cubicBezTo>
                      <a:pt x="0" y="668"/>
                      <a:pt x="678" y="0"/>
                      <a:pt x="1515" y="0"/>
                    </a:cubicBezTo>
                    <a:cubicBezTo>
                      <a:pt x="2352" y="0"/>
                      <a:pt x="3031" y="668"/>
                      <a:pt x="3031" y="1492"/>
                    </a:cubicBezTo>
                    <a:cubicBezTo>
                      <a:pt x="3031" y="2317"/>
                      <a:pt x="2352" y="2985"/>
                      <a:pt x="1515" y="2985"/>
                    </a:cubicBezTo>
                    <a:cubicBezTo>
                      <a:pt x="678" y="2985"/>
                      <a:pt x="0" y="2317"/>
                      <a:pt x="0" y="1492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6" name="path 1786"/>
              <p:cNvSpPr/>
              <p:nvPr/>
            </p:nvSpPr>
            <p:spPr>
              <a:xfrm>
                <a:off x="720851" y="567689"/>
                <a:ext cx="2039111" cy="2010156"/>
              </a:xfrm>
              <a:custGeom>
                <a:avLst/>
                <a:gdLst/>
                <a:ahLst/>
                <a:cxnLst/>
                <a:rect l="0" t="0" r="0" b="0"/>
                <a:pathLst>
                  <a:path w="3211" h="3165">
                    <a:moveTo>
                      <a:pt x="90" y="1582"/>
                    </a:moveTo>
                    <a:cubicBezTo>
                      <a:pt x="90" y="758"/>
                      <a:pt x="768" y="90"/>
                      <a:pt x="1605" y="90"/>
                    </a:cubicBezTo>
                    <a:cubicBezTo>
                      <a:pt x="2442" y="90"/>
                      <a:pt x="3121" y="758"/>
                      <a:pt x="3121" y="1582"/>
                    </a:cubicBezTo>
                    <a:cubicBezTo>
                      <a:pt x="3121" y="2407"/>
                      <a:pt x="2442" y="3075"/>
                      <a:pt x="1605" y="3075"/>
                    </a:cubicBezTo>
                    <a:cubicBezTo>
                      <a:pt x="768" y="3075"/>
                      <a:pt x="90" y="2407"/>
                      <a:pt x="90" y="1582"/>
                    </a:cubicBezTo>
                  </a:path>
                </a:pathLst>
              </a:custGeom>
              <a:noFill/>
              <a:ln w="114300" cap="flat">
                <a:solidFill>
                  <a:srgbClr val="AD2B2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8" name="path 1788"/>
              <p:cNvSpPr/>
              <p:nvPr/>
            </p:nvSpPr>
            <p:spPr>
              <a:xfrm>
                <a:off x="0" y="0"/>
                <a:ext cx="803909" cy="804671"/>
              </a:xfrm>
              <a:custGeom>
                <a:avLst/>
                <a:gdLst/>
                <a:ahLst/>
                <a:cxnLst/>
                <a:rect l="0" t="0" r="0" b="0"/>
                <a:pathLst>
                  <a:path w="1265" h="1267">
                    <a:moveTo>
                      <a:pt x="0" y="633"/>
                    </a:moveTo>
                    <a:cubicBezTo>
                      <a:pt x="0" y="283"/>
                      <a:pt x="283" y="0"/>
                      <a:pt x="633" y="0"/>
                    </a:cubicBezTo>
                    <a:cubicBezTo>
                      <a:pt x="982" y="0"/>
                      <a:pt x="1265" y="283"/>
                      <a:pt x="1265" y="633"/>
                    </a:cubicBezTo>
                    <a:cubicBezTo>
                      <a:pt x="1265" y="983"/>
                      <a:pt x="982" y="1267"/>
                      <a:pt x="633" y="1267"/>
                    </a:cubicBezTo>
                    <a:cubicBezTo>
                      <a:pt x="283" y="1267"/>
                      <a:pt x="0" y="983"/>
                      <a:pt x="0" y="633"/>
                    </a:cubicBezTo>
                  </a:path>
                </a:pathLst>
              </a:custGeom>
              <a:solidFill>
                <a:srgbClr val="F2F2F2">
                  <a:alpha val="70196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0" name="path 1790"/>
              <p:cNvSpPr/>
              <p:nvPr/>
            </p:nvSpPr>
            <p:spPr>
              <a:xfrm>
                <a:off x="2393441" y="106679"/>
                <a:ext cx="313943" cy="313944"/>
              </a:xfrm>
              <a:custGeom>
                <a:avLst/>
                <a:gdLst/>
                <a:ahLst/>
                <a:cxnLst/>
                <a:rect l="0" t="0" r="0" b="0"/>
                <a:pathLst>
                  <a:path w="494" h="494">
                    <a:moveTo>
                      <a:pt x="0" y="247"/>
                    </a:moveTo>
                    <a:cubicBezTo>
                      <a:pt x="0" y="110"/>
                      <a:pt x="110" y="0"/>
                      <a:pt x="247" y="0"/>
                    </a:cubicBezTo>
                    <a:cubicBezTo>
                      <a:pt x="383" y="0"/>
                      <a:pt x="494" y="110"/>
                      <a:pt x="494" y="247"/>
                    </a:cubicBezTo>
                    <a:cubicBezTo>
                      <a:pt x="494" y="383"/>
                      <a:pt x="383" y="494"/>
                      <a:pt x="247" y="494"/>
                    </a:cubicBezTo>
                    <a:cubicBezTo>
                      <a:pt x="110" y="494"/>
                      <a:pt x="0" y="383"/>
                      <a:pt x="0" y="247"/>
                    </a:cubicBezTo>
                  </a:path>
                </a:pathLst>
              </a:custGeom>
              <a:solidFill>
                <a:srgbClr val="49504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92" name="textbox 1792"/>
            <p:cNvSpPr/>
            <p:nvPr/>
          </p:nvSpPr>
          <p:spPr>
            <a:xfrm>
              <a:off x="-12700" y="-12700"/>
              <a:ext cx="3620134" cy="3098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2220" algn="l" rtl="0" eaLnBrk="0">
                <a:lnSpc>
                  <a:spcPct val="87000"/>
                </a:lnSpc>
              </a:pPr>
              <a:r>
                <a:rPr sz="40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794" name="picture 1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796" name="textbox 179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800" name="picture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802" name="textbox 180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24" name="group 22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804" name="path 180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6" name="path 180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08" name="rect 180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10" name="rect 181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textbox 1812"/>
          <p:cNvSpPr/>
          <p:nvPr/>
        </p:nvSpPr>
        <p:spPr>
          <a:xfrm>
            <a:off x="5362562" y="2423951"/>
            <a:ext cx="3909059" cy="2508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96000"/>
              </a:lnSpc>
            </a:pPr>
            <a:r>
              <a:rPr sz="31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3100" kern="0" spc="1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的运行流程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90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 SparkRDD的执行流程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回顾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0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 SparkSQL的自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动优化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90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</a:t>
            </a:r>
            <a:r>
              <a:rPr sz="1600" kern="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Catalyst优化器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0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5.4 SparkSQL的执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行流程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6" name="group 226"/>
          <p:cNvGrpSpPr/>
          <p:nvPr/>
        </p:nvGrpSpPr>
        <p:grpSpPr>
          <a:xfrm rot="21600000">
            <a:off x="3596640" y="2338578"/>
            <a:ext cx="1410458" cy="1318260"/>
            <a:chOff x="0" y="0"/>
            <a:chExt cx="1410458" cy="1318260"/>
          </a:xfrm>
        </p:grpSpPr>
        <p:grpSp>
          <p:nvGrpSpPr>
            <p:cNvPr id="228" name="group 228"/>
            <p:cNvGrpSpPr/>
            <p:nvPr/>
          </p:nvGrpSpPr>
          <p:grpSpPr>
            <a:xfrm rot="21600000">
              <a:off x="0" y="0"/>
              <a:ext cx="1410458" cy="1318260"/>
              <a:chOff x="0" y="0"/>
              <a:chExt cx="1410458" cy="1318260"/>
            </a:xfrm>
          </p:grpSpPr>
          <p:sp>
            <p:nvSpPr>
              <p:cNvPr id="1814" name="path 1814"/>
              <p:cNvSpPr/>
              <p:nvPr/>
            </p:nvSpPr>
            <p:spPr>
              <a:xfrm>
                <a:off x="274315" y="0"/>
                <a:ext cx="1136142" cy="1318260"/>
              </a:xfrm>
              <a:custGeom>
                <a:avLst/>
                <a:gdLst/>
                <a:ahLst/>
                <a:cxnLst/>
                <a:rect l="0" t="0" r="0" b="0"/>
                <a:pathLst>
                  <a:path w="1789" h="2076">
                    <a:moveTo>
                      <a:pt x="894" y="0"/>
                    </a:moveTo>
                    <a:lnTo>
                      <a:pt x="1789" y="447"/>
                    </a:lnTo>
                    <a:lnTo>
                      <a:pt x="1789" y="1628"/>
                    </a:lnTo>
                    <a:lnTo>
                      <a:pt x="894" y="2076"/>
                    </a:lnTo>
                    <a:lnTo>
                      <a:pt x="0" y="1628"/>
                    </a:lnTo>
                    <a:lnTo>
                      <a:pt x="0" y="44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rgbClr val="AD2B2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6" name="path 1816"/>
              <p:cNvSpPr/>
              <p:nvPr/>
            </p:nvSpPr>
            <p:spPr>
              <a:xfrm>
                <a:off x="0" y="889253"/>
                <a:ext cx="370331" cy="429005"/>
              </a:xfrm>
              <a:custGeom>
                <a:avLst/>
                <a:gdLst/>
                <a:ahLst/>
                <a:cxnLst/>
                <a:rect l="0" t="0" r="0" b="0"/>
                <a:pathLst>
                  <a:path w="583" h="675">
                    <a:moveTo>
                      <a:pt x="291" y="0"/>
                    </a:moveTo>
                    <a:lnTo>
                      <a:pt x="583" y="145"/>
                    </a:lnTo>
                    <a:lnTo>
                      <a:pt x="583" y="529"/>
                    </a:lnTo>
                    <a:lnTo>
                      <a:pt x="291" y="675"/>
                    </a:lnTo>
                    <a:lnTo>
                      <a:pt x="0" y="529"/>
                    </a:lnTo>
                    <a:lnTo>
                      <a:pt x="0" y="145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18" name="textbox 1818"/>
            <p:cNvSpPr/>
            <p:nvPr/>
          </p:nvSpPr>
          <p:spPr>
            <a:xfrm>
              <a:off x="-12700" y="-12700"/>
              <a:ext cx="1436369" cy="1344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7690" algn="l" rtl="0" eaLnBrk="0">
                <a:lnSpc>
                  <a:spcPts val="5280"/>
                </a:lnSpc>
                <a:spcBef>
                  <a:spcPts val="0"/>
                </a:spcBef>
              </a:pPr>
              <a:r>
                <a:rPr sz="4000" b="1" kern="0" spc="-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0" name="picture 18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567178" y="1889759"/>
            <a:ext cx="7290815" cy="3848099"/>
          </a:xfrm>
          <a:prstGeom prst="rect">
            <a:avLst/>
          </a:prstGeom>
        </p:spPr>
      </p:pic>
      <p:pic>
        <p:nvPicPr>
          <p:cNvPr id="1822" name="picture 18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824" name="textbox 182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828" name="picture 18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830" name="textbox 1830"/>
          <p:cNvSpPr/>
          <p:nvPr/>
        </p:nvSpPr>
        <p:spPr>
          <a:xfrm>
            <a:off x="935822" y="1154175"/>
            <a:ext cx="254317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</a:t>
            </a:r>
            <a:r>
              <a:rPr sz="1800" b="1" kern="0" spc="20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3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RDD的执行流程回顾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2" name="textbox 183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30" name="group 23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834" name="path 183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36" name="path 183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38" name="rect 183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0" name="rect 184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textbox 1842"/>
          <p:cNvSpPr/>
          <p:nvPr/>
        </p:nvSpPr>
        <p:spPr>
          <a:xfrm>
            <a:off x="921453" y="1154175"/>
            <a:ext cx="8849359" cy="1294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 SparkSQL的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自动优化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9000"/>
              </a:lnSpc>
              <a:spcBef>
                <a:spcPts val="395"/>
              </a:spcBef>
            </a:pP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的运行会完全按照开发者的代码执行，</a:t>
            </a:r>
            <a:r>
              <a:rPr sz="1300" kern="0" spc="3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如果开发者水平有限，</a:t>
            </a:r>
            <a:r>
              <a:rPr sz="1300" kern="0" spc="1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的执行效率也会受到影响。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0"/>
              </a:spcBef>
            </a:pP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</a:t>
            </a:r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会对写完的代码，执行“自动优化”，</a:t>
            </a:r>
            <a:r>
              <a:rPr sz="1300" kern="0" spc="2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以提升代码运行效率，避免开</a:t>
            </a:r>
            <a:r>
              <a:rPr sz="1300" kern="0" spc="8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发者水平影响到代码执行效率。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44" name="picture 18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01446" y="2932176"/>
            <a:ext cx="2716517" cy="2657093"/>
          </a:xfrm>
          <a:prstGeom prst="rect">
            <a:avLst/>
          </a:prstGeom>
        </p:spPr>
      </p:pic>
      <p:sp>
        <p:nvSpPr>
          <p:cNvPr id="1846" name="textbox 1846"/>
          <p:cNvSpPr/>
          <p:nvPr/>
        </p:nvSpPr>
        <p:spPr>
          <a:xfrm>
            <a:off x="7765756" y="3906558"/>
            <a:ext cx="3853179" cy="1692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9000"/>
              </a:lnSpc>
            </a:pPr>
            <a:r>
              <a:rPr sz="13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：内含数据类型不限格式和结</a:t>
            </a:r>
            <a:r>
              <a:rPr sz="1300" b="1" kern="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ts val="1845"/>
              </a:lnSpc>
              <a:spcBef>
                <a:spcPts val="390"/>
              </a:spcBef>
            </a:pPr>
            <a:r>
              <a:rPr sz="13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300" b="1" kern="0" spc="-1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 是二维表结构，可</a:t>
            </a:r>
            <a:r>
              <a:rPr sz="1300" b="1" kern="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以被针对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5715" algn="l" rtl="0" eaLnBrk="0">
              <a:lnSpc>
                <a:spcPct val="98000"/>
              </a:lnSpc>
            </a:pPr>
            <a:r>
              <a:rPr sz="13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的自动优化，依赖于：  </a:t>
            </a:r>
            <a:r>
              <a:rPr sz="13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Catalyst</a:t>
            </a:r>
            <a:r>
              <a:rPr sz="1300" b="1" kern="0" spc="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sz="1300" b="1" kern="0" spc="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48" name="picture 18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850" name="textbox 185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852" name="textbox 1852"/>
          <p:cNvSpPr/>
          <p:nvPr/>
        </p:nvSpPr>
        <p:spPr>
          <a:xfrm>
            <a:off x="4333083" y="3906735"/>
            <a:ext cx="2476500" cy="712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300" b="1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</a:t>
            </a:r>
            <a:r>
              <a:rPr sz="13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b="1" kern="0" spc="14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可以自动优化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605" algn="l" rtl="0" eaLnBrk="0">
              <a:lnSpc>
                <a:spcPts val="3870"/>
              </a:lnSpc>
            </a:pPr>
            <a:r>
              <a:rPr sz="13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而RDD不可以？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56" name="picture 18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858" name="textbox 185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32" name="group 23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860" name="path 186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62" name="path 186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64" name="rect 186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66" name="rect 186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8" name="picture 18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09066" y="1584197"/>
            <a:ext cx="10749533" cy="3643883"/>
          </a:xfrm>
          <a:prstGeom prst="rect">
            <a:avLst/>
          </a:prstGeom>
        </p:spPr>
      </p:pic>
      <p:pic>
        <p:nvPicPr>
          <p:cNvPr id="1870" name="picture 18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872" name="textbox 187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876" name="picture 18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878" name="textbox 187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880" name="textbox 1880"/>
          <p:cNvSpPr/>
          <p:nvPr/>
        </p:nvSpPr>
        <p:spPr>
          <a:xfrm>
            <a:off x="935822" y="1154175"/>
            <a:ext cx="20262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 Cataly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st优化器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4" name="group 23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882" name="path 188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4" name="path 188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86" name="rect 188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8" name="rect 188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0" name="picture 18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pic>
        <p:nvPicPr>
          <p:cNvPr id="1892" name="picture 18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894" name="textbox 189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896" name="picture 18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2593" y="1484376"/>
            <a:ext cx="10307573" cy="5289041"/>
          </a:xfrm>
          <a:prstGeom prst="rect">
            <a:avLst/>
          </a:prstGeom>
        </p:spPr>
      </p:pic>
      <p:sp>
        <p:nvSpPr>
          <p:cNvPr id="1898" name="textbox 189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902" name="textbox 1902"/>
          <p:cNvSpPr/>
          <p:nvPr/>
        </p:nvSpPr>
        <p:spPr>
          <a:xfrm>
            <a:off x="935822" y="1154175"/>
            <a:ext cx="20262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 Cataly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st优化器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6" name="group 23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904" name="path 190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6" name="path 190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08" name="rect 190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10" name="rect 191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2" name="picture 19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07542" y="1584197"/>
            <a:ext cx="9969245" cy="4491227"/>
          </a:xfrm>
          <a:prstGeom prst="rect">
            <a:avLst/>
          </a:prstGeom>
        </p:spPr>
      </p:pic>
      <p:pic>
        <p:nvPicPr>
          <p:cNvPr id="1914" name="picture 19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916" name="textbox 191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920" name="picture 19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922" name="textbox 192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924" name="textbox 1924"/>
          <p:cNvSpPr/>
          <p:nvPr/>
        </p:nvSpPr>
        <p:spPr>
          <a:xfrm>
            <a:off x="935822" y="1154175"/>
            <a:ext cx="20262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 Cataly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st优化器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8" name="group 23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926" name="path 192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8" name="path 192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30" name="rect 193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32" name="rect 193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picture 19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pic>
        <p:nvPicPr>
          <p:cNvPr id="1936" name="picture 19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938" name="textbox 193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940" name="picture 19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0683" y="1453896"/>
            <a:ext cx="9158477" cy="5204459"/>
          </a:xfrm>
          <a:prstGeom prst="rect">
            <a:avLst/>
          </a:prstGeom>
        </p:spPr>
      </p:pic>
      <p:sp>
        <p:nvSpPr>
          <p:cNvPr id="1942" name="textbox 194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946" name="textbox 1946"/>
          <p:cNvSpPr/>
          <p:nvPr/>
        </p:nvSpPr>
        <p:spPr>
          <a:xfrm>
            <a:off x="935822" y="1154175"/>
            <a:ext cx="20262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 Cataly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st优化器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40" name="group 24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948" name="path 194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50" name="path 195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52" name="rect 195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54" name="rect 195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6" name="picture 19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6591" y="1584198"/>
            <a:ext cx="10120883" cy="4670297"/>
          </a:xfrm>
          <a:prstGeom prst="rect">
            <a:avLst/>
          </a:prstGeom>
        </p:spPr>
      </p:pic>
      <p:pic>
        <p:nvPicPr>
          <p:cNvPr id="1958" name="picture 19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960" name="textbox 196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964" name="picture 19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966" name="textbox 196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968" name="textbox 1968"/>
          <p:cNvSpPr/>
          <p:nvPr/>
        </p:nvSpPr>
        <p:spPr>
          <a:xfrm>
            <a:off x="935822" y="1154175"/>
            <a:ext cx="20262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 Cataly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st优化器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42" name="group 24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970" name="path 197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72" name="path 197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74" name="rect 197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76" name="rect 197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textbox 1978"/>
          <p:cNvSpPr/>
          <p:nvPr/>
        </p:nvSpPr>
        <p:spPr>
          <a:xfrm>
            <a:off x="935822" y="1154175"/>
            <a:ext cx="202628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 Cataly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st优化器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80" name="picture 19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0976" y="1447800"/>
            <a:ext cx="7594853" cy="5273801"/>
          </a:xfrm>
          <a:prstGeom prst="rect">
            <a:avLst/>
          </a:prstGeom>
        </p:spPr>
      </p:pic>
      <p:pic>
        <p:nvPicPr>
          <p:cNvPr id="1982" name="picture 19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1984" name="textbox 198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988" name="picture 19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990" name="textbox 199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44" name="group 24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992" name="path 199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94" name="path 199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96" name="rect 199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98" name="rect 199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picture 2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575054"/>
            <a:ext cx="9474706" cy="3707891"/>
          </a:xfrm>
          <a:prstGeom prst="rect">
            <a:avLst/>
          </a:prstGeom>
        </p:spPr>
      </p:pic>
      <p:pic>
        <p:nvPicPr>
          <p:cNvPr id="2002" name="picture 2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004" name="textbox 200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008" name="picture 20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010" name="textbox 2010"/>
          <p:cNvSpPr/>
          <p:nvPr/>
        </p:nvSpPr>
        <p:spPr>
          <a:xfrm>
            <a:off x="935822" y="1154175"/>
            <a:ext cx="255460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 Catalyst优化器 总结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2" name="textbox 201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46" name="group 24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014" name="path 201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16" name="path 201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18" name="rect 201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20" name="rect 202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2" name="picture 20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3362705"/>
            <a:ext cx="4680965" cy="2934461"/>
          </a:xfrm>
          <a:prstGeom prst="rect">
            <a:avLst/>
          </a:prstGeom>
        </p:spPr>
      </p:pic>
      <p:pic>
        <p:nvPicPr>
          <p:cNvPr id="2024" name="picture 2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37438" y="1812036"/>
            <a:ext cx="7968233" cy="1323594"/>
          </a:xfrm>
          <a:prstGeom prst="rect">
            <a:avLst/>
          </a:prstGeom>
        </p:spPr>
      </p:pic>
      <p:pic>
        <p:nvPicPr>
          <p:cNvPr id="2026" name="picture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028" name="textbox 202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032" name="picture 20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034" name="textbox 2034"/>
          <p:cNvSpPr/>
          <p:nvPr/>
        </p:nvSpPr>
        <p:spPr>
          <a:xfrm>
            <a:off x="935822" y="1154175"/>
            <a:ext cx="266700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5.4 SparkSQL的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执行流程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6" name="textbox 203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48" name="group 24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038" name="path 203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0" name="path 204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42" name="rect 204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4" name="rect 204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textbox 2046"/>
          <p:cNvSpPr/>
          <p:nvPr/>
        </p:nvSpPr>
        <p:spPr>
          <a:xfrm>
            <a:off x="5206743" y="2529988"/>
            <a:ext cx="5559425" cy="2516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650" indent="-345440" algn="l" rtl="0" eaLnBrk="0">
              <a:lnSpc>
                <a:spcPct val="164000"/>
              </a:lnSpc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因为存储的是二维表数据结构，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可以被针对，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所以可以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自动优化执行流程。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ts val="1805"/>
              </a:lnSpc>
              <a:spcBef>
                <a:spcPts val="400"/>
              </a:spcBef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 自动优化依赖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Catalyst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优化器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5600" indent="-332105" algn="l" rtl="0" eaLnBrk="0">
              <a:lnSpc>
                <a:spcPct val="165000"/>
              </a:lnSpc>
              <a:spcBef>
                <a:spcPts val="390"/>
              </a:spcBef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  自动优化2个大的优化项是：   1.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断言（谓词）下推（行过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滤）   2. 列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值裁剪（列过滤）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05"/>
              </a:lnSpc>
              <a:spcBef>
                <a:spcPts val="0"/>
              </a:spcBef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DataFrame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代码在被优化有，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最终还是被转换成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RDD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去执行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0" name="group 250"/>
          <p:cNvGrpSpPr/>
          <p:nvPr/>
        </p:nvGrpSpPr>
        <p:grpSpPr>
          <a:xfrm rot="21600000">
            <a:off x="710946" y="1928622"/>
            <a:ext cx="3594226" cy="3043300"/>
            <a:chOff x="0" y="0"/>
            <a:chExt cx="3594226" cy="3043300"/>
          </a:xfrm>
        </p:grpSpPr>
        <p:grpSp>
          <p:nvGrpSpPr>
            <p:cNvPr id="252" name="group 252"/>
            <p:cNvGrpSpPr/>
            <p:nvPr/>
          </p:nvGrpSpPr>
          <p:grpSpPr>
            <a:xfrm rot="21600000">
              <a:off x="0" y="0"/>
              <a:ext cx="3594226" cy="3043300"/>
              <a:chOff x="0" y="0"/>
              <a:chExt cx="3594226" cy="3043300"/>
            </a:xfrm>
          </p:grpSpPr>
          <p:sp>
            <p:nvSpPr>
              <p:cNvPr id="2048" name="path 2048"/>
              <p:cNvSpPr/>
              <p:nvPr/>
            </p:nvSpPr>
            <p:spPr>
              <a:xfrm>
                <a:off x="477900" y="2443098"/>
                <a:ext cx="600963" cy="600202"/>
              </a:xfrm>
              <a:custGeom>
                <a:avLst/>
                <a:gdLst/>
                <a:ahLst/>
                <a:cxnLst/>
                <a:rect l="0" t="0" r="0" b="0"/>
                <a:pathLst>
                  <a:path w="946" h="945">
                    <a:moveTo>
                      <a:pt x="10" y="472"/>
                    </a:moveTo>
                    <a:cubicBezTo>
                      <a:pt x="10" y="217"/>
                      <a:pt x="217" y="10"/>
                      <a:pt x="473" y="10"/>
                    </a:cubicBezTo>
                    <a:cubicBezTo>
                      <a:pt x="729" y="10"/>
                      <a:pt x="936" y="217"/>
                      <a:pt x="936" y="472"/>
                    </a:cubicBezTo>
                    <a:cubicBezTo>
                      <a:pt x="936" y="728"/>
                      <a:pt x="729" y="935"/>
                      <a:pt x="473" y="935"/>
                    </a:cubicBezTo>
                    <a:cubicBezTo>
                      <a:pt x="217" y="935"/>
                      <a:pt x="10" y="728"/>
                      <a:pt x="10" y="472"/>
                    </a:cubicBezTo>
                  </a:path>
                </a:pathLst>
              </a:custGeom>
              <a:noFill/>
              <a:ln w="12700" cap="flat">
                <a:solidFill>
                  <a:srgbClr val="BFBFB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0" name="path 2050"/>
              <p:cNvSpPr/>
              <p:nvPr/>
            </p:nvSpPr>
            <p:spPr>
              <a:xfrm>
                <a:off x="2097785" y="1855469"/>
                <a:ext cx="926591" cy="927353"/>
              </a:xfrm>
              <a:custGeom>
                <a:avLst/>
                <a:gdLst/>
                <a:ahLst/>
                <a:cxnLst/>
                <a:rect l="0" t="0" r="0" b="0"/>
                <a:pathLst>
                  <a:path w="1459" h="1460">
                    <a:moveTo>
                      <a:pt x="0" y="730"/>
                    </a:moveTo>
                    <a:cubicBezTo>
                      <a:pt x="0" y="326"/>
                      <a:pt x="326" y="0"/>
                      <a:pt x="729" y="0"/>
                    </a:cubicBezTo>
                    <a:cubicBezTo>
                      <a:pt x="1132" y="0"/>
                      <a:pt x="1459" y="326"/>
                      <a:pt x="1459" y="730"/>
                    </a:cubicBezTo>
                    <a:cubicBezTo>
                      <a:pt x="1459" y="1133"/>
                      <a:pt x="1132" y="1460"/>
                      <a:pt x="729" y="1460"/>
                    </a:cubicBezTo>
                    <a:cubicBezTo>
                      <a:pt x="326" y="1460"/>
                      <a:pt x="0" y="1133"/>
                      <a:pt x="0" y="730"/>
                    </a:cubicBezTo>
                  </a:path>
                </a:pathLst>
              </a:custGeom>
              <a:solidFill>
                <a:srgbClr val="515151">
                  <a:alpha val="63137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2" name="path 2052"/>
              <p:cNvSpPr/>
              <p:nvPr/>
            </p:nvSpPr>
            <p:spPr>
              <a:xfrm>
                <a:off x="1990470" y="443610"/>
                <a:ext cx="1603755" cy="1602993"/>
              </a:xfrm>
              <a:custGeom>
                <a:avLst/>
                <a:gdLst/>
                <a:ahLst/>
                <a:cxnLst/>
                <a:rect l="0" t="0" r="0" b="0"/>
                <a:pathLst>
                  <a:path w="2525" h="2524">
                    <a:moveTo>
                      <a:pt x="10" y="1262"/>
                    </a:moveTo>
                    <a:cubicBezTo>
                      <a:pt x="10" y="570"/>
                      <a:pt x="570" y="10"/>
                      <a:pt x="1262" y="10"/>
                    </a:cubicBezTo>
                    <a:cubicBezTo>
                      <a:pt x="1954" y="10"/>
                      <a:pt x="2515" y="570"/>
                      <a:pt x="2515" y="1262"/>
                    </a:cubicBezTo>
                    <a:cubicBezTo>
                      <a:pt x="2515" y="1953"/>
                      <a:pt x="1954" y="2514"/>
                      <a:pt x="1262" y="2514"/>
                    </a:cubicBezTo>
                    <a:cubicBezTo>
                      <a:pt x="570" y="2514"/>
                      <a:pt x="10" y="1953"/>
                      <a:pt x="10" y="1262"/>
                    </a:cubicBezTo>
                  </a:path>
                </a:pathLst>
              </a:custGeom>
              <a:noFill/>
              <a:ln w="12700" cap="flat">
                <a:solidFill>
                  <a:srgbClr val="515151"/>
                </a:solidFill>
                <a:prstDash val="dash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4" name="path 2054"/>
              <p:cNvSpPr/>
              <p:nvPr/>
            </p:nvSpPr>
            <p:spPr>
              <a:xfrm>
                <a:off x="778001" y="624839"/>
                <a:ext cx="1924811" cy="1895856"/>
              </a:xfrm>
              <a:custGeom>
                <a:avLst/>
                <a:gdLst/>
                <a:ahLst/>
                <a:cxnLst/>
                <a:rect l="0" t="0" r="0" b="0"/>
                <a:pathLst>
                  <a:path w="3031" h="2985">
                    <a:moveTo>
                      <a:pt x="0" y="1492"/>
                    </a:moveTo>
                    <a:cubicBezTo>
                      <a:pt x="0" y="668"/>
                      <a:pt x="678" y="0"/>
                      <a:pt x="1515" y="0"/>
                    </a:cubicBezTo>
                    <a:cubicBezTo>
                      <a:pt x="2352" y="0"/>
                      <a:pt x="3031" y="668"/>
                      <a:pt x="3031" y="1492"/>
                    </a:cubicBezTo>
                    <a:cubicBezTo>
                      <a:pt x="3031" y="2317"/>
                      <a:pt x="2352" y="2985"/>
                      <a:pt x="1515" y="2985"/>
                    </a:cubicBezTo>
                    <a:cubicBezTo>
                      <a:pt x="678" y="2985"/>
                      <a:pt x="0" y="2317"/>
                      <a:pt x="0" y="1492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6" name="path 2056"/>
              <p:cNvSpPr/>
              <p:nvPr/>
            </p:nvSpPr>
            <p:spPr>
              <a:xfrm>
                <a:off x="720851" y="567689"/>
                <a:ext cx="2039111" cy="2010156"/>
              </a:xfrm>
              <a:custGeom>
                <a:avLst/>
                <a:gdLst/>
                <a:ahLst/>
                <a:cxnLst/>
                <a:rect l="0" t="0" r="0" b="0"/>
                <a:pathLst>
                  <a:path w="3211" h="3165">
                    <a:moveTo>
                      <a:pt x="90" y="1582"/>
                    </a:moveTo>
                    <a:cubicBezTo>
                      <a:pt x="90" y="758"/>
                      <a:pt x="768" y="90"/>
                      <a:pt x="1605" y="90"/>
                    </a:cubicBezTo>
                    <a:cubicBezTo>
                      <a:pt x="2442" y="90"/>
                      <a:pt x="3121" y="758"/>
                      <a:pt x="3121" y="1582"/>
                    </a:cubicBezTo>
                    <a:cubicBezTo>
                      <a:pt x="3121" y="2407"/>
                      <a:pt x="2442" y="3075"/>
                      <a:pt x="1605" y="3075"/>
                    </a:cubicBezTo>
                    <a:cubicBezTo>
                      <a:pt x="768" y="3075"/>
                      <a:pt x="90" y="2407"/>
                      <a:pt x="90" y="1582"/>
                    </a:cubicBezTo>
                  </a:path>
                </a:pathLst>
              </a:custGeom>
              <a:noFill/>
              <a:ln w="114300" cap="flat">
                <a:solidFill>
                  <a:srgbClr val="AD2B2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8" name="path 2058"/>
              <p:cNvSpPr/>
              <p:nvPr/>
            </p:nvSpPr>
            <p:spPr>
              <a:xfrm>
                <a:off x="0" y="0"/>
                <a:ext cx="803909" cy="804671"/>
              </a:xfrm>
              <a:custGeom>
                <a:avLst/>
                <a:gdLst/>
                <a:ahLst/>
                <a:cxnLst/>
                <a:rect l="0" t="0" r="0" b="0"/>
                <a:pathLst>
                  <a:path w="1265" h="1267">
                    <a:moveTo>
                      <a:pt x="0" y="633"/>
                    </a:moveTo>
                    <a:cubicBezTo>
                      <a:pt x="0" y="283"/>
                      <a:pt x="283" y="0"/>
                      <a:pt x="633" y="0"/>
                    </a:cubicBezTo>
                    <a:cubicBezTo>
                      <a:pt x="982" y="0"/>
                      <a:pt x="1265" y="283"/>
                      <a:pt x="1265" y="633"/>
                    </a:cubicBezTo>
                    <a:cubicBezTo>
                      <a:pt x="1265" y="983"/>
                      <a:pt x="982" y="1267"/>
                      <a:pt x="633" y="1267"/>
                    </a:cubicBezTo>
                    <a:cubicBezTo>
                      <a:pt x="283" y="1267"/>
                      <a:pt x="0" y="983"/>
                      <a:pt x="0" y="633"/>
                    </a:cubicBezTo>
                  </a:path>
                </a:pathLst>
              </a:custGeom>
              <a:solidFill>
                <a:srgbClr val="F2F2F2">
                  <a:alpha val="70196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0" name="path 2060"/>
              <p:cNvSpPr/>
              <p:nvPr/>
            </p:nvSpPr>
            <p:spPr>
              <a:xfrm>
                <a:off x="2393441" y="106679"/>
                <a:ext cx="313943" cy="313944"/>
              </a:xfrm>
              <a:custGeom>
                <a:avLst/>
                <a:gdLst/>
                <a:ahLst/>
                <a:cxnLst/>
                <a:rect l="0" t="0" r="0" b="0"/>
                <a:pathLst>
                  <a:path w="494" h="494">
                    <a:moveTo>
                      <a:pt x="0" y="247"/>
                    </a:moveTo>
                    <a:cubicBezTo>
                      <a:pt x="0" y="110"/>
                      <a:pt x="110" y="0"/>
                      <a:pt x="247" y="0"/>
                    </a:cubicBezTo>
                    <a:cubicBezTo>
                      <a:pt x="383" y="0"/>
                      <a:pt x="494" y="110"/>
                      <a:pt x="494" y="247"/>
                    </a:cubicBezTo>
                    <a:cubicBezTo>
                      <a:pt x="494" y="383"/>
                      <a:pt x="383" y="494"/>
                      <a:pt x="247" y="494"/>
                    </a:cubicBezTo>
                    <a:cubicBezTo>
                      <a:pt x="110" y="494"/>
                      <a:pt x="0" y="383"/>
                      <a:pt x="0" y="247"/>
                    </a:cubicBezTo>
                  </a:path>
                </a:pathLst>
              </a:custGeom>
              <a:solidFill>
                <a:srgbClr val="49504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62" name="textbox 2062"/>
            <p:cNvSpPr/>
            <p:nvPr/>
          </p:nvSpPr>
          <p:spPr>
            <a:xfrm>
              <a:off x="-12700" y="-12700"/>
              <a:ext cx="3620134" cy="3098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2220" algn="l" rtl="0" eaLnBrk="0">
                <a:lnSpc>
                  <a:spcPct val="87000"/>
                </a:lnSpc>
              </a:pPr>
              <a:r>
                <a:rPr sz="40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064" name="picture 20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066" name="textbox 206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070" name="picture 20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072" name="textbox 207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54" name="group 25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074" name="path 207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76" name="path 207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78" name="rect 207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80" name="rect 208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textbox 2082"/>
          <p:cNvSpPr/>
          <p:nvPr/>
        </p:nvSpPr>
        <p:spPr>
          <a:xfrm>
            <a:off x="5362562" y="2448726"/>
            <a:ext cx="2792729" cy="149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92000"/>
              </a:lnSpc>
            </a:pPr>
            <a:r>
              <a:rPr sz="31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3100" kern="0" spc="27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1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</a:t>
            </a:r>
            <a:r>
              <a:rPr sz="3100" kern="0" spc="3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100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485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6.1 原</a:t>
            </a: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</a:t>
            </a:r>
            <a:r>
              <a:rPr sz="1600" kern="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6" name="group 256"/>
          <p:cNvGrpSpPr/>
          <p:nvPr/>
        </p:nvGrpSpPr>
        <p:grpSpPr>
          <a:xfrm rot="21600000">
            <a:off x="3596640" y="2338578"/>
            <a:ext cx="1410458" cy="1318260"/>
            <a:chOff x="0" y="0"/>
            <a:chExt cx="1410458" cy="1318260"/>
          </a:xfrm>
        </p:grpSpPr>
        <p:grpSp>
          <p:nvGrpSpPr>
            <p:cNvPr id="258" name="group 258"/>
            <p:cNvGrpSpPr/>
            <p:nvPr/>
          </p:nvGrpSpPr>
          <p:grpSpPr>
            <a:xfrm rot="21600000">
              <a:off x="0" y="0"/>
              <a:ext cx="1410458" cy="1318260"/>
              <a:chOff x="0" y="0"/>
              <a:chExt cx="1410458" cy="1318260"/>
            </a:xfrm>
          </p:grpSpPr>
          <p:sp>
            <p:nvSpPr>
              <p:cNvPr id="2084" name="path 2084"/>
              <p:cNvSpPr/>
              <p:nvPr/>
            </p:nvSpPr>
            <p:spPr>
              <a:xfrm>
                <a:off x="274315" y="0"/>
                <a:ext cx="1136142" cy="1318260"/>
              </a:xfrm>
              <a:custGeom>
                <a:avLst/>
                <a:gdLst/>
                <a:ahLst/>
                <a:cxnLst/>
                <a:rect l="0" t="0" r="0" b="0"/>
                <a:pathLst>
                  <a:path w="1789" h="2076">
                    <a:moveTo>
                      <a:pt x="894" y="0"/>
                    </a:moveTo>
                    <a:lnTo>
                      <a:pt x="1789" y="447"/>
                    </a:lnTo>
                    <a:lnTo>
                      <a:pt x="1789" y="1628"/>
                    </a:lnTo>
                    <a:lnTo>
                      <a:pt x="894" y="2076"/>
                    </a:lnTo>
                    <a:lnTo>
                      <a:pt x="0" y="1628"/>
                    </a:lnTo>
                    <a:lnTo>
                      <a:pt x="0" y="44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rgbClr val="AD2B2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6" name="path 2086"/>
              <p:cNvSpPr/>
              <p:nvPr/>
            </p:nvSpPr>
            <p:spPr>
              <a:xfrm>
                <a:off x="0" y="889253"/>
                <a:ext cx="370331" cy="429005"/>
              </a:xfrm>
              <a:custGeom>
                <a:avLst/>
                <a:gdLst/>
                <a:ahLst/>
                <a:cxnLst/>
                <a:rect l="0" t="0" r="0" b="0"/>
                <a:pathLst>
                  <a:path w="583" h="675">
                    <a:moveTo>
                      <a:pt x="291" y="0"/>
                    </a:moveTo>
                    <a:lnTo>
                      <a:pt x="583" y="145"/>
                    </a:lnTo>
                    <a:lnTo>
                      <a:pt x="583" y="529"/>
                    </a:lnTo>
                    <a:lnTo>
                      <a:pt x="291" y="675"/>
                    </a:lnTo>
                    <a:lnTo>
                      <a:pt x="0" y="529"/>
                    </a:lnTo>
                    <a:lnTo>
                      <a:pt x="0" y="145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88" name="textbox 2088"/>
            <p:cNvSpPr/>
            <p:nvPr/>
          </p:nvSpPr>
          <p:spPr>
            <a:xfrm>
              <a:off x="-12700" y="-12700"/>
              <a:ext cx="1436369" cy="1344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7690" algn="l" rtl="0" eaLnBrk="0">
                <a:lnSpc>
                  <a:spcPts val="5280"/>
                </a:lnSpc>
                <a:spcBef>
                  <a:spcPts val="0"/>
                </a:spcBef>
              </a:pPr>
              <a:r>
                <a:rPr sz="4000" b="1" kern="0" spc="-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06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090" name="textbox 2090"/>
          <p:cNvSpPr/>
          <p:nvPr/>
        </p:nvSpPr>
        <p:spPr>
          <a:xfrm>
            <a:off x="5362562" y="4151100"/>
            <a:ext cx="1811654" cy="288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6.3 在代码中集成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2" name="picture 20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09066" y="1584197"/>
            <a:ext cx="6452603" cy="2032254"/>
          </a:xfrm>
          <a:prstGeom prst="rect">
            <a:avLst/>
          </a:prstGeom>
        </p:spPr>
      </p:pic>
      <p:pic>
        <p:nvPicPr>
          <p:cNvPr id="2094" name="picture 20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096" name="textbox 209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100" name="picture 2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102" name="textbox 210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104" name="textbox 2104"/>
          <p:cNvSpPr/>
          <p:nvPr/>
        </p:nvSpPr>
        <p:spPr>
          <a:xfrm>
            <a:off x="928964" y="1154175"/>
            <a:ext cx="8864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6.1 原理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0" name="group 26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106" name="path 210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08" name="path 210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110" name="rect 211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12" name="rect 211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4" name="picture 2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503426"/>
            <a:ext cx="7800581" cy="4858511"/>
          </a:xfrm>
          <a:prstGeom prst="rect">
            <a:avLst/>
          </a:prstGeom>
        </p:spPr>
      </p:pic>
      <p:pic>
        <p:nvPicPr>
          <p:cNvPr id="2116" name="picture 2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118" name="textbox 211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122" name="picture 2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124" name="textbox 212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126" name="textbox 2126"/>
          <p:cNvSpPr/>
          <p:nvPr/>
        </p:nvSpPr>
        <p:spPr>
          <a:xfrm>
            <a:off x="928964" y="1154175"/>
            <a:ext cx="8864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6.1 原理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2" name="group 26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128" name="path 212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30" name="path 213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132" name="rect 213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34" name="rect 213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picture 2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18972" y="1466850"/>
            <a:ext cx="5228843" cy="5192267"/>
          </a:xfrm>
          <a:prstGeom prst="rect">
            <a:avLst/>
          </a:prstGeom>
        </p:spPr>
      </p:pic>
      <p:pic>
        <p:nvPicPr>
          <p:cNvPr id="2138" name="picture 2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140" name="textbox 214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144" name="picture 2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146" name="textbox 214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148" name="textbox 2148"/>
          <p:cNvSpPr/>
          <p:nvPr/>
        </p:nvSpPr>
        <p:spPr>
          <a:xfrm>
            <a:off x="928964" y="1154175"/>
            <a:ext cx="8864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6.1 原理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4" name="group 26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150" name="path 215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52" name="path 215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154" name="rect 215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56" name="rect 215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1275715"/>
            <a:ext cx="7518400" cy="390588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8" name="picture 2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94538" y="1584197"/>
            <a:ext cx="6249161" cy="1981199"/>
          </a:xfrm>
          <a:prstGeom prst="rect">
            <a:avLst/>
          </a:prstGeom>
        </p:spPr>
      </p:pic>
      <p:pic>
        <p:nvPicPr>
          <p:cNvPr id="2160" name="picture 2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162" name="textbox 216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166" name="picture 21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168" name="textbox 216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170" name="textbox 2170"/>
          <p:cNvSpPr/>
          <p:nvPr/>
        </p:nvSpPr>
        <p:spPr>
          <a:xfrm>
            <a:off x="928964" y="1154175"/>
            <a:ext cx="8864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 配置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6" name="group 26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172" name="path 217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74" name="path 217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176" name="rect 217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78" name="rect 217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0" name="picture 21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31926" y="1497330"/>
            <a:ext cx="8036812" cy="4962905"/>
          </a:xfrm>
          <a:prstGeom prst="rect">
            <a:avLst/>
          </a:prstGeom>
        </p:spPr>
      </p:pic>
      <p:pic>
        <p:nvPicPr>
          <p:cNvPr id="2182" name="picture 2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184" name="textbox 2184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188" name="picture 2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190" name="textbox 219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192" name="textbox 2192"/>
          <p:cNvSpPr/>
          <p:nvPr/>
        </p:nvSpPr>
        <p:spPr>
          <a:xfrm>
            <a:off x="928964" y="1154175"/>
            <a:ext cx="8864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 配置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8" name="group 26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194" name="path 219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96" name="path 219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198" name="rect 219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0" name="rect 220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2" name="picture 22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97636" y="1584198"/>
            <a:ext cx="8176259" cy="5041391"/>
          </a:xfrm>
          <a:prstGeom prst="rect">
            <a:avLst/>
          </a:prstGeom>
        </p:spPr>
      </p:pic>
      <p:pic>
        <p:nvPicPr>
          <p:cNvPr id="2204" name="picture 22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206" name="textbox 220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210" name="picture 22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212" name="textbox 2212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214" name="textbox 2214"/>
          <p:cNvSpPr/>
          <p:nvPr/>
        </p:nvSpPr>
        <p:spPr>
          <a:xfrm>
            <a:off x="928964" y="1154175"/>
            <a:ext cx="8864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 配置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70" name="group 27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216" name="path 221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18" name="path 221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20" name="rect 222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2" name="rect 222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4" name="picture 22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pic>
        <p:nvPicPr>
          <p:cNvPr id="2226" name="picture 2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8972" y="1584198"/>
            <a:ext cx="8792716" cy="5104637"/>
          </a:xfrm>
          <a:prstGeom prst="rect">
            <a:avLst/>
          </a:prstGeom>
        </p:spPr>
      </p:pic>
      <p:sp>
        <p:nvSpPr>
          <p:cNvPr id="2228" name="textbox 222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232" name="picture 22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234" name="textbox 223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236" name="textbox 2236"/>
          <p:cNvSpPr/>
          <p:nvPr/>
        </p:nvSpPr>
        <p:spPr>
          <a:xfrm>
            <a:off x="928964" y="1154175"/>
            <a:ext cx="886460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 配置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72" name="group 27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238" name="path 223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40" name="path 224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42" name="rect 224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44" name="rect 224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6" name="picture 22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13638" y="1584197"/>
            <a:ext cx="9514330" cy="4572761"/>
          </a:xfrm>
          <a:prstGeom prst="rect">
            <a:avLst/>
          </a:prstGeom>
        </p:spPr>
      </p:pic>
      <p:pic>
        <p:nvPicPr>
          <p:cNvPr id="2248" name="picture 22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250" name="textbox 225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254" name="textbox 2254"/>
          <p:cNvSpPr/>
          <p:nvPr/>
        </p:nvSpPr>
        <p:spPr>
          <a:xfrm>
            <a:off x="928964" y="1154175"/>
            <a:ext cx="344360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6.3 在代码中集成Spa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rk On</a:t>
            </a:r>
            <a:r>
              <a:rPr sz="1800" b="1" kern="0" spc="15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56" name="picture 2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258" name="textbox 225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74" name="group 27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260" name="path 226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62" name="path 226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64" name="rect 226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6" name="rect 226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roup 276"/>
          <p:cNvGrpSpPr/>
          <p:nvPr/>
        </p:nvGrpSpPr>
        <p:grpSpPr>
          <a:xfrm rot="21600000">
            <a:off x="710946" y="1928622"/>
            <a:ext cx="3594226" cy="3043300"/>
            <a:chOff x="0" y="0"/>
            <a:chExt cx="3594226" cy="3043300"/>
          </a:xfrm>
        </p:grpSpPr>
        <p:grpSp>
          <p:nvGrpSpPr>
            <p:cNvPr id="278" name="group 278"/>
            <p:cNvGrpSpPr/>
            <p:nvPr/>
          </p:nvGrpSpPr>
          <p:grpSpPr>
            <a:xfrm rot="21600000">
              <a:off x="0" y="0"/>
              <a:ext cx="3594226" cy="3043300"/>
              <a:chOff x="0" y="0"/>
              <a:chExt cx="3594226" cy="3043300"/>
            </a:xfrm>
          </p:grpSpPr>
          <p:sp>
            <p:nvSpPr>
              <p:cNvPr id="2268" name="path 2268"/>
              <p:cNvSpPr/>
              <p:nvPr/>
            </p:nvSpPr>
            <p:spPr>
              <a:xfrm>
                <a:off x="477900" y="2443098"/>
                <a:ext cx="600963" cy="600202"/>
              </a:xfrm>
              <a:custGeom>
                <a:avLst/>
                <a:gdLst/>
                <a:ahLst/>
                <a:cxnLst/>
                <a:rect l="0" t="0" r="0" b="0"/>
                <a:pathLst>
                  <a:path w="946" h="945">
                    <a:moveTo>
                      <a:pt x="10" y="472"/>
                    </a:moveTo>
                    <a:cubicBezTo>
                      <a:pt x="10" y="217"/>
                      <a:pt x="217" y="10"/>
                      <a:pt x="473" y="10"/>
                    </a:cubicBezTo>
                    <a:cubicBezTo>
                      <a:pt x="729" y="10"/>
                      <a:pt x="936" y="217"/>
                      <a:pt x="936" y="472"/>
                    </a:cubicBezTo>
                    <a:cubicBezTo>
                      <a:pt x="936" y="728"/>
                      <a:pt x="729" y="935"/>
                      <a:pt x="473" y="935"/>
                    </a:cubicBezTo>
                    <a:cubicBezTo>
                      <a:pt x="217" y="935"/>
                      <a:pt x="10" y="728"/>
                      <a:pt x="10" y="472"/>
                    </a:cubicBezTo>
                  </a:path>
                </a:pathLst>
              </a:custGeom>
              <a:noFill/>
              <a:ln w="12700" cap="flat">
                <a:solidFill>
                  <a:srgbClr val="BFBFB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0" name="path 2270"/>
              <p:cNvSpPr/>
              <p:nvPr/>
            </p:nvSpPr>
            <p:spPr>
              <a:xfrm>
                <a:off x="2097785" y="1855469"/>
                <a:ext cx="926591" cy="927353"/>
              </a:xfrm>
              <a:custGeom>
                <a:avLst/>
                <a:gdLst/>
                <a:ahLst/>
                <a:cxnLst/>
                <a:rect l="0" t="0" r="0" b="0"/>
                <a:pathLst>
                  <a:path w="1459" h="1460">
                    <a:moveTo>
                      <a:pt x="0" y="730"/>
                    </a:moveTo>
                    <a:cubicBezTo>
                      <a:pt x="0" y="326"/>
                      <a:pt x="326" y="0"/>
                      <a:pt x="729" y="0"/>
                    </a:cubicBezTo>
                    <a:cubicBezTo>
                      <a:pt x="1132" y="0"/>
                      <a:pt x="1459" y="326"/>
                      <a:pt x="1459" y="730"/>
                    </a:cubicBezTo>
                    <a:cubicBezTo>
                      <a:pt x="1459" y="1133"/>
                      <a:pt x="1132" y="1460"/>
                      <a:pt x="729" y="1460"/>
                    </a:cubicBezTo>
                    <a:cubicBezTo>
                      <a:pt x="326" y="1460"/>
                      <a:pt x="0" y="1133"/>
                      <a:pt x="0" y="730"/>
                    </a:cubicBezTo>
                  </a:path>
                </a:pathLst>
              </a:custGeom>
              <a:solidFill>
                <a:srgbClr val="515151">
                  <a:alpha val="63137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2" name="path 2272"/>
              <p:cNvSpPr/>
              <p:nvPr/>
            </p:nvSpPr>
            <p:spPr>
              <a:xfrm>
                <a:off x="1990470" y="443610"/>
                <a:ext cx="1603755" cy="1602993"/>
              </a:xfrm>
              <a:custGeom>
                <a:avLst/>
                <a:gdLst/>
                <a:ahLst/>
                <a:cxnLst/>
                <a:rect l="0" t="0" r="0" b="0"/>
                <a:pathLst>
                  <a:path w="2525" h="2524">
                    <a:moveTo>
                      <a:pt x="10" y="1262"/>
                    </a:moveTo>
                    <a:cubicBezTo>
                      <a:pt x="10" y="570"/>
                      <a:pt x="570" y="10"/>
                      <a:pt x="1262" y="10"/>
                    </a:cubicBezTo>
                    <a:cubicBezTo>
                      <a:pt x="1954" y="10"/>
                      <a:pt x="2515" y="570"/>
                      <a:pt x="2515" y="1262"/>
                    </a:cubicBezTo>
                    <a:cubicBezTo>
                      <a:pt x="2515" y="1953"/>
                      <a:pt x="1954" y="2514"/>
                      <a:pt x="1262" y="2514"/>
                    </a:cubicBezTo>
                    <a:cubicBezTo>
                      <a:pt x="570" y="2514"/>
                      <a:pt x="10" y="1953"/>
                      <a:pt x="10" y="1262"/>
                    </a:cubicBezTo>
                  </a:path>
                </a:pathLst>
              </a:custGeom>
              <a:noFill/>
              <a:ln w="12700" cap="flat">
                <a:solidFill>
                  <a:srgbClr val="515151"/>
                </a:solidFill>
                <a:prstDash val="dash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4" name="path 2274"/>
              <p:cNvSpPr/>
              <p:nvPr/>
            </p:nvSpPr>
            <p:spPr>
              <a:xfrm>
                <a:off x="778001" y="624839"/>
                <a:ext cx="1924811" cy="1895856"/>
              </a:xfrm>
              <a:custGeom>
                <a:avLst/>
                <a:gdLst/>
                <a:ahLst/>
                <a:cxnLst/>
                <a:rect l="0" t="0" r="0" b="0"/>
                <a:pathLst>
                  <a:path w="3031" h="2985">
                    <a:moveTo>
                      <a:pt x="0" y="1492"/>
                    </a:moveTo>
                    <a:cubicBezTo>
                      <a:pt x="0" y="668"/>
                      <a:pt x="678" y="0"/>
                      <a:pt x="1515" y="0"/>
                    </a:cubicBezTo>
                    <a:cubicBezTo>
                      <a:pt x="2352" y="0"/>
                      <a:pt x="3031" y="668"/>
                      <a:pt x="3031" y="1492"/>
                    </a:cubicBezTo>
                    <a:cubicBezTo>
                      <a:pt x="3031" y="2317"/>
                      <a:pt x="2352" y="2985"/>
                      <a:pt x="1515" y="2985"/>
                    </a:cubicBezTo>
                    <a:cubicBezTo>
                      <a:pt x="678" y="2985"/>
                      <a:pt x="0" y="2317"/>
                      <a:pt x="0" y="1492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6" name="path 2276"/>
              <p:cNvSpPr/>
              <p:nvPr/>
            </p:nvSpPr>
            <p:spPr>
              <a:xfrm>
                <a:off x="720851" y="567689"/>
                <a:ext cx="2039111" cy="2010156"/>
              </a:xfrm>
              <a:custGeom>
                <a:avLst/>
                <a:gdLst/>
                <a:ahLst/>
                <a:cxnLst/>
                <a:rect l="0" t="0" r="0" b="0"/>
                <a:pathLst>
                  <a:path w="3211" h="3165">
                    <a:moveTo>
                      <a:pt x="90" y="1582"/>
                    </a:moveTo>
                    <a:cubicBezTo>
                      <a:pt x="90" y="758"/>
                      <a:pt x="768" y="90"/>
                      <a:pt x="1605" y="90"/>
                    </a:cubicBezTo>
                    <a:cubicBezTo>
                      <a:pt x="2442" y="90"/>
                      <a:pt x="3121" y="758"/>
                      <a:pt x="3121" y="1582"/>
                    </a:cubicBezTo>
                    <a:cubicBezTo>
                      <a:pt x="3121" y="2407"/>
                      <a:pt x="2442" y="3075"/>
                      <a:pt x="1605" y="3075"/>
                    </a:cubicBezTo>
                    <a:cubicBezTo>
                      <a:pt x="768" y="3075"/>
                      <a:pt x="90" y="2407"/>
                      <a:pt x="90" y="1582"/>
                    </a:cubicBezTo>
                  </a:path>
                </a:pathLst>
              </a:custGeom>
              <a:noFill/>
              <a:ln w="114300" cap="flat">
                <a:solidFill>
                  <a:srgbClr val="AD2B2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8" name="path 2278"/>
              <p:cNvSpPr/>
              <p:nvPr/>
            </p:nvSpPr>
            <p:spPr>
              <a:xfrm>
                <a:off x="0" y="0"/>
                <a:ext cx="803909" cy="804671"/>
              </a:xfrm>
              <a:custGeom>
                <a:avLst/>
                <a:gdLst/>
                <a:ahLst/>
                <a:cxnLst/>
                <a:rect l="0" t="0" r="0" b="0"/>
                <a:pathLst>
                  <a:path w="1265" h="1267">
                    <a:moveTo>
                      <a:pt x="0" y="633"/>
                    </a:moveTo>
                    <a:cubicBezTo>
                      <a:pt x="0" y="283"/>
                      <a:pt x="283" y="0"/>
                      <a:pt x="633" y="0"/>
                    </a:cubicBezTo>
                    <a:cubicBezTo>
                      <a:pt x="982" y="0"/>
                      <a:pt x="1265" y="283"/>
                      <a:pt x="1265" y="633"/>
                    </a:cubicBezTo>
                    <a:cubicBezTo>
                      <a:pt x="1265" y="983"/>
                      <a:pt x="982" y="1267"/>
                      <a:pt x="633" y="1267"/>
                    </a:cubicBezTo>
                    <a:cubicBezTo>
                      <a:pt x="283" y="1267"/>
                      <a:pt x="0" y="983"/>
                      <a:pt x="0" y="633"/>
                    </a:cubicBezTo>
                  </a:path>
                </a:pathLst>
              </a:custGeom>
              <a:solidFill>
                <a:srgbClr val="F2F2F2">
                  <a:alpha val="70196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0" name="path 2280"/>
              <p:cNvSpPr/>
              <p:nvPr/>
            </p:nvSpPr>
            <p:spPr>
              <a:xfrm>
                <a:off x="2393441" y="106679"/>
                <a:ext cx="313943" cy="313944"/>
              </a:xfrm>
              <a:custGeom>
                <a:avLst/>
                <a:gdLst/>
                <a:ahLst/>
                <a:cxnLst/>
                <a:rect l="0" t="0" r="0" b="0"/>
                <a:pathLst>
                  <a:path w="494" h="494">
                    <a:moveTo>
                      <a:pt x="0" y="247"/>
                    </a:moveTo>
                    <a:cubicBezTo>
                      <a:pt x="0" y="110"/>
                      <a:pt x="110" y="0"/>
                      <a:pt x="247" y="0"/>
                    </a:cubicBezTo>
                    <a:cubicBezTo>
                      <a:pt x="383" y="0"/>
                      <a:pt x="494" y="110"/>
                      <a:pt x="494" y="247"/>
                    </a:cubicBezTo>
                    <a:cubicBezTo>
                      <a:pt x="494" y="383"/>
                      <a:pt x="383" y="494"/>
                      <a:pt x="247" y="494"/>
                    </a:cubicBezTo>
                    <a:cubicBezTo>
                      <a:pt x="110" y="494"/>
                      <a:pt x="0" y="383"/>
                      <a:pt x="0" y="247"/>
                    </a:cubicBezTo>
                  </a:path>
                </a:pathLst>
              </a:custGeom>
              <a:solidFill>
                <a:srgbClr val="49504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82" name="textbox 2282"/>
            <p:cNvSpPr/>
            <p:nvPr/>
          </p:nvSpPr>
          <p:spPr>
            <a:xfrm>
              <a:off x="-12700" y="-12700"/>
              <a:ext cx="3620134" cy="3098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2220" algn="l" rtl="0" eaLnBrk="0">
                <a:lnSpc>
                  <a:spcPct val="87000"/>
                </a:lnSpc>
              </a:pPr>
              <a:r>
                <a:rPr sz="40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284" name="textbox 2284"/>
          <p:cNvSpPr/>
          <p:nvPr/>
        </p:nvSpPr>
        <p:spPr>
          <a:xfrm>
            <a:off x="5216508" y="3479394"/>
            <a:ext cx="5369559" cy="648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</a:t>
            </a:r>
            <a:r>
              <a:rPr sz="13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就是因为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自身没有元数据管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理功能，  所以使用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415" algn="l" rtl="0" eaLnBrk="0">
              <a:lnSpc>
                <a:spcPts val="336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Metastore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服务作为元数据管理服务。计算由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86" name="picture 22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288" name="textbox 228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292" name="picture 2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294" name="textbox 229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80" name="group 28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296" name="path 229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98" name="path 229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00" name="rect 230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02" name="rect 230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textbox 2304"/>
          <p:cNvSpPr/>
          <p:nvPr/>
        </p:nvSpPr>
        <p:spPr>
          <a:xfrm>
            <a:off x="5355028" y="2428418"/>
            <a:ext cx="3639820" cy="2011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1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</a:t>
            </a:r>
            <a:r>
              <a:rPr sz="3100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3100" kern="0" spc="1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执行引擎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2070"/>
              </a:lnSpc>
              <a:spcBef>
                <a:spcPts val="485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 概</a:t>
            </a: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念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2070"/>
              </a:lnSpc>
              <a:spcBef>
                <a:spcPts val="480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24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7.2 客户端工具连接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2070"/>
              </a:lnSpc>
              <a:spcBef>
                <a:spcPts val="5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24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7.3 代码JDBC连接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82" name="group 282"/>
          <p:cNvGrpSpPr/>
          <p:nvPr/>
        </p:nvGrpSpPr>
        <p:grpSpPr>
          <a:xfrm rot="21600000">
            <a:off x="3596640" y="2338578"/>
            <a:ext cx="1410458" cy="1318260"/>
            <a:chOff x="0" y="0"/>
            <a:chExt cx="1410458" cy="1318260"/>
          </a:xfrm>
        </p:grpSpPr>
        <p:grpSp>
          <p:nvGrpSpPr>
            <p:cNvPr id="284" name="group 284"/>
            <p:cNvGrpSpPr/>
            <p:nvPr/>
          </p:nvGrpSpPr>
          <p:grpSpPr>
            <a:xfrm rot="21600000">
              <a:off x="0" y="0"/>
              <a:ext cx="1410458" cy="1318260"/>
              <a:chOff x="0" y="0"/>
              <a:chExt cx="1410458" cy="1318260"/>
            </a:xfrm>
          </p:grpSpPr>
          <p:sp>
            <p:nvSpPr>
              <p:cNvPr id="2306" name="path 2306"/>
              <p:cNvSpPr/>
              <p:nvPr/>
            </p:nvSpPr>
            <p:spPr>
              <a:xfrm>
                <a:off x="274315" y="0"/>
                <a:ext cx="1136142" cy="1318260"/>
              </a:xfrm>
              <a:custGeom>
                <a:avLst/>
                <a:gdLst/>
                <a:ahLst/>
                <a:cxnLst/>
                <a:rect l="0" t="0" r="0" b="0"/>
                <a:pathLst>
                  <a:path w="1789" h="2076">
                    <a:moveTo>
                      <a:pt x="894" y="0"/>
                    </a:moveTo>
                    <a:lnTo>
                      <a:pt x="1789" y="447"/>
                    </a:lnTo>
                    <a:lnTo>
                      <a:pt x="1789" y="1628"/>
                    </a:lnTo>
                    <a:lnTo>
                      <a:pt x="894" y="2076"/>
                    </a:lnTo>
                    <a:lnTo>
                      <a:pt x="0" y="1628"/>
                    </a:lnTo>
                    <a:lnTo>
                      <a:pt x="0" y="44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rgbClr val="AD2B26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8" name="path 2308"/>
              <p:cNvSpPr/>
              <p:nvPr/>
            </p:nvSpPr>
            <p:spPr>
              <a:xfrm>
                <a:off x="0" y="889253"/>
                <a:ext cx="370331" cy="429005"/>
              </a:xfrm>
              <a:custGeom>
                <a:avLst/>
                <a:gdLst/>
                <a:ahLst/>
                <a:cxnLst/>
                <a:rect l="0" t="0" r="0" b="0"/>
                <a:pathLst>
                  <a:path w="583" h="675">
                    <a:moveTo>
                      <a:pt x="291" y="0"/>
                    </a:moveTo>
                    <a:lnTo>
                      <a:pt x="583" y="145"/>
                    </a:lnTo>
                    <a:lnTo>
                      <a:pt x="583" y="529"/>
                    </a:lnTo>
                    <a:lnTo>
                      <a:pt x="291" y="675"/>
                    </a:lnTo>
                    <a:lnTo>
                      <a:pt x="0" y="529"/>
                    </a:lnTo>
                    <a:lnTo>
                      <a:pt x="0" y="145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D9D9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10" name="textbox 2310"/>
            <p:cNvSpPr/>
            <p:nvPr/>
          </p:nvSpPr>
          <p:spPr>
            <a:xfrm>
              <a:off x="-12700" y="-12700"/>
              <a:ext cx="1436369" cy="1344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7690" algn="l" rtl="0" eaLnBrk="0">
                <a:lnSpc>
                  <a:spcPts val="5280"/>
                </a:lnSpc>
                <a:spcBef>
                  <a:spcPts val="0"/>
                </a:spcBef>
              </a:pPr>
              <a:r>
                <a:rPr sz="4000" b="1" kern="0" spc="-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2" name="picture 23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03732" y="1584197"/>
            <a:ext cx="6877037" cy="5099303"/>
          </a:xfrm>
          <a:prstGeom prst="rect">
            <a:avLst/>
          </a:prstGeom>
        </p:spPr>
      </p:pic>
      <p:pic>
        <p:nvPicPr>
          <p:cNvPr id="2314" name="picture 23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316" name="textbox 231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318" name="picture 2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320" name="textbox 232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322" name="picture 23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27676" y="6454140"/>
            <a:ext cx="5570219" cy="229349"/>
          </a:xfrm>
          <a:prstGeom prst="rect">
            <a:avLst/>
          </a:prstGeom>
        </p:spPr>
      </p:pic>
      <p:sp>
        <p:nvSpPr>
          <p:cNvPr id="2326" name="textbox 2326"/>
          <p:cNvSpPr/>
          <p:nvPr/>
        </p:nvSpPr>
        <p:spPr>
          <a:xfrm>
            <a:off x="927364" y="1154175"/>
            <a:ext cx="88836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 概念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86" name="group 28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328" name="path 232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30" name="path 233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32" name="rect 233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34" name="rect 233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2" name="picture 23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03732" y="1584197"/>
            <a:ext cx="6877037" cy="5099303"/>
          </a:xfrm>
          <a:prstGeom prst="rect">
            <a:avLst/>
          </a:prstGeom>
        </p:spPr>
      </p:pic>
      <p:pic>
        <p:nvPicPr>
          <p:cNvPr id="2314" name="picture 23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316" name="textbox 2316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318" name="picture 2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320" name="textbox 2320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322" name="picture 23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27676" y="6454140"/>
            <a:ext cx="5570219" cy="229349"/>
          </a:xfrm>
          <a:prstGeom prst="rect">
            <a:avLst/>
          </a:prstGeom>
        </p:spPr>
      </p:pic>
      <p:sp>
        <p:nvSpPr>
          <p:cNvPr id="2326" name="textbox 2326"/>
          <p:cNvSpPr/>
          <p:nvPr/>
        </p:nvSpPr>
        <p:spPr>
          <a:xfrm>
            <a:off x="927364" y="1154175"/>
            <a:ext cx="88836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 概念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86" name="group 28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328" name="path 232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30" name="path 233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32" name="rect 233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34" name="rect 233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11860" y="1532890"/>
            <a:ext cx="7851140" cy="48298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picture 23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0496" y="1584198"/>
            <a:ext cx="7888223" cy="4997957"/>
          </a:xfrm>
          <a:prstGeom prst="rect">
            <a:avLst/>
          </a:prstGeom>
        </p:spPr>
      </p:pic>
      <p:pic>
        <p:nvPicPr>
          <p:cNvPr id="2338" name="picture 23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340" name="textbox 234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344" name="picture 2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346" name="textbox 234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348" name="textbox 2348"/>
          <p:cNvSpPr/>
          <p:nvPr/>
        </p:nvSpPr>
        <p:spPr>
          <a:xfrm>
            <a:off x="927364" y="1154175"/>
            <a:ext cx="88836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7.2 配置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88" name="group 28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350" name="path 235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52" name="path 235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54" name="rect 235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56" name="rect 235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picture 23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978914"/>
            <a:ext cx="4684763" cy="3798569"/>
          </a:xfrm>
          <a:prstGeom prst="rect">
            <a:avLst/>
          </a:prstGeom>
        </p:spPr>
      </p:pic>
      <p:pic>
        <p:nvPicPr>
          <p:cNvPr id="2360" name="picture 23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362" name="textbox 236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366" name="picture 23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368" name="textbox 236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370" name="textbox 2370"/>
          <p:cNvSpPr/>
          <p:nvPr/>
        </p:nvSpPr>
        <p:spPr>
          <a:xfrm>
            <a:off x="919820" y="1719250"/>
            <a:ext cx="162242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客户端工具测试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72" name="textbox 2372"/>
          <p:cNvSpPr/>
          <p:nvPr/>
        </p:nvSpPr>
        <p:spPr>
          <a:xfrm>
            <a:off x="927364" y="1154175"/>
            <a:ext cx="88836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7.3 测试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0" name="group 29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374" name="path 2374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76" name="path 2376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78" name="rect 2378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80" name="rect 2380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textbox 2382"/>
          <p:cNvSpPr/>
          <p:nvPr/>
        </p:nvSpPr>
        <p:spPr>
          <a:xfrm>
            <a:off x="883412" y="3166960"/>
            <a:ext cx="10544809" cy="1205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405"/>
              </a:lnSpc>
            </a:pPr>
            <a:r>
              <a:rPr sz="1000" kern="0" spc="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yum</a:t>
            </a:r>
            <a:r>
              <a:rPr sz="1000" kern="0" spc="7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install zlib-devel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bzip2-devel openssl-devel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ncurses-devel</a:t>
            </a:r>
            <a:r>
              <a:rPr sz="1000" kern="0" spc="7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sqlite-devel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readline-devel tk-devel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libffi-de</a:t>
            </a:r>
            <a:r>
              <a:rPr sz="1000" kern="0" spc="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vel gcc</a:t>
            </a:r>
            <a:r>
              <a:rPr sz="1000" kern="0" spc="1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make gcc-c++</a:t>
            </a:r>
            <a:r>
              <a:rPr sz="1000" kern="0" spc="12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python-devel cyrus-sasl-devel</a:t>
            </a:r>
            <a:r>
              <a:rPr sz="1000" kern="0" spc="7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cyrus-sasl-plain</a:t>
            </a:r>
            <a:r>
              <a:rPr sz="1000" kern="0" spc="6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cyrus-sasl-gssapi</a:t>
            </a:r>
            <a:r>
              <a:rPr sz="1000" kern="0" spc="7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1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-y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5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000"/>
              </a:lnSpc>
              <a:spcBef>
                <a:spcPts val="510"/>
              </a:spcBef>
            </a:pPr>
            <a:r>
              <a:rPr sz="1700" kern="0" spc="-30" dirty="0">
                <a:solidFill>
                  <a:srgbClr val="6D6D6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安装好前置依翰软件后,安装py</a:t>
            </a:r>
            <a:r>
              <a:rPr sz="1700" kern="0" spc="-230" dirty="0">
                <a:solidFill>
                  <a:srgbClr val="6D6D6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-30" dirty="0">
                <a:solidFill>
                  <a:srgbClr val="6D6D6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hive包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3505" algn="l" rtl="0" eaLnBrk="0">
              <a:lnSpc>
                <a:spcPts val="1405"/>
              </a:lnSpc>
              <a:spcBef>
                <a:spcPts val="5"/>
              </a:spcBef>
            </a:pP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export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server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anaconda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envs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pyspark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bin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python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-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pip</a:t>
            </a:r>
            <a:r>
              <a:rPr sz="1000" kern="0" spc="8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install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-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000" kern="0" spc="10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: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//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pypi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tuna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tsinghua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edu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simple</a:t>
            </a:r>
            <a:r>
              <a:rPr sz="1000" kern="0" spc="8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pyhive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pymysql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sasl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thrift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thrift</a:t>
            </a:r>
            <a:r>
              <a:rPr sz="1000" kern="0" spc="9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_</a:t>
            </a: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1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sasl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384" name="picture 2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6112" y="2128266"/>
            <a:ext cx="6515861" cy="990600"/>
          </a:xfrm>
          <a:prstGeom prst="rect">
            <a:avLst/>
          </a:prstGeom>
        </p:spPr>
      </p:pic>
      <p:pic>
        <p:nvPicPr>
          <p:cNvPr id="2386" name="picture 23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388" name="textbox 238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392" name="picture 23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394" name="textbox 2394"/>
          <p:cNvSpPr/>
          <p:nvPr/>
        </p:nvSpPr>
        <p:spPr>
          <a:xfrm>
            <a:off x="919820" y="1154175"/>
            <a:ext cx="936625" cy="828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7.3 测试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5"/>
              </a:spcBef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代码测试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6" name="textbox 239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292" name="group 29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398" name="path 239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00" name="path 240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402" name="rect 240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04" name="rect 240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" name="picture 24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7438" y="1889760"/>
            <a:ext cx="9262870" cy="4243577"/>
          </a:xfrm>
          <a:prstGeom prst="rect">
            <a:avLst/>
          </a:prstGeom>
        </p:spPr>
      </p:pic>
      <p:pic>
        <p:nvPicPr>
          <p:cNvPr id="2408" name="picture 24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410" name="textbox 241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414" name="picture 24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416" name="textbox 241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418" name="textbox 2418"/>
          <p:cNvSpPr/>
          <p:nvPr/>
        </p:nvSpPr>
        <p:spPr>
          <a:xfrm>
            <a:off x="927364" y="1154175"/>
            <a:ext cx="88836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75"/>
              </a:lnSpc>
            </a:pPr>
            <a:r>
              <a:rPr sz="1800" b="1" kern="0" spc="-2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7.3 测试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0" name="textbox 2420"/>
          <p:cNvSpPr/>
          <p:nvPr/>
        </p:nvSpPr>
        <p:spPr>
          <a:xfrm>
            <a:off x="919820" y="1719707"/>
            <a:ext cx="936625" cy="262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800" b="1" kern="0" spc="-1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代码测试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4" name="group 29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422" name="path 2422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24" name="path 2424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426" name="rect 2426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8" name="rect 2428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textbox 2430"/>
          <p:cNvSpPr/>
          <p:nvPr/>
        </p:nvSpPr>
        <p:spPr>
          <a:xfrm>
            <a:off x="5206743" y="1879372"/>
            <a:ext cx="5573395" cy="3845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3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执行引擎就是使用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提供的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ThriftServer</a:t>
            </a:r>
            <a:r>
              <a:rPr sz="13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服务，以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“后台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ts val="3210"/>
              </a:lnSpc>
            </a:pP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进程”的模式持续运行，对外提供端口。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9000"/>
              </a:lnSpc>
              <a:spcBef>
                <a:spcPts val="400"/>
              </a:spcBef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可以通过客户端工具或者代码，以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JDBC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协议连接使用。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9000"/>
              </a:lnSpc>
              <a:spcBef>
                <a:spcPts val="400"/>
              </a:spcBef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提交后，底层运行的就是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99000"/>
              </a:lnSpc>
              <a:spcBef>
                <a:spcPts val="400"/>
              </a:spcBef>
            </a:pP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相当于构建了一个以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MetaStore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服务为元数据，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为执行引擎的数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 algn="l" rtl="0" eaLnBrk="0">
              <a:lnSpc>
                <a:spcPct val="214000"/>
              </a:lnSpc>
              <a:spcBef>
                <a:spcPts val="20"/>
              </a:spcBef>
            </a:pP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据库服务，像操作数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据库那样方便的操作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进行分布式的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6" name="group 296"/>
          <p:cNvGrpSpPr/>
          <p:nvPr/>
        </p:nvGrpSpPr>
        <p:grpSpPr>
          <a:xfrm rot="21600000">
            <a:off x="710946" y="1928622"/>
            <a:ext cx="3594226" cy="3043300"/>
            <a:chOff x="0" y="0"/>
            <a:chExt cx="3594226" cy="3043300"/>
          </a:xfrm>
        </p:grpSpPr>
        <p:grpSp>
          <p:nvGrpSpPr>
            <p:cNvPr id="298" name="group 298"/>
            <p:cNvGrpSpPr/>
            <p:nvPr/>
          </p:nvGrpSpPr>
          <p:grpSpPr>
            <a:xfrm rot="21600000">
              <a:off x="0" y="0"/>
              <a:ext cx="3594226" cy="3043300"/>
              <a:chOff x="0" y="0"/>
              <a:chExt cx="3594226" cy="3043300"/>
            </a:xfrm>
          </p:grpSpPr>
          <p:sp>
            <p:nvSpPr>
              <p:cNvPr id="2432" name="path 2432"/>
              <p:cNvSpPr/>
              <p:nvPr/>
            </p:nvSpPr>
            <p:spPr>
              <a:xfrm>
                <a:off x="477900" y="2443098"/>
                <a:ext cx="600963" cy="600202"/>
              </a:xfrm>
              <a:custGeom>
                <a:avLst/>
                <a:gdLst/>
                <a:ahLst/>
                <a:cxnLst/>
                <a:rect l="0" t="0" r="0" b="0"/>
                <a:pathLst>
                  <a:path w="946" h="945">
                    <a:moveTo>
                      <a:pt x="10" y="472"/>
                    </a:moveTo>
                    <a:cubicBezTo>
                      <a:pt x="10" y="217"/>
                      <a:pt x="217" y="10"/>
                      <a:pt x="473" y="10"/>
                    </a:cubicBezTo>
                    <a:cubicBezTo>
                      <a:pt x="729" y="10"/>
                      <a:pt x="936" y="217"/>
                      <a:pt x="936" y="472"/>
                    </a:cubicBezTo>
                    <a:cubicBezTo>
                      <a:pt x="936" y="728"/>
                      <a:pt x="729" y="935"/>
                      <a:pt x="473" y="935"/>
                    </a:cubicBezTo>
                    <a:cubicBezTo>
                      <a:pt x="217" y="935"/>
                      <a:pt x="10" y="728"/>
                      <a:pt x="10" y="472"/>
                    </a:cubicBezTo>
                  </a:path>
                </a:pathLst>
              </a:custGeom>
              <a:noFill/>
              <a:ln w="12700" cap="flat">
                <a:solidFill>
                  <a:srgbClr val="BFBFB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4" name="path 2434"/>
              <p:cNvSpPr/>
              <p:nvPr/>
            </p:nvSpPr>
            <p:spPr>
              <a:xfrm>
                <a:off x="2097785" y="1855469"/>
                <a:ext cx="926591" cy="927353"/>
              </a:xfrm>
              <a:custGeom>
                <a:avLst/>
                <a:gdLst/>
                <a:ahLst/>
                <a:cxnLst/>
                <a:rect l="0" t="0" r="0" b="0"/>
                <a:pathLst>
                  <a:path w="1459" h="1460">
                    <a:moveTo>
                      <a:pt x="0" y="730"/>
                    </a:moveTo>
                    <a:cubicBezTo>
                      <a:pt x="0" y="326"/>
                      <a:pt x="326" y="0"/>
                      <a:pt x="729" y="0"/>
                    </a:cubicBezTo>
                    <a:cubicBezTo>
                      <a:pt x="1132" y="0"/>
                      <a:pt x="1459" y="326"/>
                      <a:pt x="1459" y="730"/>
                    </a:cubicBezTo>
                    <a:cubicBezTo>
                      <a:pt x="1459" y="1133"/>
                      <a:pt x="1132" y="1460"/>
                      <a:pt x="729" y="1460"/>
                    </a:cubicBezTo>
                    <a:cubicBezTo>
                      <a:pt x="326" y="1460"/>
                      <a:pt x="0" y="1133"/>
                      <a:pt x="0" y="730"/>
                    </a:cubicBezTo>
                  </a:path>
                </a:pathLst>
              </a:custGeom>
              <a:solidFill>
                <a:srgbClr val="515151">
                  <a:alpha val="63137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6" name="path 2436"/>
              <p:cNvSpPr/>
              <p:nvPr/>
            </p:nvSpPr>
            <p:spPr>
              <a:xfrm>
                <a:off x="1990470" y="443610"/>
                <a:ext cx="1603755" cy="1602993"/>
              </a:xfrm>
              <a:custGeom>
                <a:avLst/>
                <a:gdLst/>
                <a:ahLst/>
                <a:cxnLst/>
                <a:rect l="0" t="0" r="0" b="0"/>
                <a:pathLst>
                  <a:path w="2525" h="2524">
                    <a:moveTo>
                      <a:pt x="10" y="1262"/>
                    </a:moveTo>
                    <a:cubicBezTo>
                      <a:pt x="10" y="570"/>
                      <a:pt x="570" y="10"/>
                      <a:pt x="1262" y="10"/>
                    </a:cubicBezTo>
                    <a:cubicBezTo>
                      <a:pt x="1954" y="10"/>
                      <a:pt x="2515" y="570"/>
                      <a:pt x="2515" y="1262"/>
                    </a:cubicBezTo>
                    <a:cubicBezTo>
                      <a:pt x="2515" y="1953"/>
                      <a:pt x="1954" y="2514"/>
                      <a:pt x="1262" y="2514"/>
                    </a:cubicBezTo>
                    <a:cubicBezTo>
                      <a:pt x="570" y="2514"/>
                      <a:pt x="10" y="1953"/>
                      <a:pt x="10" y="1262"/>
                    </a:cubicBezTo>
                  </a:path>
                </a:pathLst>
              </a:custGeom>
              <a:noFill/>
              <a:ln w="12700" cap="flat">
                <a:solidFill>
                  <a:srgbClr val="515151"/>
                </a:solidFill>
                <a:prstDash val="dash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8" name="path 2438"/>
              <p:cNvSpPr/>
              <p:nvPr/>
            </p:nvSpPr>
            <p:spPr>
              <a:xfrm>
                <a:off x="778001" y="624839"/>
                <a:ext cx="1924811" cy="1895856"/>
              </a:xfrm>
              <a:custGeom>
                <a:avLst/>
                <a:gdLst/>
                <a:ahLst/>
                <a:cxnLst/>
                <a:rect l="0" t="0" r="0" b="0"/>
                <a:pathLst>
                  <a:path w="3031" h="2985">
                    <a:moveTo>
                      <a:pt x="0" y="1492"/>
                    </a:moveTo>
                    <a:cubicBezTo>
                      <a:pt x="0" y="668"/>
                      <a:pt x="678" y="0"/>
                      <a:pt x="1515" y="0"/>
                    </a:cubicBezTo>
                    <a:cubicBezTo>
                      <a:pt x="2352" y="0"/>
                      <a:pt x="3031" y="668"/>
                      <a:pt x="3031" y="1492"/>
                    </a:cubicBezTo>
                    <a:cubicBezTo>
                      <a:pt x="3031" y="2317"/>
                      <a:pt x="2352" y="2985"/>
                      <a:pt x="1515" y="2985"/>
                    </a:cubicBezTo>
                    <a:cubicBezTo>
                      <a:pt x="678" y="2985"/>
                      <a:pt x="0" y="2317"/>
                      <a:pt x="0" y="1492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0" name="path 2440"/>
              <p:cNvSpPr/>
              <p:nvPr/>
            </p:nvSpPr>
            <p:spPr>
              <a:xfrm>
                <a:off x="720851" y="567689"/>
                <a:ext cx="2039111" cy="2010156"/>
              </a:xfrm>
              <a:custGeom>
                <a:avLst/>
                <a:gdLst/>
                <a:ahLst/>
                <a:cxnLst/>
                <a:rect l="0" t="0" r="0" b="0"/>
                <a:pathLst>
                  <a:path w="3211" h="3165">
                    <a:moveTo>
                      <a:pt x="90" y="1582"/>
                    </a:moveTo>
                    <a:cubicBezTo>
                      <a:pt x="90" y="758"/>
                      <a:pt x="768" y="90"/>
                      <a:pt x="1605" y="90"/>
                    </a:cubicBezTo>
                    <a:cubicBezTo>
                      <a:pt x="2442" y="90"/>
                      <a:pt x="3121" y="758"/>
                      <a:pt x="3121" y="1582"/>
                    </a:cubicBezTo>
                    <a:cubicBezTo>
                      <a:pt x="3121" y="2407"/>
                      <a:pt x="2442" y="3075"/>
                      <a:pt x="1605" y="3075"/>
                    </a:cubicBezTo>
                    <a:cubicBezTo>
                      <a:pt x="768" y="3075"/>
                      <a:pt x="90" y="2407"/>
                      <a:pt x="90" y="1582"/>
                    </a:cubicBezTo>
                  </a:path>
                </a:pathLst>
              </a:custGeom>
              <a:noFill/>
              <a:ln w="114300" cap="flat">
                <a:solidFill>
                  <a:srgbClr val="AD2B2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2" name="path 2442"/>
              <p:cNvSpPr/>
              <p:nvPr/>
            </p:nvSpPr>
            <p:spPr>
              <a:xfrm>
                <a:off x="0" y="0"/>
                <a:ext cx="803909" cy="804671"/>
              </a:xfrm>
              <a:custGeom>
                <a:avLst/>
                <a:gdLst/>
                <a:ahLst/>
                <a:cxnLst/>
                <a:rect l="0" t="0" r="0" b="0"/>
                <a:pathLst>
                  <a:path w="1265" h="1267">
                    <a:moveTo>
                      <a:pt x="0" y="633"/>
                    </a:moveTo>
                    <a:cubicBezTo>
                      <a:pt x="0" y="283"/>
                      <a:pt x="283" y="0"/>
                      <a:pt x="633" y="0"/>
                    </a:cubicBezTo>
                    <a:cubicBezTo>
                      <a:pt x="982" y="0"/>
                      <a:pt x="1265" y="283"/>
                      <a:pt x="1265" y="633"/>
                    </a:cubicBezTo>
                    <a:cubicBezTo>
                      <a:pt x="1265" y="983"/>
                      <a:pt x="982" y="1267"/>
                      <a:pt x="633" y="1267"/>
                    </a:cubicBezTo>
                    <a:cubicBezTo>
                      <a:pt x="283" y="1267"/>
                      <a:pt x="0" y="983"/>
                      <a:pt x="0" y="633"/>
                    </a:cubicBezTo>
                  </a:path>
                </a:pathLst>
              </a:custGeom>
              <a:solidFill>
                <a:srgbClr val="F2F2F2">
                  <a:alpha val="70196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4" name="path 2444"/>
              <p:cNvSpPr/>
              <p:nvPr/>
            </p:nvSpPr>
            <p:spPr>
              <a:xfrm>
                <a:off x="2393441" y="106679"/>
                <a:ext cx="313943" cy="313944"/>
              </a:xfrm>
              <a:custGeom>
                <a:avLst/>
                <a:gdLst/>
                <a:ahLst/>
                <a:cxnLst/>
                <a:rect l="0" t="0" r="0" b="0"/>
                <a:pathLst>
                  <a:path w="494" h="494">
                    <a:moveTo>
                      <a:pt x="0" y="247"/>
                    </a:moveTo>
                    <a:cubicBezTo>
                      <a:pt x="0" y="110"/>
                      <a:pt x="110" y="0"/>
                      <a:pt x="247" y="0"/>
                    </a:cubicBezTo>
                    <a:cubicBezTo>
                      <a:pt x="383" y="0"/>
                      <a:pt x="494" y="110"/>
                      <a:pt x="494" y="247"/>
                    </a:cubicBezTo>
                    <a:cubicBezTo>
                      <a:pt x="494" y="383"/>
                      <a:pt x="383" y="494"/>
                      <a:pt x="247" y="494"/>
                    </a:cubicBezTo>
                    <a:cubicBezTo>
                      <a:pt x="110" y="494"/>
                      <a:pt x="0" y="383"/>
                      <a:pt x="0" y="247"/>
                    </a:cubicBezTo>
                  </a:path>
                </a:pathLst>
              </a:custGeom>
              <a:solidFill>
                <a:srgbClr val="49504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46" name="textbox 2446"/>
            <p:cNvSpPr/>
            <p:nvPr/>
          </p:nvSpPr>
          <p:spPr>
            <a:xfrm>
              <a:off x="-12700" y="-12700"/>
              <a:ext cx="3620134" cy="3098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2220" algn="l" rtl="0" eaLnBrk="0">
                <a:lnSpc>
                  <a:spcPct val="87000"/>
                </a:lnSpc>
              </a:pPr>
              <a:r>
                <a:rPr sz="40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</a:t>
              </a:r>
              <a:endPara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448" name="picture 24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450" name="textbox 245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454" name="picture 24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2456" name="textbox 2456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300" name="group 30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2458" name="path 2458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60" name="path 2460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462" name="rect 2462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64" name="rect 2464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20*146"/>
  <p:tag name="TABLE_ENDDRAG_RECT" val="73*180*620*146"/>
</p:tagLst>
</file>

<file path=ppt/tags/tag2.xml><?xml version="1.0" encoding="utf-8"?>
<p:tagLst xmlns:p="http://schemas.openxmlformats.org/presentationml/2006/main">
  <p:tag name="TABLE_ENDDRAG_ORIGIN_RECT" val="589*96"/>
  <p:tag name="TABLE_ENDDRAG_RECT" val="73*239*589*9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28914</Words>
  <Application>WPS 演示</Application>
  <PresentationFormat/>
  <Paragraphs>1974</Paragraphs>
  <Slides>100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100</vt:i4>
      </vt:variant>
    </vt:vector>
  </HeadingPairs>
  <TitlesOfParts>
    <vt:vector size="112" baseType="lpstr">
      <vt:lpstr>Arial</vt:lpstr>
      <vt:lpstr>宋体</vt:lpstr>
      <vt:lpstr>Wingdings</vt:lpstr>
      <vt:lpstr>Arial</vt:lpstr>
      <vt:lpstr>微软雅黑</vt:lpstr>
      <vt:lpstr>Verdana</vt:lpstr>
      <vt:lpstr>Wingdings</vt:lpstr>
      <vt:lpstr>华文楷体</vt:lpstr>
      <vt:lpstr>Calibri</vt:lpstr>
      <vt:lpstr>黑体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WPS_1631154522</cp:lastModifiedBy>
  <cp:revision>43</cp:revision>
  <dcterms:created xsi:type="dcterms:W3CDTF">2026-09-09T04:19:00Z</dcterms:created>
  <dcterms:modified xsi:type="dcterms:W3CDTF">2026-09-23T04:03:32Z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2026-09-10T20:11:12Z</vt:filetime>
  </property>
  <property fmtid="{D5CDD505-2E9C-101B-9397-08002B2CF9AE}" pid="4" name="ICV">
    <vt:lpwstr>8409147826C043E88E9A5DE09A0C43B8_12</vt:lpwstr>
  </property>
  <property fmtid="{D5CDD505-2E9C-101B-9397-08002B2CF9AE}" pid="5" name="KSOProductBuildVer">
    <vt:lpwstr>2052-12.1.0.20784</vt:lpwstr>
  </property>
</Properties>
</file>